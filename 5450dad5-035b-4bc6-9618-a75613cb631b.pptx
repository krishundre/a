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98" r:id="rId5"/>
    <p:sldId id="299" r:id="rId6"/>
    <p:sldId id="305" r:id="rId7"/>
    <p:sldId id="306" r:id="rId8"/>
    <p:sldId id="259" r:id="rId9"/>
    <p:sldId id="301" r:id="rId10"/>
    <p:sldId id="303" r:id="rId11"/>
    <p:sldId id="304" r:id="rId12"/>
    <p:sldId id="307" r:id="rId13"/>
    <p:sldId id="309" r:id="rId14"/>
    <p:sldId id="311" r:id="rId15"/>
    <p:sldId id="312" r:id="rId16"/>
    <p:sldId id="320" r:id="rId17"/>
    <p:sldId id="314" r:id="rId18"/>
    <p:sldId id="316" r:id="rId19"/>
    <p:sldId id="315" r:id="rId20"/>
    <p:sldId id="317" r:id="rId21"/>
    <p:sldId id="318" r:id="rId22"/>
    <p:sldId id="319" r:id="rId23"/>
    <p:sldId id="321" r:id="rId24"/>
    <p:sldId id="322" r:id="rId25"/>
    <p:sldId id="323" r:id="rId26"/>
    <p:sldId id="324" r:id="rId27"/>
    <p:sldId id="325" r:id="rId28"/>
    <p:sldId id="326" r:id="rId29"/>
    <p:sldId id="296"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DB23D42-BC25-41C4-9A3F-A3E78CFB9E14}" type="doc">
      <dgm:prSet loTypeId="process" loCatId="process" qsTypeId="urn:microsoft.com/office/officeart/2005/8/quickstyle/simple1" qsCatId="simple" csTypeId="urn:microsoft.com/office/officeart/2005/8/colors/colorful2" csCatId="accent1" phldr="0"/>
      <dgm:spPr/>
    </dgm:pt>
    <dgm:pt modelId="{4B5DF693-4886-4E9C-B265-25DF30A69707}">
      <dgm:prSet phldrT="[Text]" phldr="0" custT="1"/>
      <dgm:spPr/>
      <dgm:t>
        <a:bodyPr vert="horz" wrap="square"/>
        <a:p>
          <a:pPr>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process improvement	</a:t>
          </a:r>
          <a:r>
            <a:rPr lang="en-IN" altLang="en-US" sz="1600">
              <a:solidFill>
                <a:schemeClr val="tx1"/>
              </a:solidFill>
              <a:latin typeface="Arial" panose="020B0604020202020204" pitchFamily="34" charset="0"/>
              <a:cs typeface="Arial" panose="020B0604020202020204" pitchFamily="34" charset="0"/>
            </a:rPr>
            <a:t/>
          </a:r>
          <a:endParaRPr lang="en-IN" altLang="en-US" sz="1600">
            <a:solidFill>
              <a:schemeClr val="tx1"/>
            </a:solidFill>
            <a:latin typeface="Arial" panose="020B0604020202020204" pitchFamily="34" charset="0"/>
            <a:cs typeface="Arial" panose="020B0604020202020204" pitchFamily="34" charset="0"/>
          </a:endParaRPr>
        </a:p>
      </dgm:t>
    </dgm:pt>
    <dgm:pt modelId="{C45242E4-C1BE-46EE-AFF4-3FF6BC67FF5A}" cxnId="{7CB7FB73-4358-4617-AF0D-764823D62F4F}" type="parTrans">
      <dgm:prSet/>
      <dgm:spPr/>
    </dgm:pt>
    <dgm:pt modelId="{66F3CD11-6360-47FC-B16E-09D287CFF570}" cxnId="{7CB7FB73-4358-4617-AF0D-764823D62F4F}" type="sibTrans">
      <dgm:prSet/>
      <dgm:spPr/>
    </dgm:pt>
    <dgm:pt modelId="{D21DC186-0676-45FC-9354-C0188C2FF392}">
      <dgm:prSet phldrT="[Text]" phldr="0" custT="1"/>
      <dgm:spPr/>
      <dgm:t>
        <a:bodyPr vert="horz" wrap="square"/>
        <a:p>
          <a:pPr>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clear communication</a:t>
          </a:r>
          <a:r>
            <a:rPr lang="en-IN" altLang="en-US" sz="1600">
              <a:solidFill>
                <a:schemeClr val="tx1"/>
              </a:solidFill>
              <a:latin typeface="Arial" panose="020B0604020202020204" pitchFamily="34" charset="0"/>
              <a:cs typeface="Arial" panose="020B0604020202020204" pitchFamily="34" charset="0"/>
            </a:rPr>
            <a:t/>
          </a:r>
          <a:endParaRPr lang="en-IN" altLang="en-US" sz="1600">
            <a:solidFill>
              <a:schemeClr val="tx1"/>
            </a:solidFill>
            <a:latin typeface="Arial" panose="020B0604020202020204" pitchFamily="34" charset="0"/>
            <a:cs typeface="Arial" panose="020B0604020202020204" pitchFamily="34" charset="0"/>
          </a:endParaRPr>
        </a:p>
      </dgm:t>
    </dgm:pt>
    <dgm:pt modelId="{33F77309-AEA6-42F5-AB74-D99CE411FBE2}" cxnId="{7328A9E4-29CD-4433-B379-5237F8382B65}" type="parTrans">
      <dgm:prSet/>
      <dgm:spPr/>
    </dgm:pt>
    <dgm:pt modelId="{2E62AB09-D0F6-438F-9C66-EA56C3C41BD4}" cxnId="{7328A9E4-29CD-4433-B379-5237F8382B65}" type="sibTrans">
      <dgm:prSet/>
      <dgm:spPr/>
    </dgm:pt>
    <dgm:pt modelId="{CB84C01F-80D0-4070-80A6-CB6614DA8F48}">
      <dgm:prSet phldrT="[Text]" phldr="0" custT="1"/>
      <dgm:spPr/>
      <dgm:t>
        <a:bodyPr vert="horz" wrap="square"/>
        <a:p>
          <a:pPr>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continuous learning initiatives by the developers</a:t>
          </a:r>
          <a:r>
            <a:rPr lang="en-IN" altLang="en-US" sz="1600">
              <a:solidFill>
                <a:schemeClr val="tx1"/>
              </a:solidFill>
              <a:latin typeface="Arial" panose="020B0604020202020204" pitchFamily="34" charset="0"/>
              <a:cs typeface="Arial" panose="020B0604020202020204" pitchFamily="34" charset="0"/>
            </a:rPr>
            <a:t/>
          </a:r>
          <a:endParaRPr lang="en-IN" altLang="en-US" sz="1600">
            <a:solidFill>
              <a:schemeClr val="tx1"/>
            </a:solidFill>
            <a:latin typeface="Arial" panose="020B0604020202020204" pitchFamily="34" charset="0"/>
            <a:cs typeface="Arial" panose="020B0604020202020204" pitchFamily="34" charset="0"/>
          </a:endParaRPr>
        </a:p>
      </dgm:t>
    </dgm:pt>
    <dgm:pt modelId="{BD679D04-73EA-4B88-AC52-631A0355AF75}" cxnId="{1ACE1598-56FD-4F18-89DE-A137C090237C}" type="parTrans">
      <dgm:prSet/>
      <dgm:spPr/>
    </dgm:pt>
    <dgm:pt modelId="{3D21CAD6-6F72-4608-B9D4-571910F9A702}" cxnId="{1ACE1598-56FD-4F18-89DE-A137C090237C}" type="sibTrans">
      <dgm:prSet/>
      <dgm:spPr/>
    </dgm:pt>
    <dgm:pt modelId="{B84BFEFB-261E-437C-AD9E-90ED8A3C8045}" type="pres">
      <dgm:prSet presAssocID="{9DB23D42-BC25-41C4-9A3F-A3E78CFB9E14}" presName="Name0" presStyleCnt="0">
        <dgm:presLayoutVars>
          <dgm:dir/>
          <dgm:resizeHandles val="exact"/>
        </dgm:presLayoutVars>
      </dgm:prSet>
      <dgm:spPr/>
    </dgm:pt>
    <dgm:pt modelId="{1450B55C-E4AF-4C4A-86D5-6F08C883C8A1}" type="pres">
      <dgm:prSet presAssocID="{4B5DF693-4886-4E9C-B265-25DF30A69707}" presName="parTxOnly" presStyleLbl="node1" presStyleIdx="0" presStyleCnt="3">
        <dgm:presLayoutVars>
          <dgm:bulletEnabled val="1"/>
        </dgm:presLayoutVars>
      </dgm:prSet>
      <dgm:spPr/>
    </dgm:pt>
    <dgm:pt modelId="{B9E1FA38-2042-466B-8091-F149A9FE2767}" type="pres">
      <dgm:prSet presAssocID="{66F3CD11-6360-47FC-B16E-09D287CFF570}" presName="parSpace" presStyleCnt="0"/>
      <dgm:spPr/>
    </dgm:pt>
    <dgm:pt modelId="{97ED5984-E182-4084-893A-3007DB7F6057}" type="pres">
      <dgm:prSet presAssocID="{D21DC186-0676-45FC-9354-C0188C2FF392}" presName="parTxOnly" presStyleLbl="node1" presStyleIdx="1" presStyleCnt="3">
        <dgm:presLayoutVars>
          <dgm:bulletEnabled val="1"/>
        </dgm:presLayoutVars>
      </dgm:prSet>
      <dgm:spPr/>
    </dgm:pt>
    <dgm:pt modelId="{D2344F82-2A90-412D-B813-61B1B47F68C7}" type="pres">
      <dgm:prSet presAssocID="{2E62AB09-D0F6-438F-9C66-EA56C3C41BD4}" presName="parSpace" presStyleCnt="0"/>
      <dgm:spPr/>
    </dgm:pt>
    <dgm:pt modelId="{BA1BBACD-C964-4429-B8AC-A0F655E890BE}" type="pres">
      <dgm:prSet presAssocID="{CB84C01F-80D0-4070-80A6-CB6614DA8F48}" presName="parTxOnly" presStyleLbl="node1" presStyleIdx="2" presStyleCnt="3">
        <dgm:presLayoutVars>
          <dgm:bulletEnabled val="1"/>
        </dgm:presLayoutVars>
      </dgm:prSet>
      <dgm:spPr/>
    </dgm:pt>
  </dgm:ptLst>
  <dgm:cxnLst>
    <dgm:cxn modelId="{7CB7FB73-4358-4617-AF0D-764823D62F4F}" srcId="{9DB23D42-BC25-41C4-9A3F-A3E78CFB9E14}" destId="{4B5DF693-4886-4E9C-B265-25DF30A69707}" srcOrd="0" destOrd="0" parTransId="{C45242E4-C1BE-46EE-AFF4-3FF6BC67FF5A}" sibTransId="{66F3CD11-6360-47FC-B16E-09D287CFF570}"/>
    <dgm:cxn modelId="{7328A9E4-29CD-4433-B379-5237F8382B65}" srcId="{9DB23D42-BC25-41C4-9A3F-A3E78CFB9E14}" destId="{D21DC186-0676-45FC-9354-C0188C2FF392}" srcOrd="1" destOrd="0" parTransId="{33F77309-AEA6-42F5-AB74-D99CE411FBE2}" sibTransId="{2E62AB09-D0F6-438F-9C66-EA56C3C41BD4}"/>
    <dgm:cxn modelId="{1ACE1598-56FD-4F18-89DE-A137C090237C}" srcId="{9DB23D42-BC25-41C4-9A3F-A3E78CFB9E14}" destId="{CB84C01F-80D0-4070-80A6-CB6614DA8F48}" srcOrd="2" destOrd="0" parTransId="{BD679D04-73EA-4B88-AC52-631A0355AF75}" sibTransId="{3D21CAD6-6F72-4608-B9D4-571910F9A702}"/>
    <dgm:cxn modelId="{778A48B0-63F0-40FE-968A-FFCD3A4E0F11}" type="presOf" srcId="{9DB23D42-BC25-41C4-9A3F-A3E78CFB9E14}" destId="{B84BFEFB-261E-437C-AD9E-90ED8A3C8045}" srcOrd="0" destOrd="0" presId="urn:microsoft.com/office/officeart/2005/8/layout/hChevron3"/>
    <dgm:cxn modelId="{5BE164AD-76D8-47BA-B0B8-A6CAC3E7A07C}" type="presParOf" srcId="{B84BFEFB-261E-437C-AD9E-90ED8A3C8045}" destId="{1450B55C-E4AF-4C4A-86D5-6F08C883C8A1}" srcOrd="0" destOrd="0" presId="urn:microsoft.com/office/officeart/2005/8/layout/hChevron3"/>
    <dgm:cxn modelId="{D2D962D0-9956-484B-90A3-478EEC3CF4FE}" type="presOf" srcId="{4B5DF693-4886-4E9C-B265-25DF30A69707}" destId="{1450B55C-E4AF-4C4A-86D5-6F08C883C8A1}" srcOrd="0" destOrd="0" presId="urn:microsoft.com/office/officeart/2005/8/layout/hChevron3"/>
    <dgm:cxn modelId="{893F460F-72EC-44CE-A6F5-BDF5C53C35BF}" type="presParOf" srcId="{B84BFEFB-261E-437C-AD9E-90ED8A3C8045}" destId="{B9E1FA38-2042-466B-8091-F149A9FE2767}" srcOrd="1" destOrd="0" presId="urn:microsoft.com/office/officeart/2005/8/layout/hChevron3"/>
    <dgm:cxn modelId="{8A964079-4900-44A1-B348-910D89824841}" type="presParOf" srcId="{B84BFEFB-261E-437C-AD9E-90ED8A3C8045}" destId="{97ED5984-E182-4084-893A-3007DB7F6057}" srcOrd="2" destOrd="0" presId="urn:microsoft.com/office/officeart/2005/8/layout/hChevron3"/>
    <dgm:cxn modelId="{FADBC986-FD8E-4088-B916-08249E677F3F}" type="presOf" srcId="{D21DC186-0676-45FC-9354-C0188C2FF392}" destId="{97ED5984-E182-4084-893A-3007DB7F6057}" srcOrd="0" destOrd="0" presId="urn:microsoft.com/office/officeart/2005/8/layout/hChevron3"/>
    <dgm:cxn modelId="{C84209E1-6DD2-4175-A93F-99FF8B1F2409}" type="presParOf" srcId="{B84BFEFB-261E-437C-AD9E-90ED8A3C8045}" destId="{D2344F82-2A90-412D-B813-61B1B47F68C7}" srcOrd="3" destOrd="0" presId="urn:microsoft.com/office/officeart/2005/8/layout/hChevron3"/>
    <dgm:cxn modelId="{3658A074-7740-45B8-9A12-29ECA0B8A83F}" type="presParOf" srcId="{B84BFEFB-261E-437C-AD9E-90ED8A3C8045}" destId="{BA1BBACD-C964-4429-B8AC-A0F655E890BE}" srcOrd="4" destOrd="0" presId="urn:microsoft.com/office/officeart/2005/8/layout/hChevron3"/>
    <dgm:cxn modelId="{13D9759C-ED76-42A2-A16B-3D79E986B70F}" type="presOf" srcId="{CB84C01F-80D0-4070-80A6-CB6614DA8F48}" destId="{BA1BBACD-C964-4429-B8AC-A0F655E890BE}" srcOrd="0"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D76233-2C52-45E9-94E8-FBDCAFC81AF1}" type="doc">
      <dgm:prSet loTypeId="cycle" loCatId="cycle" qsTypeId="urn:microsoft.com/office/officeart/2005/8/quickstyle/simple2" qsCatId="simple" csTypeId="urn:microsoft.com/office/officeart/2005/8/colors/colorful2" csCatId="accent1" phldr="1"/>
      <dgm:spPr/>
      <dgm:t>
        <a:bodyPr/>
        <a:p>
          <a:endParaRPr lang="en-US"/>
        </a:p>
      </dgm:t>
    </dgm:pt>
    <dgm:pt modelId="{8E2A460B-45D3-4E20-A31D-4AFE676F0DDA}">
      <dgm:prSet phldrT="[Text]" phldr="0" custT="1"/>
      <dgm:spPr/>
      <dgm:t>
        <a:bodyPr vert="horz" wrap="square"/>
        <a:p>
          <a:pPr>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Defect Life Cycle</a:t>
          </a:r>
          <a:r>
            <a:rPr lang="en-IN" altLang="en-US" sz="1600">
              <a:solidFill>
                <a:schemeClr val="tx1"/>
              </a:solidFill>
              <a:latin typeface="Arial" panose="020B0604020202020204" pitchFamily="34" charset="0"/>
              <a:cs typeface="Arial" panose="020B0604020202020204" pitchFamily="34" charset="0"/>
            </a:rPr>
            <a:t/>
          </a:r>
          <a:endParaRPr lang="en-IN" altLang="en-US" sz="1600">
            <a:solidFill>
              <a:schemeClr val="tx1"/>
            </a:solidFill>
            <a:latin typeface="Arial" panose="020B0604020202020204" pitchFamily="34" charset="0"/>
            <a:cs typeface="Arial" panose="020B0604020202020204" pitchFamily="34" charset="0"/>
          </a:endParaRPr>
        </a:p>
      </dgm:t>
    </dgm:pt>
    <dgm:pt modelId="{40722E6B-70D7-49DD-BCDB-C5F5A53BB946}" cxnId="{2986BF44-8DAB-4EAD-9916-EA8ADAD1A6E2}" type="parTrans">
      <dgm:prSet/>
      <dgm:spPr/>
      <dgm:t>
        <a:bodyPr/>
        <a:p>
          <a:endParaRPr lang="en-US"/>
        </a:p>
      </dgm:t>
    </dgm:pt>
    <dgm:pt modelId="{AC66A5CC-387D-4D7B-8E90-1B8214C2F261}" cxnId="{2986BF44-8DAB-4EAD-9916-EA8ADAD1A6E2}" type="sibTrans">
      <dgm:prSet/>
      <dgm:spPr/>
      <dgm:t>
        <a:bodyPr/>
        <a:p>
          <a:endParaRPr lang="en-US"/>
        </a:p>
      </dgm:t>
    </dgm:pt>
    <dgm:pt modelId="{ECE2948F-862B-4CC3-B6BC-3E6415C7F5DD}">
      <dgm:prSet phldrT="[Text]" phldr="0" custT="1"/>
      <dgm:spPr/>
      <dgm:t>
        <a:bodyPr vert="horz" wrap="square"/>
        <a:p>
          <a:pPr algn="ctr">
            <a:lnSpc>
              <a:spcPct val="100000"/>
            </a:lnSpc>
            <a:spcBef>
              <a:spcPct val="0"/>
            </a:spcBef>
            <a:spcAft>
              <a:spcPct val="35000"/>
            </a:spcAft>
          </a:pPr>
          <a:r>
            <a:rPr lang="en-US" altLang="en-US" sz="1400">
              <a:solidFill>
                <a:schemeClr val="tx1"/>
              </a:solidFill>
              <a:latin typeface="Arial" panose="020B0604020202020204" pitchFamily="34" charset="0"/>
              <a:cs typeface="Arial" panose="020B0604020202020204" pitchFamily="34" charset="0"/>
            </a:rPr>
            <a:t>robust requirements engineering</a:t>
          </a:r>
          <a:r>
            <a:rPr lang="en-US" altLang="en-US" sz="1400">
              <a:solidFill>
                <a:schemeClr val="tx1"/>
              </a:solidFill>
              <a:latin typeface="Arial" panose="020B0604020202020204" pitchFamily="34" charset="0"/>
              <a:cs typeface="Arial" panose="020B0604020202020204" pitchFamily="34" charset="0"/>
            </a:rPr>
            <a:t/>
          </a:r>
          <a:endParaRPr lang="en-US" altLang="en-US" sz="1400">
            <a:solidFill>
              <a:schemeClr val="tx1"/>
            </a:solidFill>
            <a:latin typeface="Arial" panose="020B0604020202020204" pitchFamily="34" charset="0"/>
            <a:cs typeface="Arial" panose="020B0604020202020204" pitchFamily="34" charset="0"/>
          </a:endParaRPr>
        </a:p>
      </dgm:t>
    </dgm:pt>
    <dgm:pt modelId="{055F34F9-26B5-46B6-B947-B5718EF53A09}" cxnId="{78B13644-4700-4623-941F-F86B4F6A2D02}" type="parTrans">
      <dgm:prSet/>
      <dgm:spPr/>
      <dgm:t>
        <a:bodyPr/>
        <a:p>
          <a:endParaRPr lang="en-US"/>
        </a:p>
      </dgm:t>
    </dgm:pt>
    <dgm:pt modelId="{4116C939-0673-4613-8FA7-CB6FE7258301}" cxnId="{78B13644-4700-4623-941F-F86B4F6A2D02}" type="sibTrans">
      <dgm:prSet/>
      <dgm:spPr/>
      <dgm:t>
        <a:bodyPr/>
        <a:p>
          <a:endParaRPr lang="en-US"/>
        </a:p>
      </dgm:t>
    </dgm:pt>
    <dgm:pt modelId="{D34FE5D7-7525-4D59-ABC9-3998105E634C}">
      <dgm:prSet phldrT="[Text]" phldr="0" custT="1"/>
      <dgm:spPr/>
      <dgm:t>
        <a:bodyPr vert="horz" wrap="square"/>
        <a:p>
          <a:pPr>
            <a:lnSpc>
              <a:spcPct val="100000"/>
            </a:lnSpc>
            <a:spcBef>
              <a:spcPct val="0"/>
            </a:spcBef>
            <a:spcAft>
              <a:spcPct val="35000"/>
            </a:spcAft>
          </a:pPr>
          <a:r>
            <a:rPr lang="en-US" altLang="en-US" sz="1400">
              <a:solidFill>
                <a:schemeClr val="tx1"/>
              </a:solidFill>
              <a:latin typeface="Arial" panose="020B0604020202020204" pitchFamily="34" charset="0"/>
              <a:cs typeface="Arial" panose="020B0604020202020204" pitchFamily="34" charset="0"/>
            </a:rPr>
            <a:t>thorough design reviews</a:t>
          </a:r>
          <a:r>
            <a:rPr lang="en-US" altLang="en-US" sz="1400">
              <a:solidFill>
                <a:schemeClr val="tx1"/>
              </a:solidFill>
              <a:latin typeface="Arial" panose="020B0604020202020204" pitchFamily="34" charset="0"/>
              <a:cs typeface="Arial" panose="020B0604020202020204" pitchFamily="34" charset="0"/>
            </a:rPr>
            <a:t/>
          </a:r>
          <a:endParaRPr lang="en-US" altLang="en-US" sz="1400">
            <a:solidFill>
              <a:schemeClr val="tx1"/>
            </a:solidFill>
            <a:latin typeface="Arial" panose="020B0604020202020204" pitchFamily="34" charset="0"/>
            <a:cs typeface="Arial" panose="020B0604020202020204" pitchFamily="34" charset="0"/>
          </a:endParaRPr>
        </a:p>
      </dgm:t>
    </dgm:pt>
    <dgm:pt modelId="{A96BE2DD-535A-47FD-A010-195BD3C076B9}" cxnId="{34E6D639-0298-414E-8697-64020C52B448}" type="parTrans">
      <dgm:prSet/>
      <dgm:spPr/>
      <dgm:t>
        <a:bodyPr/>
        <a:p>
          <a:endParaRPr lang="en-US"/>
        </a:p>
      </dgm:t>
    </dgm:pt>
    <dgm:pt modelId="{75EA9321-EAFA-4AF6-8313-8107E8EB3526}" cxnId="{34E6D639-0298-414E-8697-64020C52B448}" type="sibTrans">
      <dgm:prSet/>
      <dgm:spPr/>
      <dgm:t>
        <a:bodyPr/>
        <a:p>
          <a:endParaRPr lang="en-US"/>
        </a:p>
      </dgm:t>
    </dgm:pt>
    <dgm:pt modelId="{E17F1310-B4AD-4B57-8D9B-BF776721EA77}">
      <dgm:prSet phldrT="[Text]" phldr="0" custT="1"/>
      <dgm:spPr/>
      <dgm:t>
        <a:bodyPr vert="horz" wrap="square"/>
        <a:p>
          <a:pPr>
            <a:lnSpc>
              <a:spcPct val="100000"/>
            </a:lnSpc>
            <a:spcBef>
              <a:spcPct val="0"/>
            </a:spcBef>
            <a:spcAft>
              <a:spcPct val="35000"/>
            </a:spcAft>
          </a:pPr>
          <a:r>
            <a:rPr lang="en-IN" altLang="en-US" sz="1400">
              <a:solidFill>
                <a:schemeClr val="tx1"/>
              </a:solidFill>
              <a:latin typeface="Arial" panose="020B0604020202020204" pitchFamily="34" charset="0"/>
              <a:cs typeface="Arial" panose="020B0604020202020204" pitchFamily="34" charset="0"/>
            </a:rPr>
            <a:t>good coding practices</a:t>
          </a:r>
          <a:r>
            <a:rPr lang="en-IN" altLang="en-US" sz="1400">
              <a:solidFill>
                <a:schemeClr val="tx1"/>
              </a:solidFill>
              <a:latin typeface="Arial" panose="020B0604020202020204" pitchFamily="34" charset="0"/>
              <a:cs typeface="Arial" panose="020B0604020202020204" pitchFamily="34" charset="0"/>
            </a:rPr>
            <a:t/>
          </a:r>
          <a:endParaRPr lang="en-IN" altLang="en-US" sz="1400">
            <a:solidFill>
              <a:schemeClr val="tx1"/>
            </a:solidFill>
            <a:latin typeface="Arial" panose="020B0604020202020204" pitchFamily="34" charset="0"/>
            <a:cs typeface="Arial" panose="020B0604020202020204" pitchFamily="34" charset="0"/>
          </a:endParaRPr>
        </a:p>
      </dgm:t>
    </dgm:pt>
    <dgm:pt modelId="{6BAC1755-6217-4715-99C2-D1422148265D}" cxnId="{AF175060-2ABD-4C38-81B2-020274D237E0}" type="parTrans">
      <dgm:prSet/>
      <dgm:spPr/>
      <dgm:t>
        <a:bodyPr/>
        <a:p>
          <a:endParaRPr lang="en-US"/>
        </a:p>
      </dgm:t>
    </dgm:pt>
    <dgm:pt modelId="{925984A4-8E6F-4D28-B868-DBAB08F4BD28}" cxnId="{AF175060-2ABD-4C38-81B2-020274D237E0}" type="sibTrans">
      <dgm:prSet/>
      <dgm:spPr/>
      <dgm:t>
        <a:bodyPr/>
        <a:p>
          <a:endParaRPr lang="en-US"/>
        </a:p>
      </dgm:t>
    </dgm:pt>
    <dgm:pt modelId="{468FA009-1E87-4539-85FA-5C28B78DD6E9}">
      <dgm:prSet phldrT="[Text]" phldr="0" custT="1"/>
      <dgm:spPr/>
      <dgm:t>
        <a:bodyPr vert="horz" wrap="square"/>
        <a:p>
          <a:pPr>
            <a:lnSpc>
              <a:spcPct val="100000"/>
            </a:lnSpc>
            <a:spcBef>
              <a:spcPct val="0"/>
            </a:spcBef>
            <a:spcAft>
              <a:spcPct val="35000"/>
            </a:spcAft>
          </a:pPr>
          <a:r>
            <a:rPr lang="en-US" altLang="en-US" sz="1400">
              <a:solidFill>
                <a:schemeClr val="tx1"/>
              </a:solidFill>
              <a:latin typeface="Arial" panose="020B0604020202020204" pitchFamily="34" charset="0"/>
              <a:cs typeface="Arial" panose="020B0604020202020204" pitchFamily="34" charset="0"/>
            </a:rPr>
            <a:t>effective code reviews</a:t>
          </a:r>
          <a:r>
            <a:rPr lang="en-US" altLang="en-US" sz="1400">
              <a:solidFill>
                <a:schemeClr val="tx1"/>
              </a:solidFill>
              <a:latin typeface="Arial" panose="020B0604020202020204" pitchFamily="34" charset="0"/>
              <a:cs typeface="Arial" panose="020B0604020202020204" pitchFamily="34" charset="0"/>
            </a:rPr>
            <a:t/>
          </a:r>
          <a:endParaRPr lang="en-US" altLang="en-US" sz="1400">
            <a:solidFill>
              <a:schemeClr val="tx1"/>
            </a:solidFill>
            <a:latin typeface="Arial" panose="020B0604020202020204" pitchFamily="34" charset="0"/>
            <a:cs typeface="Arial" panose="020B0604020202020204" pitchFamily="34" charset="0"/>
          </a:endParaRPr>
        </a:p>
      </dgm:t>
    </dgm:pt>
    <dgm:pt modelId="{F205FF88-2C9B-4658-BCAA-BEA6EB7393B2}" cxnId="{2672ABB9-8D7D-4DF0-B182-09DB68C086AA}" type="parTrans">
      <dgm:prSet/>
      <dgm:spPr/>
      <dgm:t>
        <a:bodyPr/>
        <a:p>
          <a:endParaRPr lang="en-US"/>
        </a:p>
      </dgm:t>
    </dgm:pt>
    <dgm:pt modelId="{B5C730DE-1181-420B-A78D-195E914DCCF5}" cxnId="{2672ABB9-8D7D-4DF0-B182-09DB68C086AA}" type="sibTrans">
      <dgm:prSet/>
      <dgm:spPr/>
      <dgm:t>
        <a:bodyPr/>
        <a:p>
          <a:endParaRPr lang="en-US"/>
        </a:p>
      </dgm:t>
    </dgm:pt>
    <dgm:pt modelId="{803E88C3-36B1-4C7B-BB86-3D03CDA94CD3}">
      <dgm:prSet phldr="0" custT="1"/>
      <dgm:spPr/>
      <dgm:t>
        <a:bodyPr vert="horz" wrap="square"/>
        <a:p>
          <a:pPr>
            <a:lnSpc>
              <a:spcPct val="100000"/>
            </a:lnSpc>
            <a:spcBef>
              <a:spcPct val="0"/>
            </a:spcBef>
            <a:spcAft>
              <a:spcPct val="35000"/>
            </a:spcAft>
          </a:pPr>
          <a:r>
            <a:rPr lang="en-US" altLang="en-US" sz="1400">
              <a:solidFill>
                <a:schemeClr val="tx1"/>
              </a:solidFill>
              <a:latin typeface="Arial" panose="020B0604020202020204" pitchFamily="34" charset="0"/>
              <a:cs typeface="Arial" panose="020B0604020202020204" pitchFamily="34" charset="0"/>
            </a:rPr>
            <a:t>comprehensive testing strategies</a:t>
          </a:r>
          <a:r>
            <a:rPr lang="en-US" altLang="en-US" sz="1400">
              <a:solidFill>
                <a:schemeClr val="tx1"/>
              </a:solidFill>
              <a:latin typeface="Arial" panose="020B0604020202020204" pitchFamily="34" charset="0"/>
              <a:cs typeface="Arial" panose="020B0604020202020204" pitchFamily="34" charset="0"/>
            </a:rPr>
            <a:t/>
          </a:r>
          <a:endParaRPr lang="en-US" altLang="en-US" sz="1400">
            <a:solidFill>
              <a:schemeClr val="tx1"/>
            </a:solidFill>
            <a:latin typeface="Arial" panose="020B0604020202020204" pitchFamily="34" charset="0"/>
            <a:cs typeface="Arial" panose="020B0604020202020204" pitchFamily="34" charset="0"/>
          </a:endParaRPr>
        </a:p>
      </dgm:t>
    </dgm:pt>
    <dgm:pt modelId="{6F517E74-3489-48E3-990A-5469B634407D}" cxnId="{B073A273-5186-40AB-8D4C-BA4DE87CD900}" type="parTrans">
      <dgm:prSet/>
      <dgm:spPr/>
    </dgm:pt>
    <dgm:pt modelId="{19A7766B-7B98-4339-947A-F306D05CC5B3}" cxnId="{B073A273-5186-40AB-8D4C-BA4DE87CD900}" type="sibTrans">
      <dgm:prSet/>
      <dgm:spPr/>
    </dgm:pt>
    <dgm:pt modelId="{D5B7622F-17AC-467C-B10C-28C38C38C350}" type="pres">
      <dgm:prSet presAssocID="{37D76233-2C52-45E9-94E8-FBDCAFC81AF1}" presName="Name0" presStyleCnt="0">
        <dgm:presLayoutVars>
          <dgm:chMax val="1"/>
          <dgm:dir/>
          <dgm:animLvl val="ctr"/>
          <dgm:resizeHandles val="exact"/>
        </dgm:presLayoutVars>
      </dgm:prSet>
      <dgm:spPr/>
    </dgm:pt>
    <dgm:pt modelId="{BADECBB5-37EA-4668-8A2F-BD2C2902F22A}" type="pres">
      <dgm:prSet presAssocID="{8E2A460B-45D3-4E20-A31D-4AFE676F0DDA}" presName="centerShape" presStyleLbl="node0" presStyleIdx="0" presStyleCnt="1"/>
      <dgm:spPr/>
    </dgm:pt>
    <dgm:pt modelId="{C2E7DEFD-0505-42BF-AE13-B6483BF86572}" type="pres">
      <dgm:prSet presAssocID="{ECE2948F-862B-4CC3-B6BC-3E6415C7F5DD}" presName="node" presStyleLbl="node1" presStyleIdx="0" presStyleCnt="5">
        <dgm:presLayoutVars>
          <dgm:bulletEnabled val="1"/>
        </dgm:presLayoutVars>
      </dgm:prSet>
      <dgm:spPr/>
    </dgm:pt>
    <dgm:pt modelId="{45046E67-FA41-4C32-9E33-BDDDFBBF1D6A}" type="pres">
      <dgm:prSet presAssocID="{ECE2948F-862B-4CC3-B6BC-3E6415C7F5DD}" presName="dummy" presStyleCnt="0"/>
      <dgm:spPr/>
    </dgm:pt>
    <dgm:pt modelId="{F3596884-C09F-4C70-900E-D61864BED5F1}" type="pres">
      <dgm:prSet presAssocID="{4116C939-0673-4613-8FA7-CB6FE7258301}" presName="sibTrans" presStyleLbl="sibTrans2D1" presStyleIdx="0" presStyleCnt="5"/>
      <dgm:spPr/>
    </dgm:pt>
    <dgm:pt modelId="{44F31994-0027-4DC3-B39E-FEE01FB1A852}" type="pres">
      <dgm:prSet presAssocID="{D34FE5D7-7525-4D59-ABC9-3998105E634C}" presName="node" presStyleLbl="node1" presStyleIdx="1" presStyleCnt="5">
        <dgm:presLayoutVars>
          <dgm:bulletEnabled val="1"/>
        </dgm:presLayoutVars>
      </dgm:prSet>
      <dgm:spPr/>
    </dgm:pt>
    <dgm:pt modelId="{C6A1073C-AEB6-41D2-8257-B02F52AE6460}" type="pres">
      <dgm:prSet presAssocID="{D34FE5D7-7525-4D59-ABC9-3998105E634C}" presName="dummy" presStyleCnt="0"/>
      <dgm:spPr/>
    </dgm:pt>
    <dgm:pt modelId="{15715456-3418-4DF0-AF3A-DA59307B110D}" type="pres">
      <dgm:prSet presAssocID="{75EA9321-EAFA-4AF6-8313-8107E8EB3526}" presName="sibTrans" presStyleLbl="sibTrans2D1" presStyleIdx="1" presStyleCnt="5"/>
      <dgm:spPr/>
    </dgm:pt>
    <dgm:pt modelId="{0DA4B7DF-BD6B-46E8-940A-69050C019BB3}" type="pres">
      <dgm:prSet presAssocID="{E17F1310-B4AD-4B57-8D9B-BF776721EA77}" presName="node" presStyleLbl="node1" presStyleIdx="2" presStyleCnt="5">
        <dgm:presLayoutVars>
          <dgm:bulletEnabled val="1"/>
        </dgm:presLayoutVars>
      </dgm:prSet>
      <dgm:spPr/>
    </dgm:pt>
    <dgm:pt modelId="{9268D1C0-A139-4893-A300-CF509D15352B}" type="pres">
      <dgm:prSet presAssocID="{E17F1310-B4AD-4B57-8D9B-BF776721EA77}" presName="dummy" presStyleCnt="0"/>
      <dgm:spPr/>
    </dgm:pt>
    <dgm:pt modelId="{EBDCA107-8C73-4044-AC95-50DA28B759A8}" type="pres">
      <dgm:prSet presAssocID="{925984A4-8E6F-4D28-B868-DBAB08F4BD28}" presName="sibTrans" presStyleLbl="sibTrans2D1" presStyleIdx="2" presStyleCnt="5"/>
      <dgm:spPr/>
    </dgm:pt>
    <dgm:pt modelId="{F539A410-44AA-4A02-9F1B-997DD2B71E87}" type="pres">
      <dgm:prSet presAssocID="{468FA009-1E87-4539-85FA-5C28B78DD6E9}" presName="node" presStyleLbl="node1" presStyleIdx="3" presStyleCnt="5">
        <dgm:presLayoutVars>
          <dgm:bulletEnabled val="1"/>
        </dgm:presLayoutVars>
      </dgm:prSet>
      <dgm:spPr/>
    </dgm:pt>
    <dgm:pt modelId="{2B016566-AAE3-46FD-A114-7C13E71734EF}" type="pres">
      <dgm:prSet presAssocID="{468FA009-1E87-4539-85FA-5C28B78DD6E9}" presName="dummy" presStyleCnt="0"/>
      <dgm:spPr/>
    </dgm:pt>
    <dgm:pt modelId="{B5FF6E04-452A-4146-97F4-3BC94EB5BB87}" type="pres">
      <dgm:prSet presAssocID="{B5C730DE-1181-420B-A78D-195E914DCCF5}" presName="sibTrans" presStyleLbl="sibTrans2D1" presStyleIdx="3" presStyleCnt="5"/>
      <dgm:spPr/>
    </dgm:pt>
    <dgm:pt modelId="{E550AD67-4EEF-42BD-A2E0-B285847785D8}" type="pres">
      <dgm:prSet presAssocID="{803E88C3-36B1-4C7B-BB86-3D03CDA94CD3}" presName="node" presStyleLbl="node1" presStyleIdx="4" presStyleCnt="5">
        <dgm:presLayoutVars>
          <dgm:bulletEnabled val="1"/>
        </dgm:presLayoutVars>
      </dgm:prSet>
      <dgm:spPr/>
    </dgm:pt>
    <dgm:pt modelId="{6E77DC46-29B3-4EDB-B5BD-41C56219A5D9}" type="pres">
      <dgm:prSet presAssocID="{803E88C3-36B1-4C7B-BB86-3D03CDA94CD3}" presName="dummy" presStyleCnt="0"/>
      <dgm:spPr/>
    </dgm:pt>
    <dgm:pt modelId="{AAF8FF7B-8FEB-43D1-A599-1495DD44A067}" type="pres">
      <dgm:prSet presAssocID="{19A7766B-7B98-4339-947A-F306D05CC5B3}" presName="sibTrans" presStyleLbl="sibTrans2D1" presStyleIdx="4" presStyleCnt="5"/>
      <dgm:spPr/>
    </dgm:pt>
  </dgm:ptLst>
  <dgm:cxnLst>
    <dgm:cxn modelId="{2986BF44-8DAB-4EAD-9916-EA8ADAD1A6E2}" srcId="{37D76233-2C52-45E9-94E8-FBDCAFC81AF1}" destId="{8E2A460B-45D3-4E20-A31D-4AFE676F0DDA}" srcOrd="0" destOrd="0" parTransId="{40722E6B-70D7-49DD-BCDB-C5F5A53BB946}" sibTransId="{AC66A5CC-387D-4D7B-8E90-1B8214C2F261}"/>
    <dgm:cxn modelId="{78B13644-4700-4623-941F-F86B4F6A2D02}" srcId="{8E2A460B-45D3-4E20-A31D-4AFE676F0DDA}" destId="{ECE2948F-862B-4CC3-B6BC-3E6415C7F5DD}" srcOrd="0" destOrd="0" parTransId="{055F34F9-26B5-46B6-B947-B5718EF53A09}" sibTransId="{4116C939-0673-4613-8FA7-CB6FE7258301}"/>
    <dgm:cxn modelId="{34E6D639-0298-414E-8697-64020C52B448}" srcId="{8E2A460B-45D3-4E20-A31D-4AFE676F0DDA}" destId="{D34FE5D7-7525-4D59-ABC9-3998105E634C}" srcOrd="1" destOrd="0" parTransId="{A96BE2DD-535A-47FD-A010-195BD3C076B9}" sibTransId="{75EA9321-EAFA-4AF6-8313-8107E8EB3526}"/>
    <dgm:cxn modelId="{AF175060-2ABD-4C38-81B2-020274D237E0}" srcId="{8E2A460B-45D3-4E20-A31D-4AFE676F0DDA}" destId="{E17F1310-B4AD-4B57-8D9B-BF776721EA77}" srcOrd="2" destOrd="0" parTransId="{6BAC1755-6217-4715-99C2-D1422148265D}" sibTransId="{925984A4-8E6F-4D28-B868-DBAB08F4BD28}"/>
    <dgm:cxn modelId="{2672ABB9-8D7D-4DF0-B182-09DB68C086AA}" srcId="{8E2A460B-45D3-4E20-A31D-4AFE676F0DDA}" destId="{468FA009-1E87-4539-85FA-5C28B78DD6E9}" srcOrd="3" destOrd="0" parTransId="{F205FF88-2C9B-4658-BCAA-BEA6EB7393B2}" sibTransId="{B5C730DE-1181-420B-A78D-195E914DCCF5}"/>
    <dgm:cxn modelId="{B073A273-5186-40AB-8D4C-BA4DE87CD900}" srcId="{8E2A460B-45D3-4E20-A31D-4AFE676F0DDA}" destId="{803E88C3-36B1-4C7B-BB86-3D03CDA94CD3}" srcOrd="4" destOrd="0" parTransId="{6F517E74-3489-48E3-990A-5469B634407D}" sibTransId="{19A7766B-7B98-4339-947A-F306D05CC5B3}"/>
    <dgm:cxn modelId="{9D841553-A238-4C5C-B83F-A1A2469B3B2D}" type="presOf" srcId="{37D76233-2C52-45E9-94E8-FBDCAFC81AF1}" destId="{D5B7622F-17AC-467C-B10C-28C38C38C350}" srcOrd="0" destOrd="0" presId="urn:microsoft.com/office/officeart/2005/8/layout/radial6"/>
    <dgm:cxn modelId="{45D9D795-C795-430D-823F-D6ABF5F742FE}" type="presParOf" srcId="{D5B7622F-17AC-467C-B10C-28C38C38C350}" destId="{BADECBB5-37EA-4668-8A2F-BD2C2902F22A}" srcOrd="0" destOrd="0" presId="urn:microsoft.com/office/officeart/2005/8/layout/radial6"/>
    <dgm:cxn modelId="{E1865B59-0823-48B9-BC9F-9C762592D485}" type="presOf" srcId="{8E2A460B-45D3-4E20-A31D-4AFE676F0DDA}" destId="{BADECBB5-37EA-4668-8A2F-BD2C2902F22A}" srcOrd="0" destOrd="0" presId="urn:microsoft.com/office/officeart/2005/8/layout/radial6"/>
    <dgm:cxn modelId="{090F0EB6-E843-4046-9EB3-7A6F7E5A8C69}" type="presParOf" srcId="{D5B7622F-17AC-467C-B10C-28C38C38C350}" destId="{C2E7DEFD-0505-42BF-AE13-B6483BF86572}" srcOrd="1" destOrd="0" presId="urn:microsoft.com/office/officeart/2005/8/layout/radial6"/>
    <dgm:cxn modelId="{27944994-1A9B-4461-8E5D-8E864E10BF81}" type="presOf" srcId="{ECE2948F-862B-4CC3-B6BC-3E6415C7F5DD}" destId="{C2E7DEFD-0505-42BF-AE13-B6483BF86572}" srcOrd="0" destOrd="0" presId="urn:microsoft.com/office/officeart/2005/8/layout/radial6"/>
    <dgm:cxn modelId="{043C1428-EC28-425B-8B2F-3C315B8DD857}" type="presParOf" srcId="{D5B7622F-17AC-467C-B10C-28C38C38C350}" destId="{45046E67-FA41-4C32-9E33-BDDDFBBF1D6A}" srcOrd="2" destOrd="0" presId="urn:microsoft.com/office/officeart/2005/8/layout/radial6"/>
    <dgm:cxn modelId="{CE58D0D3-C191-4508-93CA-D8EDA6A3794F}" type="presParOf" srcId="{D5B7622F-17AC-467C-B10C-28C38C38C350}" destId="{F3596884-C09F-4C70-900E-D61864BED5F1}" srcOrd="3" destOrd="0" presId="urn:microsoft.com/office/officeart/2005/8/layout/radial6"/>
    <dgm:cxn modelId="{D27692BA-67A7-4F86-BFEC-B25754D1A498}" type="presOf" srcId="{4116C939-0673-4613-8FA7-CB6FE7258301}" destId="{F3596884-C09F-4C70-900E-D61864BED5F1}" srcOrd="0" destOrd="0" presId="urn:microsoft.com/office/officeart/2005/8/layout/radial6"/>
    <dgm:cxn modelId="{598BBF51-BD81-4211-A9E0-F556DCAF3CCC}" type="presParOf" srcId="{D5B7622F-17AC-467C-B10C-28C38C38C350}" destId="{44F31994-0027-4DC3-B39E-FEE01FB1A852}" srcOrd="4" destOrd="0" presId="urn:microsoft.com/office/officeart/2005/8/layout/radial6"/>
    <dgm:cxn modelId="{265B11EA-EBFA-4138-9C3E-59C62E5B1476}" type="presOf" srcId="{D34FE5D7-7525-4D59-ABC9-3998105E634C}" destId="{44F31994-0027-4DC3-B39E-FEE01FB1A852}" srcOrd="0" destOrd="0" presId="urn:microsoft.com/office/officeart/2005/8/layout/radial6"/>
    <dgm:cxn modelId="{201210C0-6B2B-48A1-88DF-F0E49D637158}" type="presParOf" srcId="{D5B7622F-17AC-467C-B10C-28C38C38C350}" destId="{C6A1073C-AEB6-41D2-8257-B02F52AE6460}" srcOrd="5" destOrd="0" presId="urn:microsoft.com/office/officeart/2005/8/layout/radial6"/>
    <dgm:cxn modelId="{E50EF4CD-FE43-40F3-AEBC-D0E575132208}" type="presParOf" srcId="{D5B7622F-17AC-467C-B10C-28C38C38C350}" destId="{15715456-3418-4DF0-AF3A-DA59307B110D}" srcOrd="6" destOrd="0" presId="urn:microsoft.com/office/officeart/2005/8/layout/radial6"/>
    <dgm:cxn modelId="{89054DDB-F4CA-4B32-A255-E8B72FED7546}" type="presOf" srcId="{75EA9321-EAFA-4AF6-8313-8107E8EB3526}" destId="{15715456-3418-4DF0-AF3A-DA59307B110D}" srcOrd="0" destOrd="0" presId="urn:microsoft.com/office/officeart/2005/8/layout/radial6"/>
    <dgm:cxn modelId="{BCC497D6-9B5E-4731-8F6F-0A5EF24C5258}" type="presParOf" srcId="{D5B7622F-17AC-467C-B10C-28C38C38C350}" destId="{0DA4B7DF-BD6B-46E8-940A-69050C019BB3}" srcOrd="7" destOrd="0" presId="urn:microsoft.com/office/officeart/2005/8/layout/radial6"/>
    <dgm:cxn modelId="{9ECC7041-0E56-4C9A-A83A-6B7C0BA04A4E}" type="presOf" srcId="{E17F1310-B4AD-4B57-8D9B-BF776721EA77}" destId="{0DA4B7DF-BD6B-46E8-940A-69050C019BB3}" srcOrd="0" destOrd="0" presId="urn:microsoft.com/office/officeart/2005/8/layout/radial6"/>
    <dgm:cxn modelId="{2E717907-CD5B-48A3-AD5C-03384A6BC6F9}" type="presParOf" srcId="{D5B7622F-17AC-467C-B10C-28C38C38C350}" destId="{9268D1C0-A139-4893-A300-CF509D15352B}" srcOrd="8" destOrd="0" presId="urn:microsoft.com/office/officeart/2005/8/layout/radial6"/>
    <dgm:cxn modelId="{F86A7631-DE6E-41FF-9AA8-3EEC8722FCC2}" type="presParOf" srcId="{D5B7622F-17AC-467C-B10C-28C38C38C350}" destId="{EBDCA107-8C73-4044-AC95-50DA28B759A8}" srcOrd="9" destOrd="0" presId="urn:microsoft.com/office/officeart/2005/8/layout/radial6"/>
    <dgm:cxn modelId="{BC2F800E-768E-4300-9391-BC9D3CD9006B}" type="presOf" srcId="{925984A4-8E6F-4D28-B868-DBAB08F4BD28}" destId="{EBDCA107-8C73-4044-AC95-50DA28B759A8}" srcOrd="0" destOrd="0" presId="urn:microsoft.com/office/officeart/2005/8/layout/radial6"/>
    <dgm:cxn modelId="{C588D08F-7A67-42AA-B5F7-A2BA24598A2A}" type="presParOf" srcId="{D5B7622F-17AC-467C-B10C-28C38C38C350}" destId="{F539A410-44AA-4A02-9F1B-997DD2B71E87}" srcOrd="10" destOrd="0" presId="urn:microsoft.com/office/officeart/2005/8/layout/radial6"/>
    <dgm:cxn modelId="{8FD6EA45-9777-4741-8D1A-4EA21F70444E}" type="presOf" srcId="{468FA009-1E87-4539-85FA-5C28B78DD6E9}" destId="{F539A410-44AA-4A02-9F1B-997DD2B71E87}" srcOrd="0" destOrd="0" presId="urn:microsoft.com/office/officeart/2005/8/layout/radial6"/>
    <dgm:cxn modelId="{FB7653B1-50A3-48F1-9366-658E37B853FD}" type="presParOf" srcId="{D5B7622F-17AC-467C-B10C-28C38C38C350}" destId="{2B016566-AAE3-46FD-A114-7C13E71734EF}" srcOrd="11" destOrd="0" presId="urn:microsoft.com/office/officeart/2005/8/layout/radial6"/>
    <dgm:cxn modelId="{40D26606-2DF3-4B51-8D85-4B967832C757}" type="presParOf" srcId="{D5B7622F-17AC-467C-B10C-28C38C38C350}" destId="{B5FF6E04-452A-4146-97F4-3BC94EB5BB87}" srcOrd="12" destOrd="0" presId="urn:microsoft.com/office/officeart/2005/8/layout/radial6"/>
    <dgm:cxn modelId="{9D8CD81A-7B5C-4C53-B69C-CBE209B921E0}" type="presOf" srcId="{B5C730DE-1181-420B-A78D-195E914DCCF5}" destId="{B5FF6E04-452A-4146-97F4-3BC94EB5BB87}" srcOrd="0" destOrd="0" presId="urn:microsoft.com/office/officeart/2005/8/layout/radial6"/>
    <dgm:cxn modelId="{AA1BFE5F-444E-4183-BD7F-50C5EF011800}" type="presParOf" srcId="{D5B7622F-17AC-467C-B10C-28C38C38C350}" destId="{E550AD67-4EEF-42BD-A2E0-B285847785D8}" srcOrd="13" destOrd="0" presId="urn:microsoft.com/office/officeart/2005/8/layout/radial6"/>
    <dgm:cxn modelId="{3D8A2B95-7737-4409-B79C-942311B0CCAE}" type="presOf" srcId="{803E88C3-36B1-4C7B-BB86-3D03CDA94CD3}" destId="{E550AD67-4EEF-42BD-A2E0-B285847785D8}" srcOrd="0" destOrd="0" presId="urn:microsoft.com/office/officeart/2005/8/layout/radial6"/>
    <dgm:cxn modelId="{FCF122C8-11E2-4C8C-9978-17C422F2C86C}" type="presParOf" srcId="{D5B7622F-17AC-467C-B10C-28C38C38C350}" destId="{6E77DC46-29B3-4EDB-B5BD-41C56219A5D9}" srcOrd="14" destOrd="0" presId="urn:microsoft.com/office/officeart/2005/8/layout/radial6"/>
    <dgm:cxn modelId="{35E8019F-9194-4EB5-B4E4-E9350536A217}" type="presParOf" srcId="{D5B7622F-17AC-467C-B10C-28C38C38C350}" destId="{AAF8FF7B-8FEB-43D1-A599-1495DD44A067}" srcOrd="15" destOrd="0" presId="urn:microsoft.com/office/officeart/2005/8/layout/radial6"/>
    <dgm:cxn modelId="{A986055D-31CD-4F01-80FD-5A1196B4DA53}" type="presOf" srcId="{19A7766B-7B98-4339-947A-F306D05CC5B3}" destId="{AAF8FF7B-8FEB-43D1-A599-1495DD44A067}" srcOrd="0" destOrd="0" presId="urn:microsoft.com/office/officeart/2005/8/layout/radial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C320EB-5352-40AA-A0A9-C13066E1373C}" type="doc">
      <dgm:prSet loTypeId="list" loCatId="list" qsTypeId="urn:microsoft.com/office/officeart/2005/8/quickstyle/simple1" qsCatId="simple" csTypeId="urn:microsoft.com/office/officeart/2005/8/colors/colorful2" csCatId="accent1" phldr="0"/>
      <dgm:spPr/>
      <dgm:t>
        <a:bodyPr/>
        <a:p>
          <a:endParaRPr lang="en-US"/>
        </a:p>
      </dgm:t>
    </dgm:pt>
    <dgm:pt modelId="{773C5012-55F9-436E-B78B-2A38D8AAA0C0}">
      <dgm:prSet phldrT="[Text]" phldr="0" custT="1"/>
      <dgm:spPr/>
      <dgm:t>
        <a:bodyPr vert="horz" wrap="square"/>
        <a:p>
          <a:pPr>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Technically proficient team for development</a:t>
          </a:r>
          <a:r>
            <a:rPr lang="en-IN" altLang="en-US" sz="1600">
              <a:solidFill>
                <a:schemeClr val="tx1"/>
              </a:solidFill>
              <a:latin typeface="Arial" panose="020B0604020202020204" pitchFamily="34" charset="0"/>
              <a:cs typeface="Arial" panose="020B0604020202020204" pitchFamily="34" charset="0"/>
            </a:rPr>
            <a:t/>
          </a:r>
          <a:endParaRPr lang="en-IN" altLang="en-US" sz="1600">
            <a:solidFill>
              <a:schemeClr val="tx1"/>
            </a:solidFill>
            <a:latin typeface="Arial" panose="020B0604020202020204" pitchFamily="34" charset="0"/>
            <a:cs typeface="Arial" panose="020B0604020202020204" pitchFamily="34" charset="0"/>
          </a:endParaRPr>
        </a:p>
      </dgm:t>
    </dgm:pt>
    <dgm:pt modelId="{E1399106-9BE2-43F4-9430-F473CB36780F}" cxnId="{8D01A04A-631E-44F9-814E-CF3F5A052D28}" type="parTrans">
      <dgm:prSet/>
      <dgm:spPr/>
      <dgm:t>
        <a:bodyPr/>
        <a:p>
          <a:endParaRPr lang="en-US"/>
        </a:p>
      </dgm:t>
    </dgm:pt>
    <dgm:pt modelId="{507A6FE3-4D55-4ED6-A973-429D64C5DF28}" cxnId="{8D01A04A-631E-44F9-814E-CF3F5A052D28}" type="sibTrans">
      <dgm:prSet/>
      <dgm:spPr/>
      <dgm:t>
        <a:bodyPr/>
        <a:p>
          <a:endParaRPr lang="en-US"/>
        </a:p>
      </dgm:t>
    </dgm:pt>
    <dgm:pt modelId="{CA58FE74-4619-4E47-BA6C-E0CD35AF5AC2}">
      <dgm:prSet phldrT="[Text]" phldr="0" custT="1"/>
      <dgm:spPr/>
      <dgm:t>
        <a:bodyPr vert="horz" wrap="square"/>
        <a:p>
          <a:pPr>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Strong understanding of business impact and risk assessmet </a:t>
          </a:r>
          <a:r>
            <a:rPr lang="en-IN" altLang="en-US" sz="1600">
              <a:solidFill>
                <a:schemeClr val="tx1"/>
              </a:solidFill>
              <a:latin typeface="Arial" panose="020B0604020202020204" pitchFamily="34" charset="0"/>
              <a:cs typeface="Arial" panose="020B0604020202020204" pitchFamily="34" charset="0"/>
            </a:rPr>
            <a:t/>
          </a:r>
          <a:endParaRPr lang="en-IN" altLang="en-US" sz="1600">
            <a:solidFill>
              <a:schemeClr val="tx1"/>
            </a:solidFill>
            <a:latin typeface="Arial" panose="020B0604020202020204" pitchFamily="34" charset="0"/>
            <a:cs typeface="Arial" panose="020B0604020202020204" pitchFamily="34" charset="0"/>
          </a:endParaRPr>
        </a:p>
      </dgm:t>
    </dgm:pt>
    <dgm:pt modelId="{EBAD4DA7-135F-4F4E-9475-804E7DC205D2}" cxnId="{79280452-23F7-4504-AC35-F6D6DD84FC70}" type="parTrans">
      <dgm:prSet/>
      <dgm:spPr/>
      <dgm:t>
        <a:bodyPr/>
        <a:p>
          <a:endParaRPr lang="en-US"/>
        </a:p>
      </dgm:t>
    </dgm:pt>
    <dgm:pt modelId="{5723A07A-E737-45B0-B84E-97FB4DE86580}" cxnId="{79280452-23F7-4504-AC35-F6D6DD84FC70}" type="sibTrans">
      <dgm:prSet/>
      <dgm:spPr/>
      <dgm:t>
        <a:bodyPr/>
        <a:p>
          <a:endParaRPr lang="en-US"/>
        </a:p>
      </dgm:t>
    </dgm:pt>
    <dgm:pt modelId="{D3284563-CEAB-43B3-81C4-5F6C081CBB78}">
      <dgm:prSet phldrT="[Text]" phldr="0" custT="1"/>
      <dgm:spPr/>
      <dgm:t>
        <a:bodyPr vert="horz" wrap="square"/>
        <a:p>
          <a:pPr>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Prioritization of defect fixes based on their severity</a:t>
          </a:r>
          <a:r>
            <a:rPr lang="en-IN" altLang="en-US" sz="1600">
              <a:solidFill>
                <a:schemeClr val="tx1"/>
              </a:solidFill>
              <a:latin typeface="Arial" panose="020B0604020202020204" pitchFamily="34" charset="0"/>
              <a:cs typeface="Arial" panose="020B0604020202020204" pitchFamily="34" charset="0"/>
            </a:rPr>
            <a:t/>
          </a:r>
          <a:endParaRPr lang="en-IN" altLang="en-US" sz="1600">
            <a:solidFill>
              <a:schemeClr val="tx1"/>
            </a:solidFill>
            <a:latin typeface="Arial" panose="020B0604020202020204" pitchFamily="34" charset="0"/>
            <a:cs typeface="Arial" panose="020B0604020202020204" pitchFamily="34" charset="0"/>
          </a:endParaRPr>
        </a:p>
      </dgm:t>
    </dgm:pt>
    <dgm:pt modelId="{A2E240DA-ABFA-4A24-BE34-ABE926603D67}" cxnId="{9C2ECBC8-1078-46BE-9CB0-40C257987CDB}" type="parTrans">
      <dgm:prSet/>
      <dgm:spPr/>
      <dgm:t>
        <a:bodyPr/>
        <a:p>
          <a:endParaRPr lang="en-US"/>
        </a:p>
      </dgm:t>
    </dgm:pt>
    <dgm:pt modelId="{2E43EE94-FE21-4F90-81B3-CED5B1ECC8C9}" cxnId="{9C2ECBC8-1078-46BE-9CB0-40C257987CDB}" type="sibTrans">
      <dgm:prSet/>
      <dgm:spPr/>
      <dgm:t>
        <a:bodyPr/>
        <a:p>
          <a:endParaRPr lang="en-US"/>
        </a:p>
      </dgm:t>
    </dgm:pt>
    <dgm:pt modelId="{E5EECCA3-F875-4B71-92CC-9CCDFB7DBFEF}" type="pres">
      <dgm:prSet presAssocID="{26C320EB-5352-40AA-A0A9-C13066E1373C}" presName="linear" presStyleCnt="0">
        <dgm:presLayoutVars>
          <dgm:dir/>
          <dgm:animLvl val="lvl"/>
          <dgm:resizeHandles val="exact"/>
        </dgm:presLayoutVars>
      </dgm:prSet>
      <dgm:spPr/>
    </dgm:pt>
    <dgm:pt modelId="{667CAF5C-37C0-43B7-8B7E-02CCA3754DB9}" type="pres">
      <dgm:prSet presAssocID="{773C5012-55F9-436E-B78B-2A38D8AAA0C0}" presName="parentLin" presStyleCnt="0"/>
      <dgm:spPr/>
    </dgm:pt>
    <dgm:pt modelId="{58B158CB-C1D2-4676-88E6-6B3937A00A96}" type="pres">
      <dgm:prSet presAssocID="{773C5012-55F9-436E-B78B-2A38D8AAA0C0}" presName="parentLeftMargin" presStyleCnt="0"/>
      <dgm:spPr/>
    </dgm:pt>
    <dgm:pt modelId="{D0971512-D8E1-4E4B-89F4-FF2EB164C196}" type="pres">
      <dgm:prSet presAssocID="{773C5012-55F9-436E-B78B-2A38D8AAA0C0}" presName="parentText" presStyleLbl="node1" presStyleIdx="0" presStyleCnt="3">
        <dgm:presLayoutVars>
          <dgm:chMax val="0"/>
          <dgm:bulletEnabled val="1"/>
        </dgm:presLayoutVars>
      </dgm:prSet>
      <dgm:spPr/>
    </dgm:pt>
    <dgm:pt modelId="{05E10EBB-C85A-471E-9935-B48B9C39A12E}" type="pres">
      <dgm:prSet presAssocID="{773C5012-55F9-436E-B78B-2A38D8AAA0C0}" presName="negativeSpace" presStyleCnt="0"/>
      <dgm:spPr/>
    </dgm:pt>
    <dgm:pt modelId="{1F055725-8984-42CB-98CB-8E7728DD5EAB}" type="pres">
      <dgm:prSet presAssocID="{773C5012-55F9-436E-B78B-2A38D8AAA0C0}" presName="childText" presStyleLbl="conFgAcc1" presStyleIdx="0" presStyleCnt="3">
        <dgm:presLayoutVars>
          <dgm:bulletEnabled val="1"/>
        </dgm:presLayoutVars>
      </dgm:prSet>
      <dgm:spPr/>
    </dgm:pt>
    <dgm:pt modelId="{5785404B-F53E-4CF2-A702-90A46E89CED8}" type="pres">
      <dgm:prSet presAssocID="{507A6FE3-4D55-4ED6-A973-429D64C5DF28}" presName="spaceBetweenRectangles" presStyleCnt="0"/>
      <dgm:spPr/>
    </dgm:pt>
    <dgm:pt modelId="{EF963990-07B7-4DBC-8CFE-C86D15B61BB6}" type="pres">
      <dgm:prSet presAssocID="{CA58FE74-4619-4E47-BA6C-E0CD35AF5AC2}" presName="parentLin" presStyleCnt="0"/>
      <dgm:spPr/>
    </dgm:pt>
    <dgm:pt modelId="{AEA4B341-6C57-43B8-BC42-9813D43D1335}" type="pres">
      <dgm:prSet presAssocID="{CA58FE74-4619-4E47-BA6C-E0CD35AF5AC2}" presName="parentLeftMargin" presStyleCnt="0"/>
      <dgm:spPr/>
    </dgm:pt>
    <dgm:pt modelId="{DD07B078-3354-4F1B-9438-E4F95C4B43A6}" type="pres">
      <dgm:prSet presAssocID="{CA58FE74-4619-4E47-BA6C-E0CD35AF5AC2}" presName="parentText" presStyleLbl="node1" presStyleIdx="1" presStyleCnt="3">
        <dgm:presLayoutVars>
          <dgm:chMax val="0"/>
          <dgm:bulletEnabled val="1"/>
        </dgm:presLayoutVars>
      </dgm:prSet>
      <dgm:spPr/>
    </dgm:pt>
    <dgm:pt modelId="{98F9047E-C8BE-4990-B6F7-84F4581E1FEA}" type="pres">
      <dgm:prSet presAssocID="{CA58FE74-4619-4E47-BA6C-E0CD35AF5AC2}" presName="negativeSpace" presStyleCnt="0"/>
      <dgm:spPr/>
    </dgm:pt>
    <dgm:pt modelId="{FB20FF5F-D131-4A8A-AEBC-01A2B84D6655}" type="pres">
      <dgm:prSet presAssocID="{CA58FE74-4619-4E47-BA6C-E0CD35AF5AC2}" presName="childText" presStyleLbl="conFgAcc1" presStyleIdx="1" presStyleCnt="3">
        <dgm:presLayoutVars>
          <dgm:bulletEnabled val="1"/>
        </dgm:presLayoutVars>
      </dgm:prSet>
      <dgm:spPr/>
    </dgm:pt>
    <dgm:pt modelId="{AC1FEB9E-7ED9-4E44-9D47-B63AE5862158}" type="pres">
      <dgm:prSet presAssocID="{5723A07A-E737-45B0-B84E-97FB4DE86580}" presName="spaceBetweenRectangles" presStyleCnt="0"/>
      <dgm:spPr/>
    </dgm:pt>
    <dgm:pt modelId="{04A221FB-3A34-4804-9E1E-FAA254BEF819}" type="pres">
      <dgm:prSet presAssocID="{D3284563-CEAB-43B3-81C4-5F6C081CBB78}" presName="parentLin" presStyleCnt="0"/>
      <dgm:spPr/>
    </dgm:pt>
    <dgm:pt modelId="{09CBCBA7-E2EE-4654-BCFB-AB2C2D77E66B}" type="pres">
      <dgm:prSet presAssocID="{D3284563-CEAB-43B3-81C4-5F6C081CBB78}" presName="parentLeftMargin" presStyleCnt="0"/>
      <dgm:spPr/>
    </dgm:pt>
    <dgm:pt modelId="{F8B30F84-9FC1-4455-B8FC-CA5DC2189586}" type="pres">
      <dgm:prSet presAssocID="{D3284563-CEAB-43B3-81C4-5F6C081CBB78}" presName="parentText" presStyleLbl="node1" presStyleIdx="2" presStyleCnt="3">
        <dgm:presLayoutVars>
          <dgm:chMax val="0"/>
          <dgm:bulletEnabled val="1"/>
        </dgm:presLayoutVars>
      </dgm:prSet>
      <dgm:spPr/>
    </dgm:pt>
    <dgm:pt modelId="{75AF99AA-34AA-4169-A0AA-91E0CC0C2D15}" type="pres">
      <dgm:prSet presAssocID="{D3284563-CEAB-43B3-81C4-5F6C081CBB78}" presName="negativeSpace" presStyleCnt="0"/>
      <dgm:spPr/>
    </dgm:pt>
    <dgm:pt modelId="{F855875C-E8B4-4273-8C6C-6A8EC3091B3C}" type="pres">
      <dgm:prSet presAssocID="{D3284563-CEAB-43B3-81C4-5F6C081CBB78}" presName="childText" presStyleLbl="conFgAcc1" presStyleIdx="2" presStyleCnt="3">
        <dgm:presLayoutVars>
          <dgm:bulletEnabled val="1"/>
        </dgm:presLayoutVars>
      </dgm:prSet>
      <dgm:spPr/>
    </dgm:pt>
  </dgm:ptLst>
  <dgm:cxnLst>
    <dgm:cxn modelId="{8D01A04A-631E-44F9-814E-CF3F5A052D28}" srcId="{26C320EB-5352-40AA-A0A9-C13066E1373C}" destId="{773C5012-55F9-436E-B78B-2A38D8AAA0C0}" srcOrd="0" destOrd="0" parTransId="{E1399106-9BE2-43F4-9430-F473CB36780F}" sibTransId="{507A6FE3-4D55-4ED6-A973-429D64C5DF28}"/>
    <dgm:cxn modelId="{79280452-23F7-4504-AC35-F6D6DD84FC70}" srcId="{26C320EB-5352-40AA-A0A9-C13066E1373C}" destId="{CA58FE74-4619-4E47-BA6C-E0CD35AF5AC2}" srcOrd="1" destOrd="0" parTransId="{EBAD4DA7-135F-4F4E-9475-804E7DC205D2}" sibTransId="{5723A07A-E737-45B0-B84E-97FB4DE86580}"/>
    <dgm:cxn modelId="{9C2ECBC8-1078-46BE-9CB0-40C257987CDB}" srcId="{26C320EB-5352-40AA-A0A9-C13066E1373C}" destId="{D3284563-CEAB-43B3-81C4-5F6C081CBB78}" srcOrd="2" destOrd="0" parTransId="{A2E240DA-ABFA-4A24-BE34-ABE926603D67}" sibTransId="{2E43EE94-FE21-4F90-81B3-CED5B1ECC8C9}"/>
    <dgm:cxn modelId="{BFF4977B-0C65-4315-96EF-5C8DEC07430D}" type="presOf" srcId="{26C320EB-5352-40AA-A0A9-C13066E1373C}" destId="{E5EECCA3-F875-4B71-92CC-9CCDFB7DBFEF}" srcOrd="0" destOrd="0" presId="urn:microsoft.com/office/officeart/2005/8/layout/list1"/>
    <dgm:cxn modelId="{E8A07F6A-A690-4EB4-803C-22357B191718}" type="presParOf" srcId="{E5EECCA3-F875-4B71-92CC-9CCDFB7DBFEF}" destId="{667CAF5C-37C0-43B7-8B7E-02CCA3754DB9}" srcOrd="0" destOrd="0" presId="urn:microsoft.com/office/officeart/2005/8/layout/list1"/>
    <dgm:cxn modelId="{6192A368-6F1D-44CD-8C8A-0EC19477A649}" type="presParOf" srcId="{667CAF5C-37C0-43B7-8B7E-02CCA3754DB9}" destId="{58B158CB-C1D2-4676-88E6-6B3937A00A96}" srcOrd="0" destOrd="0" presId="urn:microsoft.com/office/officeart/2005/8/layout/list1"/>
    <dgm:cxn modelId="{F2FDDFD8-04F0-472A-A45A-C28688A34752}" type="presOf" srcId="{773C5012-55F9-436E-B78B-2A38D8AAA0C0}" destId="{58B158CB-C1D2-4676-88E6-6B3937A00A96}" srcOrd="0" destOrd="0" presId="urn:microsoft.com/office/officeart/2005/8/layout/list1"/>
    <dgm:cxn modelId="{140ED4E6-094D-4CEF-9A73-E2E787A93CEA}" type="presParOf" srcId="{667CAF5C-37C0-43B7-8B7E-02CCA3754DB9}" destId="{D0971512-D8E1-4E4B-89F4-FF2EB164C196}" srcOrd="1" destOrd="0" presId="urn:microsoft.com/office/officeart/2005/8/layout/list1"/>
    <dgm:cxn modelId="{08F2B96D-049E-4B5C-8F21-22ABC2919BAE}" type="presOf" srcId="{773C5012-55F9-436E-B78B-2A38D8AAA0C0}" destId="{D0971512-D8E1-4E4B-89F4-FF2EB164C196}" srcOrd="0" destOrd="0" presId="urn:microsoft.com/office/officeart/2005/8/layout/list1"/>
    <dgm:cxn modelId="{92C555F9-1A5B-4BA6-8E24-713AEEB3998E}" type="presParOf" srcId="{E5EECCA3-F875-4B71-92CC-9CCDFB7DBFEF}" destId="{05E10EBB-C85A-471E-9935-B48B9C39A12E}" srcOrd="1" destOrd="0" presId="urn:microsoft.com/office/officeart/2005/8/layout/list1"/>
    <dgm:cxn modelId="{60146CD4-C9F2-443E-8C3C-AB63D10ABC3B}" type="presParOf" srcId="{E5EECCA3-F875-4B71-92CC-9CCDFB7DBFEF}" destId="{1F055725-8984-42CB-98CB-8E7728DD5EAB}" srcOrd="2" destOrd="0" presId="urn:microsoft.com/office/officeart/2005/8/layout/list1"/>
    <dgm:cxn modelId="{3501ABBD-82A7-40D9-A8CE-F346E83BD557}" type="presParOf" srcId="{E5EECCA3-F875-4B71-92CC-9CCDFB7DBFEF}" destId="{5785404B-F53E-4CF2-A702-90A46E89CED8}" srcOrd="3" destOrd="0" presId="urn:microsoft.com/office/officeart/2005/8/layout/list1"/>
    <dgm:cxn modelId="{53CCE045-EE01-4D80-8490-E8AFD4E54EC0}" type="presParOf" srcId="{E5EECCA3-F875-4B71-92CC-9CCDFB7DBFEF}" destId="{EF963990-07B7-4DBC-8CFE-C86D15B61BB6}" srcOrd="4" destOrd="0" presId="urn:microsoft.com/office/officeart/2005/8/layout/list1"/>
    <dgm:cxn modelId="{0EFA24C8-3A14-4B60-AD28-9D1DDC8DA09A}" type="presParOf" srcId="{EF963990-07B7-4DBC-8CFE-C86D15B61BB6}" destId="{AEA4B341-6C57-43B8-BC42-9813D43D1335}" srcOrd="0" destOrd="4" presId="urn:microsoft.com/office/officeart/2005/8/layout/list1"/>
    <dgm:cxn modelId="{3F032779-BFCF-424B-AB97-5EDF87A32466}" type="presOf" srcId="{CA58FE74-4619-4E47-BA6C-E0CD35AF5AC2}" destId="{AEA4B341-6C57-43B8-BC42-9813D43D1335}" srcOrd="0" destOrd="0" presId="urn:microsoft.com/office/officeart/2005/8/layout/list1"/>
    <dgm:cxn modelId="{78660BBC-B467-4D27-A8CC-FD1AABA91577}" type="presParOf" srcId="{EF963990-07B7-4DBC-8CFE-C86D15B61BB6}" destId="{DD07B078-3354-4F1B-9438-E4F95C4B43A6}" srcOrd="1" destOrd="4" presId="urn:microsoft.com/office/officeart/2005/8/layout/list1"/>
    <dgm:cxn modelId="{E12F14EB-743B-4439-9901-A9EC27C9F037}" type="presOf" srcId="{CA58FE74-4619-4E47-BA6C-E0CD35AF5AC2}" destId="{DD07B078-3354-4F1B-9438-E4F95C4B43A6}" srcOrd="0" destOrd="0" presId="urn:microsoft.com/office/officeart/2005/8/layout/list1"/>
    <dgm:cxn modelId="{EA80C8B2-2861-4137-BCA8-57997F485986}" type="presParOf" srcId="{E5EECCA3-F875-4B71-92CC-9CCDFB7DBFEF}" destId="{98F9047E-C8BE-4990-B6F7-84F4581E1FEA}" srcOrd="5" destOrd="0" presId="urn:microsoft.com/office/officeart/2005/8/layout/list1"/>
    <dgm:cxn modelId="{1069B8BA-6454-430A-A65C-A4AA648134A8}" type="presParOf" srcId="{E5EECCA3-F875-4B71-92CC-9CCDFB7DBFEF}" destId="{FB20FF5F-D131-4A8A-AEBC-01A2B84D6655}" srcOrd="6" destOrd="0" presId="urn:microsoft.com/office/officeart/2005/8/layout/list1"/>
    <dgm:cxn modelId="{884EA464-FD65-4DEB-A3C1-5DC7AB33CA8F}" type="presParOf" srcId="{E5EECCA3-F875-4B71-92CC-9CCDFB7DBFEF}" destId="{AC1FEB9E-7ED9-4E44-9D47-B63AE5862158}" srcOrd="7" destOrd="0" presId="urn:microsoft.com/office/officeart/2005/8/layout/list1"/>
    <dgm:cxn modelId="{24947BAA-6688-47B4-8BCA-56298B6247BD}" type="presParOf" srcId="{E5EECCA3-F875-4B71-92CC-9CCDFB7DBFEF}" destId="{04A221FB-3A34-4804-9E1E-FAA254BEF819}" srcOrd="8" destOrd="0" presId="urn:microsoft.com/office/officeart/2005/8/layout/list1"/>
    <dgm:cxn modelId="{11698B2B-83B3-4603-8FD5-95BB9AB0C776}" type="presParOf" srcId="{04A221FB-3A34-4804-9E1E-FAA254BEF819}" destId="{09CBCBA7-E2EE-4654-BCFB-AB2C2D77E66B}" srcOrd="0" destOrd="8" presId="urn:microsoft.com/office/officeart/2005/8/layout/list1"/>
    <dgm:cxn modelId="{E58D0174-37D0-43A8-A366-6B36F54C995E}" type="presOf" srcId="{D3284563-CEAB-43B3-81C4-5F6C081CBB78}" destId="{09CBCBA7-E2EE-4654-BCFB-AB2C2D77E66B}" srcOrd="0" destOrd="0" presId="urn:microsoft.com/office/officeart/2005/8/layout/list1"/>
    <dgm:cxn modelId="{193E5282-287A-4219-B84A-A357EBA25C26}" type="presParOf" srcId="{04A221FB-3A34-4804-9E1E-FAA254BEF819}" destId="{F8B30F84-9FC1-4455-B8FC-CA5DC2189586}" srcOrd="1" destOrd="8" presId="urn:microsoft.com/office/officeart/2005/8/layout/list1"/>
    <dgm:cxn modelId="{67B3DD52-34DD-4987-801C-63B8861A25D9}" type="presOf" srcId="{D3284563-CEAB-43B3-81C4-5F6C081CBB78}" destId="{F8B30F84-9FC1-4455-B8FC-CA5DC2189586}" srcOrd="0" destOrd="0" presId="urn:microsoft.com/office/officeart/2005/8/layout/list1"/>
    <dgm:cxn modelId="{639818B0-0CC5-404C-980E-30A255A696C6}" type="presParOf" srcId="{E5EECCA3-F875-4B71-92CC-9CCDFB7DBFEF}" destId="{75AF99AA-34AA-4169-A0AA-91E0CC0C2D15}" srcOrd="9" destOrd="0" presId="urn:microsoft.com/office/officeart/2005/8/layout/list1"/>
    <dgm:cxn modelId="{5B056956-2E7C-42D8-90A5-15465DCF5A11}" type="presParOf" srcId="{E5EECCA3-F875-4B71-92CC-9CCDFB7DBFEF}" destId="{F855875C-E8B4-4273-8C6C-6A8EC3091B3C}"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B61304-4A0F-4E11-8080-599F9186F6A5}" type="doc">
      <dgm:prSet loTypeId="process" loCatId="process" qsTypeId="urn:microsoft.com/office/officeart/2005/8/quickstyle/simple1" qsCatId="simple" csTypeId="urn:microsoft.com/office/officeart/2005/8/colors/colorful2" csCatId="accent1" phldr="0"/>
      <dgm:spPr/>
      <dgm:t>
        <a:bodyPr/>
        <a:p>
          <a:endParaRPr lang="en-US"/>
        </a:p>
      </dgm:t>
    </dgm:pt>
    <dgm:pt modelId="{06475F0D-9D1A-4BF5-AEE3-CD3F880BC44A}">
      <dgm:prSet phldrT="[Text]" phldr="0" custT="1"/>
      <dgm:spPr/>
      <dgm:t>
        <a:bodyPr vert="horz" wrap="square"/>
        <a:p>
          <a:pPr>
            <a:lnSpc>
              <a:spcPct val="100000"/>
            </a:lnSpc>
            <a:spcBef>
              <a:spcPct val="0"/>
            </a:spcBef>
            <a:spcAft>
              <a:spcPct val="35000"/>
            </a:spcAft>
          </a:pPr>
          <a:r>
            <a:rPr lang="en-IN" altLang="en-US" sz="1600" b="1">
              <a:solidFill>
                <a:schemeClr val="tx1"/>
              </a:solidFill>
              <a:latin typeface="Arial" panose="020B0604020202020204" pitchFamily="34" charset="0"/>
              <a:cs typeface="Arial" panose="020B0604020202020204" pitchFamily="34" charset="0"/>
            </a:rPr>
            <a:t>Error</a:t>
          </a:r>
          <a:r>
            <a:rPr lang="en-IN" altLang="en-US" sz="1600" b="1">
              <a:solidFill>
                <a:schemeClr val="tx1"/>
              </a:solidFill>
              <a:latin typeface="Arial" panose="020B0604020202020204" pitchFamily="34" charset="0"/>
              <a:cs typeface="Arial" panose="020B0604020202020204" pitchFamily="34" charset="0"/>
            </a:rPr>
            <a:t/>
          </a:r>
          <a:endParaRPr lang="en-IN" altLang="en-US" sz="1600" b="1">
            <a:solidFill>
              <a:schemeClr val="tx1"/>
            </a:solidFill>
            <a:latin typeface="Arial" panose="020B0604020202020204" pitchFamily="34" charset="0"/>
            <a:cs typeface="Arial" panose="020B0604020202020204" pitchFamily="34" charset="0"/>
          </a:endParaRPr>
        </a:p>
      </dgm:t>
    </dgm:pt>
    <dgm:pt modelId="{E99562FF-418F-46D1-8F86-E0992ED7BA8E}" cxnId="{0550CF52-AEF8-475A-A420-88BED540FC48}" type="parTrans">
      <dgm:prSet/>
      <dgm:spPr/>
      <dgm:t>
        <a:bodyPr/>
        <a:p>
          <a:endParaRPr lang="en-US"/>
        </a:p>
      </dgm:t>
    </dgm:pt>
    <dgm:pt modelId="{4BD710C9-2F9D-441E-B548-A9989C0147D7}" cxnId="{0550CF52-AEF8-475A-A420-88BED540FC48}" type="sibTrans">
      <dgm:prSet/>
      <dgm:spPr/>
      <dgm:t>
        <a:bodyPr/>
        <a:p>
          <a:endParaRPr lang="en-US"/>
        </a:p>
      </dgm:t>
    </dgm:pt>
    <dgm:pt modelId="{FE2A3430-07B7-4AF8-8050-E9E6630C707F}">
      <dgm:prSet phldrT="[Text]" phldr="0" custT="0"/>
      <dgm:spPr/>
      <dgm:t>
        <a:bodyPr vert="horz" wrap="square"/>
        <a:p>
          <a:pPr>
            <a:lnSpc>
              <a:spcPct val="120000"/>
            </a:lnSpc>
            <a:spcBef>
              <a:spcPct val="0"/>
            </a:spcBef>
            <a:spcAft>
              <a:spcPct val="15000"/>
            </a:spcAft>
          </a:pPr>
          <a:r>
            <a:rPr lang="en-IN" altLang="en-US"/>
            <a:t>Made during requirement gathering, analysis and coding</a:t>
          </a:r>
          <a:r>
            <a:rPr lang="en-US"/>
            <a:t/>
          </a:r>
          <a:endParaRPr lang="en-US"/>
        </a:p>
      </dgm:t>
    </dgm:pt>
    <dgm:pt modelId="{FB51E315-BC56-4135-BA1D-66E640931F3A}" cxnId="{CBA849E7-20FA-4A54-8322-D293BF9614F7}" type="parTrans">
      <dgm:prSet/>
      <dgm:spPr/>
      <dgm:t>
        <a:bodyPr/>
        <a:p>
          <a:endParaRPr lang="en-US"/>
        </a:p>
      </dgm:t>
    </dgm:pt>
    <dgm:pt modelId="{9ADD2677-777A-4E9D-AE48-B83F0BAD6874}" cxnId="{CBA849E7-20FA-4A54-8322-D293BF9614F7}" type="sibTrans">
      <dgm:prSet/>
      <dgm:spPr/>
      <dgm:t>
        <a:bodyPr/>
        <a:p>
          <a:endParaRPr lang="en-US"/>
        </a:p>
      </dgm:t>
    </dgm:pt>
    <dgm:pt modelId="{E18DDA3B-269B-487B-B922-F7D7CF59E873}">
      <dgm:prSet phldr="0" custT="0"/>
      <dgm:spPr/>
      <dgm:t>
        <a:bodyPr vert="horz" wrap="square"/>
        <a:p>
          <a:pPr>
            <a:lnSpc>
              <a:spcPct val="120000"/>
            </a:lnSpc>
            <a:spcBef>
              <a:spcPct val="0"/>
            </a:spcBef>
            <a:spcAft>
              <a:spcPct val="15000"/>
            </a:spcAft>
          </a:pPr>
          <a:r>
            <a:rPr lang="en-IN" altLang="en-US"/>
            <a:t>I</a:t>
          </a:r>
          <a:r>
            <a:rPr lang="en-US" altLang="en-US"/>
            <a:t>ntroduces an imperfection or flaw into the software's work product</a:t>
          </a:r>
          <a:r>
            <a:rPr lang="en-US" altLang="en-US"/>
            <a:t/>
          </a:r>
          <a:endParaRPr lang="en-US" altLang="en-US"/>
        </a:p>
      </dgm:t>
    </dgm:pt>
    <dgm:pt modelId="{9467D408-4DA4-4D1E-98F4-691C7A143D33}" cxnId="{FD77FAFF-D069-4D95-BB9B-75DFA9F3A308}" type="parTrans">
      <dgm:prSet/>
      <dgm:spPr/>
    </dgm:pt>
    <dgm:pt modelId="{13EDB069-A02A-49A7-90CA-CA6205DA1034}" cxnId="{FD77FAFF-D069-4D95-BB9B-75DFA9F3A308}" type="sibTrans">
      <dgm:prSet/>
      <dgm:spPr/>
    </dgm:pt>
    <dgm:pt modelId="{C17EA81B-EE8F-4BEA-9D93-831900C89C00}">
      <dgm:prSet phldrT="[Text]" phldr="0" custT="1"/>
      <dgm:spPr/>
      <dgm:t>
        <a:bodyPr vert="horz" wrap="square"/>
        <a:p>
          <a:pPr>
            <a:lnSpc>
              <a:spcPct val="100000"/>
            </a:lnSpc>
            <a:spcBef>
              <a:spcPct val="0"/>
            </a:spcBef>
            <a:spcAft>
              <a:spcPct val="35000"/>
            </a:spcAft>
          </a:pPr>
          <a:r>
            <a:rPr lang="en-IN" altLang="en-US" sz="1600" b="1">
              <a:solidFill>
                <a:schemeClr val="tx1"/>
              </a:solidFill>
              <a:latin typeface="Arial" panose="020B0604020202020204" pitchFamily="34" charset="0"/>
              <a:cs typeface="Arial" panose="020B0604020202020204" pitchFamily="34" charset="0"/>
            </a:rPr>
            <a:t>Defect</a:t>
          </a:r>
          <a:r>
            <a:rPr lang="en-IN" altLang="en-US" sz="1600" b="1">
              <a:latin typeface="Arial" panose="020B0604020202020204" pitchFamily="34" charset="0"/>
              <a:cs typeface="Arial" panose="020B0604020202020204" pitchFamily="34" charset="0"/>
            </a:rPr>
            <a:t>	</a:t>
          </a:r>
          <a:r>
            <a:rPr lang="en-IN" altLang="en-US" sz="1600" b="1">
              <a:latin typeface="Arial" panose="020B0604020202020204" pitchFamily="34" charset="0"/>
              <a:cs typeface="Arial" panose="020B0604020202020204" pitchFamily="34" charset="0"/>
            </a:rPr>
            <a:t/>
          </a:r>
          <a:endParaRPr lang="en-IN" altLang="en-US" sz="1600" b="1">
            <a:latin typeface="Arial" panose="020B0604020202020204" pitchFamily="34" charset="0"/>
            <a:cs typeface="Arial" panose="020B0604020202020204" pitchFamily="34" charset="0"/>
          </a:endParaRPr>
        </a:p>
      </dgm:t>
    </dgm:pt>
    <dgm:pt modelId="{D73C192A-A373-4ACC-BFC9-76609E41CF4E}" cxnId="{DE0CF4D6-6EFB-4CD4-A555-23E2214E75B2}" type="parTrans">
      <dgm:prSet/>
      <dgm:spPr/>
      <dgm:t>
        <a:bodyPr/>
        <a:p>
          <a:endParaRPr lang="en-US"/>
        </a:p>
      </dgm:t>
    </dgm:pt>
    <dgm:pt modelId="{40C2F390-CB3F-4BF4-827D-B8018A5F3BB7}" cxnId="{DE0CF4D6-6EFB-4CD4-A555-23E2214E75B2}" type="sibTrans">
      <dgm:prSet/>
      <dgm:spPr/>
      <dgm:t>
        <a:bodyPr/>
        <a:p>
          <a:endParaRPr lang="en-US"/>
        </a:p>
      </dgm:t>
    </dgm:pt>
    <dgm:pt modelId="{2E055442-BDF6-42BD-8A8A-460CDF6F5C5E}">
      <dgm:prSet phldrT="[Text]" phldr="0" custT="0"/>
      <dgm:spPr/>
      <dgm:t>
        <a:bodyPr vert="horz" wrap="square"/>
        <a:p>
          <a:pPr>
            <a:lnSpc>
              <a:spcPct val="110000"/>
            </a:lnSpc>
            <a:spcBef>
              <a:spcPct val="0"/>
            </a:spcBef>
            <a:spcAft>
              <a:spcPct val="15000"/>
            </a:spcAft>
          </a:pPr>
          <a:r>
            <a:rPr lang="en-IN" altLang="en-US"/>
            <a:t>If it </a:t>
          </a:r>
          <a:r>
            <a:rPr lang="en-US" altLang="en-US"/>
            <a:t>remains undetected and uncorrected, and the specific conditions required to activate it are met during the software's execution, the system may then exhibit unexpected behavior or cease to function as required</a:t>
          </a:r>
          <a:r>
            <a:rPr lang="en-IN" altLang="en-US"/>
            <a:t>.</a:t>
          </a:r>
          <a:r>
            <a:rPr lang="en-IN" altLang="en-US"/>
            <a:t/>
          </a:r>
          <a:endParaRPr lang="en-IN" altLang="en-US"/>
        </a:p>
      </dgm:t>
    </dgm:pt>
    <dgm:pt modelId="{291EBA52-15FB-4985-9632-D5F9BE62ACD1}" cxnId="{D06AFDDE-EA00-4930-8DE7-0FD0636096C5}" type="parTrans">
      <dgm:prSet/>
      <dgm:spPr/>
      <dgm:t>
        <a:bodyPr/>
        <a:p>
          <a:endParaRPr lang="en-US"/>
        </a:p>
      </dgm:t>
    </dgm:pt>
    <dgm:pt modelId="{87346316-64F3-4945-9984-33BC77341C9F}" cxnId="{D06AFDDE-EA00-4930-8DE7-0FD0636096C5}" type="sibTrans">
      <dgm:prSet/>
      <dgm:spPr/>
      <dgm:t>
        <a:bodyPr/>
        <a:p>
          <a:endParaRPr lang="en-US"/>
        </a:p>
      </dgm:t>
    </dgm:pt>
    <dgm:pt modelId="{89CF50F2-3EE8-4308-BA46-57745656A4AA}">
      <dgm:prSet phldrT="[Text]" phldr="0" custT="1"/>
      <dgm:spPr/>
      <dgm:t>
        <a:bodyPr vert="horz" wrap="square"/>
        <a:p>
          <a:pPr>
            <a:lnSpc>
              <a:spcPct val="100000"/>
            </a:lnSpc>
            <a:spcBef>
              <a:spcPct val="0"/>
            </a:spcBef>
            <a:spcAft>
              <a:spcPct val="35000"/>
            </a:spcAft>
          </a:pPr>
          <a:r>
            <a:rPr lang="en-IN" altLang="en-US" sz="1400" b="1">
              <a:solidFill>
                <a:schemeClr val="tx1"/>
              </a:solidFill>
              <a:latin typeface="Arial" panose="020B0604020202020204" pitchFamily="34" charset="0"/>
              <a:cs typeface="Arial" panose="020B0604020202020204" pitchFamily="34" charset="0"/>
            </a:rPr>
            <a:t>Failure</a:t>
          </a:r>
          <a:r>
            <a:rPr lang="en-IN" altLang="en-US" sz="1400" b="1">
              <a:solidFill>
                <a:schemeClr val="tx1"/>
              </a:solidFill>
              <a:latin typeface="Arial" panose="020B0604020202020204" pitchFamily="34" charset="0"/>
              <a:cs typeface="Arial" panose="020B0604020202020204" pitchFamily="34" charset="0"/>
            </a:rPr>
            <a:t/>
          </a:r>
          <a:endParaRPr lang="en-IN" altLang="en-US" sz="1400" b="1">
            <a:solidFill>
              <a:schemeClr val="tx1"/>
            </a:solidFill>
            <a:latin typeface="Arial" panose="020B0604020202020204" pitchFamily="34" charset="0"/>
            <a:cs typeface="Arial" panose="020B0604020202020204" pitchFamily="34" charset="0"/>
          </a:endParaRPr>
        </a:p>
      </dgm:t>
    </dgm:pt>
    <dgm:pt modelId="{D242A0FB-DF73-49CA-BA3C-BD459F366127}" cxnId="{9B093537-49FD-4072-AA53-744422190B6B}" type="parTrans">
      <dgm:prSet/>
      <dgm:spPr/>
      <dgm:t>
        <a:bodyPr/>
        <a:p>
          <a:endParaRPr lang="en-US"/>
        </a:p>
      </dgm:t>
    </dgm:pt>
    <dgm:pt modelId="{9604C662-124F-4916-B7BB-4DF131431D56}" cxnId="{9B093537-49FD-4072-AA53-744422190B6B}" type="sibTrans">
      <dgm:prSet/>
      <dgm:spPr/>
      <dgm:t>
        <a:bodyPr/>
        <a:p>
          <a:endParaRPr lang="en-US"/>
        </a:p>
      </dgm:t>
    </dgm:pt>
    <dgm:pt modelId="{A4CBB6B8-84E6-41DA-A253-F380CBF4C16F}">
      <dgm:prSet phldrT="[Text]" phldr="0" custT="0"/>
      <dgm:spPr/>
      <dgm:t>
        <a:bodyPr vert="horz" wrap="square"/>
        <a:p>
          <a:pPr>
            <a:lnSpc>
              <a:spcPct val="110000"/>
            </a:lnSpc>
            <a:spcBef>
              <a:spcPct val="0"/>
            </a:spcBef>
            <a:spcAft>
              <a:spcPct val="15000"/>
            </a:spcAft>
          </a:pPr>
          <a:r>
            <a:rPr lang="en-IN" altLang="en-US"/>
            <a:t>Poor user satisfaction</a:t>
          </a:r>
          <a:r>
            <a:rPr lang="en-US"/>
            <a:t/>
          </a:r>
          <a:endParaRPr lang="en-US"/>
        </a:p>
      </dgm:t>
    </dgm:pt>
    <dgm:pt modelId="{6BF9AA0B-A851-4ABD-9BE8-1336C9738AB8}" cxnId="{DEDD2BAD-6EF0-48B9-ABCC-BC922DD193D3}" type="parTrans">
      <dgm:prSet/>
      <dgm:spPr/>
      <dgm:t>
        <a:bodyPr/>
        <a:p>
          <a:endParaRPr lang="en-US"/>
        </a:p>
      </dgm:t>
    </dgm:pt>
    <dgm:pt modelId="{B71ACFC2-160E-4438-99B2-0295109B5775}" cxnId="{DEDD2BAD-6EF0-48B9-ABCC-BC922DD193D3}" type="sibTrans">
      <dgm:prSet/>
      <dgm:spPr/>
      <dgm:t>
        <a:bodyPr/>
        <a:p>
          <a:endParaRPr lang="en-US"/>
        </a:p>
      </dgm:t>
    </dgm:pt>
    <dgm:pt modelId="{15EF537D-6BC9-44B4-B2D9-76D61716FBF6}">
      <dgm:prSet phldr="0" custT="0"/>
      <dgm:spPr/>
      <dgm:t>
        <a:bodyPr vert="horz" wrap="square"/>
        <a:p>
          <a:pPr>
            <a:lnSpc>
              <a:spcPct val="110000"/>
            </a:lnSpc>
            <a:spcBef>
              <a:spcPct val="0"/>
            </a:spcBef>
            <a:spcAft>
              <a:spcPct val="15000"/>
            </a:spcAft>
          </a:pPr>
          <a:r>
            <a:rPr lang="en-IN" altLang="en-US"/>
            <a:t>Escalations</a:t>
          </a:r>
          <a:r>
            <a:rPr lang="en-IN" altLang="en-US"/>
            <a:t/>
          </a:r>
          <a:endParaRPr lang="en-IN" altLang="en-US"/>
        </a:p>
      </dgm:t>
    </dgm:pt>
    <dgm:pt modelId="{E180AEE0-1114-49DD-AABB-D01B76896E26}" cxnId="{6546BA8C-AB68-4DB7-9B58-46F2C967ECB2}" type="parTrans">
      <dgm:prSet/>
      <dgm:spPr/>
    </dgm:pt>
    <dgm:pt modelId="{C0D80B33-B0A0-404D-BD7A-07B51BDF69BC}" cxnId="{6546BA8C-AB68-4DB7-9B58-46F2C967ECB2}" type="sibTrans">
      <dgm:prSet/>
      <dgm:spPr/>
    </dgm:pt>
    <dgm:pt modelId="{7894115B-AABB-46F2-A52E-C27597016790}" type="pres">
      <dgm:prSet presAssocID="{B3B61304-4A0F-4E11-8080-599F9186F6A5}" presName="Name0" presStyleCnt="0">
        <dgm:presLayoutVars>
          <dgm:dir/>
          <dgm:animLvl val="lvl"/>
          <dgm:resizeHandles val="exact"/>
        </dgm:presLayoutVars>
      </dgm:prSet>
      <dgm:spPr/>
    </dgm:pt>
    <dgm:pt modelId="{56D916F2-6768-419D-835D-0E92CC7C803C}" type="pres">
      <dgm:prSet presAssocID="{B3B61304-4A0F-4E11-8080-599F9186F6A5}" presName="tSp" presStyleCnt="0"/>
      <dgm:spPr/>
    </dgm:pt>
    <dgm:pt modelId="{ECD0F423-0D40-44D8-AF71-D97C3F9DF26B}" type="pres">
      <dgm:prSet presAssocID="{B3B61304-4A0F-4E11-8080-599F9186F6A5}" presName="bSp" presStyleCnt="0"/>
      <dgm:spPr/>
    </dgm:pt>
    <dgm:pt modelId="{77157E72-C09D-4CF2-AEC0-0324FBF39226}" type="pres">
      <dgm:prSet presAssocID="{B3B61304-4A0F-4E11-8080-599F9186F6A5}" presName="process" presStyleCnt="0"/>
      <dgm:spPr/>
    </dgm:pt>
    <dgm:pt modelId="{29C62E5B-77E6-4FD6-95C8-E16514EA592F}" type="pres">
      <dgm:prSet presAssocID="{06475F0D-9D1A-4BF5-AEE3-CD3F880BC44A}" presName="composite1" presStyleCnt="0"/>
      <dgm:spPr/>
    </dgm:pt>
    <dgm:pt modelId="{24BEEBBD-4900-44F6-A6F9-3F722A9F3012}" type="pres">
      <dgm:prSet presAssocID="{06475F0D-9D1A-4BF5-AEE3-CD3F880BC44A}" presName="dummyNode1" presStyleCnt="0"/>
      <dgm:spPr/>
    </dgm:pt>
    <dgm:pt modelId="{EA4C33C9-9B7B-4236-9D97-1954A4D46745}" type="pres">
      <dgm:prSet presAssocID="{06475F0D-9D1A-4BF5-AEE3-CD3F880BC44A}" presName="childNode1" presStyleLbl="bgAcc1" presStyleIdx="0" presStyleCnt="3">
        <dgm:presLayoutVars>
          <dgm:bulletEnabled val="1"/>
        </dgm:presLayoutVars>
      </dgm:prSet>
      <dgm:spPr/>
    </dgm:pt>
    <dgm:pt modelId="{1E8A37B1-D464-40AA-8171-F21D027B523A}" type="pres">
      <dgm:prSet presAssocID="{06475F0D-9D1A-4BF5-AEE3-CD3F880BC44A}" presName="childNode1tx" presStyleCnt="0">
        <dgm:presLayoutVars>
          <dgm:bulletEnabled val="1"/>
        </dgm:presLayoutVars>
      </dgm:prSet>
      <dgm:spPr/>
    </dgm:pt>
    <dgm:pt modelId="{50F89035-D090-4CAD-827E-5FE864D0CC7D}" type="pres">
      <dgm:prSet presAssocID="{06475F0D-9D1A-4BF5-AEE3-CD3F880BC44A}" presName="parentNode1" presStyleLbl="node1" presStyleIdx="0" presStyleCnt="3">
        <dgm:presLayoutVars>
          <dgm:chMax val="1"/>
          <dgm:bulletEnabled val="1"/>
        </dgm:presLayoutVars>
      </dgm:prSet>
      <dgm:spPr/>
    </dgm:pt>
    <dgm:pt modelId="{920CA769-40FC-4401-A1E0-FD4D856E9B21}" type="pres">
      <dgm:prSet presAssocID="{06475F0D-9D1A-4BF5-AEE3-CD3F880BC44A}" presName="connSite1" presStyleCnt="0"/>
      <dgm:spPr/>
    </dgm:pt>
    <dgm:pt modelId="{B871E909-CC84-4270-8398-F5F049AEA932}" type="pres">
      <dgm:prSet presAssocID="{4BD710C9-2F9D-441E-B548-A9989C0147D7}" presName="Name9" presStyleLbl="sibTrans2D1" presStyleIdx="0" presStyleCnt="2"/>
      <dgm:spPr/>
    </dgm:pt>
    <dgm:pt modelId="{5381038C-A52C-40F2-AE25-892F98A4F272}" type="pres">
      <dgm:prSet presAssocID="{C17EA81B-EE8F-4BEA-9D93-831900C89C00}" presName="composite2" presStyleCnt="0"/>
      <dgm:spPr/>
    </dgm:pt>
    <dgm:pt modelId="{8C60EF28-DEE2-471E-9110-F1DE84254762}" type="pres">
      <dgm:prSet presAssocID="{C17EA81B-EE8F-4BEA-9D93-831900C89C00}" presName="dummyNode2" presStyleCnt="0"/>
      <dgm:spPr/>
    </dgm:pt>
    <dgm:pt modelId="{8C4A7715-D8F8-4D2B-94CE-98F25CB35172}" type="pres">
      <dgm:prSet presAssocID="{C17EA81B-EE8F-4BEA-9D93-831900C89C00}" presName="childNode2" presStyleLbl="bgAcc1" presStyleIdx="1" presStyleCnt="3">
        <dgm:presLayoutVars>
          <dgm:bulletEnabled val="1"/>
        </dgm:presLayoutVars>
      </dgm:prSet>
      <dgm:spPr/>
    </dgm:pt>
    <dgm:pt modelId="{E6E63E6B-9802-4903-9CE3-5D4A716AEA02}" type="pres">
      <dgm:prSet presAssocID="{C17EA81B-EE8F-4BEA-9D93-831900C89C00}" presName="childNode2tx" presStyleCnt="0">
        <dgm:presLayoutVars>
          <dgm:bulletEnabled val="1"/>
        </dgm:presLayoutVars>
      </dgm:prSet>
      <dgm:spPr/>
    </dgm:pt>
    <dgm:pt modelId="{D48BF050-6660-4D4F-AF7C-757C782402D6}" type="pres">
      <dgm:prSet presAssocID="{C17EA81B-EE8F-4BEA-9D93-831900C89C00}" presName="parentNode2" presStyleLbl="node1" presStyleIdx="1" presStyleCnt="3">
        <dgm:presLayoutVars>
          <dgm:chMax val="0"/>
          <dgm:bulletEnabled val="1"/>
        </dgm:presLayoutVars>
      </dgm:prSet>
      <dgm:spPr/>
    </dgm:pt>
    <dgm:pt modelId="{0D59B193-1E3C-4187-9E9F-A2912DCADAC6}" type="pres">
      <dgm:prSet presAssocID="{C17EA81B-EE8F-4BEA-9D93-831900C89C00}" presName="connSite2" presStyleCnt="0"/>
      <dgm:spPr/>
    </dgm:pt>
    <dgm:pt modelId="{FB15DAFD-B404-4CB3-9791-947A7CB3C00D}" type="pres">
      <dgm:prSet presAssocID="{40C2F390-CB3F-4BF4-827D-B8018A5F3BB7}" presName="Name18" presStyleLbl="sibTrans2D1" presStyleIdx="1" presStyleCnt="2"/>
      <dgm:spPr/>
    </dgm:pt>
    <dgm:pt modelId="{754F4C32-447F-4E14-8ED3-35A922A043A5}" type="pres">
      <dgm:prSet presAssocID="{89CF50F2-3EE8-4308-BA46-57745656A4AA}" presName="composite1" presStyleCnt="0"/>
      <dgm:spPr/>
    </dgm:pt>
    <dgm:pt modelId="{020AEDA5-DA09-4A53-AF58-AED2EF90E935}" type="pres">
      <dgm:prSet presAssocID="{89CF50F2-3EE8-4308-BA46-57745656A4AA}" presName="dummyNode1" presStyleCnt="0"/>
      <dgm:spPr/>
    </dgm:pt>
    <dgm:pt modelId="{0428F0A0-98D5-457A-BE43-28F46915FA56}" type="pres">
      <dgm:prSet presAssocID="{89CF50F2-3EE8-4308-BA46-57745656A4AA}" presName="childNode1" presStyleLbl="bgAcc1" presStyleIdx="2" presStyleCnt="3">
        <dgm:presLayoutVars>
          <dgm:bulletEnabled val="1"/>
        </dgm:presLayoutVars>
      </dgm:prSet>
      <dgm:spPr/>
    </dgm:pt>
    <dgm:pt modelId="{F4682735-7E21-4BD6-A94E-5C31E3B718FD}" type="pres">
      <dgm:prSet presAssocID="{89CF50F2-3EE8-4308-BA46-57745656A4AA}" presName="childNode1tx" presStyleCnt="0">
        <dgm:presLayoutVars>
          <dgm:bulletEnabled val="1"/>
        </dgm:presLayoutVars>
      </dgm:prSet>
      <dgm:spPr/>
    </dgm:pt>
    <dgm:pt modelId="{E8647766-AE1D-45F8-B3AB-5EEE3BDE8498}" type="pres">
      <dgm:prSet presAssocID="{89CF50F2-3EE8-4308-BA46-57745656A4AA}" presName="parentNode1" presStyleLbl="node1" presStyleIdx="2" presStyleCnt="3">
        <dgm:presLayoutVars>
          <dgm:chMax val="1"/>
          <dgm:bulletEnabled val="1"/>
        </dgm:presLayoutVars>
      </dgm:prSet>
      <dgm:spPr/>
    </dgm:pt>
    <dgm:pt modelId="{96D6127B-1D73-45CB-82BD-67878CD7892E}" type="pres">
      <dgm:prSet presAssocID="{89CF50F2-3EE8-4308-BA46-57745656A4AA}" presName="connSite1" presStyleCnt="0"/>
      <dgm:spPr/>
    </dgm:pt>
  </dgm:ptLst>
  <dgm:cxnLst>
    <dgm:cxn modelId="{0550CF52-AEF8-475A-A420-88BED540FC48}" srcId="{B3B61304-4A0F-4E11-8080-599F9186F6A5}" destId="{06475F0D-9D1A-4BF5-AEE3-CD3F880BC44A}" srcOrd="0" destOrd="0" parTransId="{E99562FF-418F-46D1-8F86-E0992ED7BA8E}" sibTransId="{4BD710C9-2F9D-441E-B548-A9989C0147D7}"/>
    <dgm:cxn modelId="{CBA849E7-20FA-4A54-8322-D293BF9614F7}" srcId="{06475F0D-9D1A-4BF5-AEE3-CD3F880BC44A}" destId="{FE2A3430-07B7-4AF8-8050-E9E6630C707F}" srcOrd="0" destOrd="0" parTransId="{FB51E315-BC56-4135-BA1D-66E640931F3A}" sibTransId="{9ADD2677-777A-4E9D-AE48-B83F0BAD6874}"/>
    <dgm:cxn modelId="{FD77FAFF-D069-4D95-BB9B-75DFA9F3A308}" srcId="{06475F0D-9D1A-4BF5-AEE3-CD3F880BC44A}" destId="{E18DDA3B-269B-487B-B922-F7D7CF59E873}" srcOrd="1" destOrd="0" parTransId="{9467D408-4DA4-4D1E-98F4-691C7A143D33}" sibTransId="{13EDB069-A02A-49A7-90CA-CA6205DA1034}"/>
    <dgm:cxn modelId="{DE0CF4D6-6EFB-4CD4-A555-23E2214E75B2}" srcId="{B3B61304-4A0F-4E11-8080-599F9186F6A5}" destId="{C17EA81B-EE8F-4BEA-9D93-831900C89C00}" srcOrd="1" destOrd="0" parTransId="{D73C192A-A373-4ACC-BFC9-76609E41CF4E}" sibTransId="{40C2F390-CB3F-4BF4-827D-B8018A5F3BB7}"/>
    <dgm:cxn modelId="{D06AFDDE-EA00-4930-8DE7-0FD0636096C5}" srcId="{C17EA81B-EE8F-4BEA-9D93-831900C89C00}" destId="{2E055442-BDF6-42BD-8A8A-460CDF6F5C5E}" srcOrd="0" destOrd="1" parTransId="{291EBA52-15FB-4985-9632-D5F9BE62ACD1}" sibTransId="{87346316-64F3-4945-9984-33BC77341C9F}"/>
    <dgm:cxn modelId="{9B093537-49FD-4072-AA53-744422190B6B}" srcId="{B3B61304-4A0F-4E11-8080-599F9186F6A5}" destId="{89CF50F2-3EE8-4308-BA46-57745656A4AA}" srcOrd="2" destOrd="0" parTransId="{D242A0FB-DF73-49CA-BA3C-BD459F366127}" sibTransId="{9604C662-124F-4916-B7BB-4DF131431D56}"/>
    <dgm:cxn modelId="{DEDD2BAD-6EF0-48B9-ABCC-BC922DD193D3}" srcId="{89CF50F2-3EE8-4308-BA46-57745656A4AA}" destId="{A4CBB6B8-84E6-41DA-A253-F380CBF4C16F}" srcOrd="0" destOrd="2" parTransId="{6BF9AA0B-A851-4ABD-9BE8-1336C9738AB8}" sibTransId="{B71ACFC2-160E-4438-99B2-0295109B5775}"/>
    <dgm:cxn modelId="{6546BA8C-AB68-4DB7-9B58-46F2C967ECB2}" srcId="{89CF50F2-3EE8-4308-BA46-57745656A4AA}" destId="{15EF537D-6BC9-44B4-B2D9-76D61716FBF6}" srcOrd="1" destOrd="2" parTransId="{E180AEE0-1114-49DD-AABB-D01B76896E26}" sibTransId="{C0D80B33-B0A0-404D-BD7A-07B51BDF69BC}"/>
    <dgm:cxn modelId="{A9F99E14-2F1B-48AB-8AD4-6F02D7295396}" type="presOf" srcId="{B3B61304-4A0F-4E11-8080-599F9186F6A5}" destId="{7894115B-AABB-46F2-A52E-C27597016790}" srcOrd="0" destOrd="0" presId="urn:microsoft.com/office/officeart/2005/8/layout/hProcess4"/>
    <dgm:cxn modelId="{9B6608B7-88F0-4293-BAF3-36359A65D857}" type="presParOf" srcId="{7894115B-AABB-46F2-A52E-C27597016790}" destId="{56D916F2-6768-419D-835D-0E92CC7C803C}" srcOrd="0" destOrd="0" presId="urn:microsoft.com/office/officeart/2005/8/layout/hProcess4"/>
    <dgm:cxn modelId="{F7C112E4-6982-4522-B22B-D973B60F2F58}" type="presParOf" srcId="{7894115B-AABB-46F2-A52E-C27597016790}" destId="{ECD0F423-0D40-44D8-AF71-D97C3F9DF26B}" srcOrd="1" destOrd="0" presId="urn:microsoft.com/office/officeart/2005/8/layout/hProcess4"/>
    <dgm:cxn modelId="{19121145-6C36-43E6-89EE-4249678C3099}" type="presParOf" srcId="{7894115B-AABB-46F2-A52E-C27597016790}" destId="{77157E72-C09D-4CF2-AEC0-0324FBF39226}" srcOrd="2" destOrd="0" presId="urn:microsoft.com/office/officeart/2005/8/layout/hProcess4"/>
    <dgm:cxn modelId="{B14F7C83-13D1-48E0-97A5-5915EA2D6A10}" type="presParOf" srcId="{77157E72-C09D-4CF2-AEC0-0324FBF39226}" destId="{29C62E5B-77E6-4FD6-95C8-E16514EA592F}" srcOrd="0" destOrd="2" presId="urn:microsoft.com/office/officeart/2005/8/layout/hProcess4"/>
    <dgm:cxn modelId="{FF5FDFB5-23F9-40A9-A938-A37A1B5368DC}" type="presParOf" srcId="{29C62E5B-77E6-4FD6-95C8-E16514EA592F}" destId="{24BEEBBD-4900-44F6-A6F9-3F722A9F3012}" srcOrd="0" destOrd="0" presId="urn:microsoft.com/office/officeart/2005/8/layout/hProcess4"/>
    <dgm:cxn modelId="{B33C2E1F-123E-4B0A-8A5C-C919B23F1585}" type="presParOf" srcId="{29C62E5B-77E6-4FD6-95C8-E16514EA592F}" destId="{EA4C33C9-9B7B-4236-9D97-1954A4D46745}" srcOrd="1" destOrd="0" presId="urn:microsoft.com/office/officeart/2005/8/layout/hProcess4"/>
    <dgm:cxn modelId="{3453556F-9234-48A4-9665-3AE987D10AD1}" type="presOf" srcId="{FE2A3430-07B7-4AF8-8050-E9E6630C707F}" destId="{EA4C33C9-9B7B-4236-9D97-1954A4D46745}" srcOrd="0" destOrd="0" presId="urn:microsoft.com/office/officeart/2005/8/layout/hProcess4"/>
    <dgm:cxn modelId="{40CC63B6-014B-448F-92A1-0D320D23A222}" type="presOf" srcId="{E18DDA3B-269B-487B-B922-F7D7CF59E873}" destId="{EA4C33C9-9B7B-4236-9D97-1954A4D46745}" srcOrd="0" destOrd="1" presId="urn:microsoft.com/office/officeart/2005/8/layout/hProcess4"/>
    <dgm:cxn modelId="{AB981EBA-737E-4398-8B00-C5700FB4B7F0}" type="presParOf" srcId="{29C62E5B-77E6-4FD6-95C8-E16514EA592F}" destId="{1E8A37B1-D464-40AA-8171-F21D027B523A}" srcOrd="2" destOrd="0" presId="urn:microsoft.com/office/officeart/2005/8/layout/hProcess4"/>
    <dgm:cxn modelId="{66B4377A-0A66-4301-A3C1-14A522832692}" type="presOf" srcId="{FE2A3430-07B7-4AF8-8050-E9E6630C707F}" destId="{1E8A37B1-D464-40AA-8171-F21D027B523A}" srcOrd="1" destOrd="0" presId="urn:microsoft.com/office/officeart/2005/8/layout/hProcess4"/>
    <dgm:cxn modelId="{8EA453CB-0E12-493B-8193-39AEC669898C}" type="presOf" srcId="{E18DDA3B-269B-487B-B922-F7D7CF59E873}" destId="{1E8A37B1-D464-40AA-8171-F21D027B523A}" srcOrd="1" destOrd="1" presId="urn:microsoft.com/office/officeart/2005/8/layout/hProcess4"/>
    <dgm:cxn modelId="{07A36660-7071-48E3-B10E-1B639818A635}" type="presParOf" srcId="{29C62E5B-77E6-4FD6-95C8-E16514EA592F}" destId="{50F89035-D090-4CAD-827E-5FE864D0CC7D}" srcOrd="3" destOrd="0" presId="urn:microsoft.com/office/officeart/2005/8/layout/hProcess4"/>
    <dgm:cxn modelId="{1319CF97-EE8F-44A9-9E6B-515A0A103262}" type="presOf" srcId="{06475F0D-9D1A-4BF5-AEE3-CD3F880BC44A}" destId="{50F89035-D090-4CAD-827E-5FE864D0CC7D}" srcOrd="0" destOrd="0" presId="urn:microsoft.com/office/officeart/2005/8/layout/hProcess4"/>
    <dgm:cxn modelId="{F5C577F5-FD81-46C9-9B43-F0455CEB45A7}" type="presParOf" srcId="{29C62E5B-77E6-4FD6-95C8-E16514EA592F}" destId="{920CA769-40FC-4401-A1E0-FD4D856E9B21}" srcOrd="4" destOrd="0" presId="urn:microsoft.com/office/officeart/2005/8/layout/hProcess4"/>
    <dgm:cxn modelId="{BD08333D-DA1A-4E52-B995-0082FC27B324}" type="presParOf" srcId="{77157E72-C09D-4CF2-AEC0-0324FBF39226}" destId="{B871E909-CC84-4270-8398-F5F049AEA932}" srcOrd="1" destOrd="2" presId="urn:microsoft.com/office/officeart/2005/8/layout/hProcess4"/>
    <dgm:cxn modelId="{F9E83770-79A2-407A-A036-AC05CE5E8BAD}" type="presOf" srcId="{4BD710C9-2F9D-441E-B548-A9989C0147D7}" destId="{B871E909-CC84-4270-8398-F5F049AEA932}" srcOrd="0" destOrd="0" presId="urn:microsoft.com/office/officeart/2005/8/layout/hProcess4"/>
    <dgm:cxn modelId="{C821E34B-5373-4EE0-AEA2-E0304C0F5FFB}" type="presParOf" srcId="{77157E72-C09D-4CF2-AEC0-0324FBF39226}" destId="{5381038C-A52C-40F2-AE25-892F98A4F272}" srcOrd="2" destOrd="2" presId="urn:microsoft.com/office/officeart/2005/8/layout/hProcess4"/>
    <dgm:cxn modelId="{382070AF-EBA6-4182-8E1C-07C738FADCA3}" type="presParOf" srcId="{5381038C-A52C-40F2-AE25-892F98A4F272}" destId="{8C60EF28-DEE2-471E-9110-F1DE84254762}" srcOrd="0" destOrd="2" presId="urn:microsoft.com/office/officeart/2005/8/layout/hProcess4"/>
    <dgm:cxn modelId="{6BE210EF-030C-471A-9EF4-17CF4BCCEFBD}" type="presParOf" srcId="{5381038C-A52C-40F2-AE25-892F98A4F272}" destId="{8C4A7715-D8F8-4D2B-94CE-98F25CB35172}" srcOrd="1" destOrd="2" presId="urn:microsoft.com/office/officeart/2005/8/layout/hProcess4"/>
    <dgm:cxn modelId="{0C10F59C-E833-4982-A887-8EF5F662DE3A}" type="presOf" srcId="{2E055442-BDF6-42BD-8A8A-460CDF6F5C5E}" destId="{8C4A7715-D8F8-4D2B-94CE-98F25CB35172}" srcOrd="0" destOrd="0" presId="urn:microsoft.com/office/officeart/2005/8/layout/hProcess4"/>
    <dgm:cxn modelId="{151DB1E2-540E-4C2D-AE9F-63AD264DDD02}" type="presParOf" srcId="{5381038C-A52C-40F2-AE25-892F98A4F272}" destId="{E6E63E6B-9802-4903-9CE3-5D4A716AEA02}" srcOrd="2" destOrd="2" presId="urn:microsoft.com/office/officeart/2005/8/layout/hProcess4"/>
    <dgm:cxn modelId="{F9ECF279-2C76-4B2C-9C40-1ABF6BC9F485}" type="presOf" srcId="{2E055442-BDF6-42BD-8A8A-460CDF6F5C5E}" destId="{E6E63E6B-9802-4903-9CE3-5D4A716AEA02}" srcOrd="1" destOrd="0" presId="urn:microsoft.com/office/officeart/2005/8/layout/hProcess4"/>
    <dgm:cxn modelId="{55723008-5F15-4DE4-8FFE-3007DF84338E}" type="presParOf" srcId="{5381038C-A52C-40F2-AE25-892F98A4F272}" destId="{D48BF050-6660-4D4F-AF7C-757C782402D6}" srcOrd="3" destOrd="2" presId="urn:microsoft.com/office/officeart/2005/8/layout/hProcess4"/>
    <dgm:cxn modelId="{CBAC3123-C04E-4BCA-952E-1AE841A9F945}" type="presOf" srcId="{C17EA81B-EE8F-4BEA-9D93-831900C89C00}" destId="{D48BF050-6660-4D4F-AF7C-757C782402D6}" srcOrd="0" destOrd="0" presId="urn:microsoft.com/office/officeart/2005/8/layout/hProcess4"/>
    <dgm:cxn modelId="{0CA7B7E5-9777-4FAD-8B9A-04C363D41AEB}" type="presParOf" srcId="{5381038C-A52C-40F2-AE25-892F98A4F272}" destId="{0D59B193-1E3C-4187-9E9F-A2912DCADAC6}" srcOrd="4" destOrd="2" presId="urn:microsoft.com/office/officeart/2005/8/layout/hProcess4"/>
    <dgm:cxn modelId="{BD050F0A-5EAC-442A-8238-144C90EFBFEC}" type="presParOf" srcId="{77157E72-C09D-4CF2-AEC0-0324FBF39226}" destId="{FB15DAFD-B404-4CB3-9791-947A7CB3C00D}" srcOrd="3" destOrd="2" presId="urn:microsoft.com/office/officeart/2005/8/layout/hProcess4"/>
    <dgm:cxn modelId="{0D4C6A53-E0C6-4C88-87D7-BC398773FD09}" type="presOf" srcId="{40C2F390-CB3F-4BF4-827D-B8018A5F3BB7}" destId="{FB15DAFD-B404-4CB3-9791-947A7CB3C00D}" srcOrd="0" destOrd="0" presId="urn:microsoft.com/office/officeart/2005/8/layout/hProcess4"/>
    <dgm:cxn modelId="{2F0F8CD0-3E8D-4BF4-B1D4-63478D827ABB}" type="presParOf" srcId="{77157E72-C09D-4CF2-AEC0-0324FBF39226}" destId="{754F4C32-447F-4E14-8ED3-35A922A043A5}" srcOrd="4" destOrd="2" presId="urn:microsoft.com/office/officeart/2005/8/layout/hProcess4"/>
    <dgm:cxn modelId="{8ACF270A-613B-4898-BE87-1392B0510699}" type="presParOf" srcId="{754F4C32-447F-4E14-8ED3-35A922A043A5}" destId="{020AEDA5-DA09-4A53-AF58-AED2EF90E935}" srcOrd="0" destOrd="4" presId="urn:microsoft.com/office/officeart/2005/8/layout/hProcess4"/>
    <dgm:cxn modelId="{97775BD5-9BCD-48FA-A783-C54E9933626B}" type="presParOf" srcId="{754F4C32-447F-4E14-8ED3-35A922A043A5}" destId="{0428F0A0-98D5-457A-BE43-28F46915FA56}" srcOrd="1" destOrd="4" presId="urn:microsoft.com/office/officeart/2005/8/layout/hProcess4"/>
    <dgm:cxn modelId="{8A6CAEA0-4C96-4D25-9C1D-21A89BFD0226}" type="presOf" srcId="{A4CBB6B8-84E6-41DA-A253-F380CBF4C16F}" destId="{0428F0A0-98D5-457A-BE43-28F46915FA56}" srcOrd="0" destOrd="0" presId="urn:microsoft.com/office/officeart/2005/8/layout/hProcess4"/>
    <dgm:cxn modelId="{C9F6822C-3A81-4DAC-A015-528F2D0585CD}" type="presOf" srcId="{15EF537D-6BC9-44B4-B2D9-76D61716FBF6}" destId="{0428F0A0-98D5-457A-BE43-28F46915FA56}" srcOrd="0" destOrd="1" presId="urn:microsoft.com/office/officeart/2005/8/layout/hProcess4"/>
    <dgm:cxn modelId="{73AA5221-2757-4960-8350-28E4215BBDBE}" type="presParOf" srcId="{754F4C32-447F-4E14-8ED3-35A922A043A5}" destId="{F4682735-7E21-4BD6-A94E-5C31E3B718FD}" srcOrd="2" destOrd="4" presId="urn:microsoft.com/office/officeart/2005/8/layout/hProcess4"/>
    <dgm:cxn modelId="{3DC6FED8-D0F3-4CEA-813A-D317E4BC6210}" type="presOf" srcId="{A4CBB6B8-84E6-41DA-A253-F380CBF4C16F}" destId="{F4682735-7E21-4BD6-A94E-5C31E3B718FD}" srcOrd="1" destOrd="0" presId="urn:microsoft.com/office/officeart/2005/8/layout/hProcess4"/>
    <dgm:cxn modelId="{657223FA-A627-47A4-AF98-702FAE840BFC}" type="presOf" srcId="{15EF537D-6BC9-44B4-B2D9-76D61716FBF6}" destId="{F4682735-7E21-4BD6-A94E-5C31E3B718FD}" srcOrd="1" destOrd="1" presId="urn:microsoft.com/office/officeart/2005/8/layout/hProcess4"/>
    <dgm:cxn modelId="{A0D730B0-BE55-430D-A947-59185055F54A}" type="presParOf" srcId="{754F4C32-447F-4E14-8ED3-35A922A043A5}" destId="{E8647766-AE1D-45F8-B3AB-5EEE3BDE8498}" srcOrd="3" destOrd="4" presId="urn:microsoft.com/office/officeart/2005/8/layout/hProcess4"/>
    <dgm:cxn modelId="{4615EA1F-2797-499D-9D65-52DAD3E47DE0}" type="presOf" srcId="{89CF50F2-3EE8-4308-BA46-57745656A4AA}" destId="{E8647766-AE1D-45F8-B3AB-5EEE3BDE8498}" srcOrd="0" destOrd="0" presId="urn:microsoft.com/office/officeart/2005/8/layout/hProcess4"/>
    <dgm:cxn modelId="{2F8963EB-CB9B-46E2-831B-C27C266E8578}" type="presParOf" srcId="{754F4C32-447F-4E14-8ED3-35A922A043A5}" destId="{96D6127B-1D73-45CB-82BD-67878CD7892E}" srcOrd="4" destOrd="4" presId="urn:microsoft.com/office/officeart/2005/8/layout/h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7484745" cy="1510665"/>
        <a:chOff x="0" y="0"/>
        <a:chExt cx="7484745" cy="1510665"/>
      </a:xfrm>
    </dsp:grpSpPr>
    <dsp:sp modelId="{1450B55C-E4AF-4C4A-86D5-6F08C883C8A1}">
      <dsp:nvSpPr>
        <dsp:cNvPr id="3" name="Pentagon 2"/>
        <dsp:cNvSpPr/>
      </dsp:nvSpPr>
      <dsp:spPr bwMode="white">
        <a:xfrm>
          <a:off x="0" y="179583"/>
          <a:ext cx="2878748" cy="1151499"/>
        </a:xfrm>
        <a:prstGeom prst="homePlate">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vert="horz" wrap="square" lIns="85344" tIns="42672" rIns="21336" bIns="4267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process improvement	</a:t>
          </a:r>
          <a:endParaRPr lang="en-IN" altLang="en-US" sz="1600">
            <a:solidFill>
              <a:schemeClr val="tx1"/>
            </a:solidFill>
            <a:latin typeface="Arial" panose="020B0604020202020204" pitchFamily="34" charset="0"/>
            <a:cs typeface="Arial" panose="020B0604020202020204" pitchFamily="34" charset="0"/>
          </a:endParaRPr>
        </a:p>
      </dsp:txBody>
      <dsp:txXfrm>
        <a:off x="0" y="179583"/>
        <a:ext cx="2878748" cy="1151499"/>
      </dsp:txXfrm>
    </dsp:sp>
    <dsp:sp modelId="{97ED5984-E182-4084-893A-3007DB7F6057}">
      <dsp:nvSpPr>
        <dsp:cNvPr id="4" name="Chevron 3"/>
        <dsp:cNvSpPr/>
      </dsp:nvSpPr>
      <dsp:spPr bwMode="white">
        <a:xfrm>
          <a:off x="2302998" y="179583"/>
          <a:ext cx="2878748" cy="1151499"/>
        </a:xfrm>
        <a:prstGeom prst="chevron">
          <a:avLst/>
        </a:prstGeom>
      </dsp:spPr>
      <dsp:style>
        <a:lnRef idx="2">
          <a:schemeClr val="lt1"/>
        </a:lnRef>
        <a:fillRef idx="1">
          <a:schemeClr val="accent2">
            <a:hueOff val="-750000"/>
            <a:satOff val="-41960"/>
            <a:lumOff val="4314"/>
            <a:alpha val="100000"/>
          </a:schemeClr>
        </a:fillRef>
        <a:effectRef idx="0">
          <a:scrgbClr r="0" g="0" b="0"/>
        </a:effectRef>
        <a:fontRef idx="minor">
          <a:schemeClr val="lt1"/>
        </a:fontRef>
      </dsp:style>
      <dsp:txBody>
        <a:bodyPr vert="horz" wrap="square" lIns="64008" tIns="42672" rIns="21336" bIns="4267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clear communication</a:t>
          </a:r>
          <a:endParaRPr lang="en-IN" altLang="en-US" sz="1600">
            <a:solidFill>
              <a:schemeClr val="tx1"/>
            </a:solidFill>
            <a:latin typeface="Arial" panose="020B0604020202020204" pitchFamily="34" charset="0"/>
            <a:cs typeface="Arial" panose="020B0604020202020204" pitchFamily="34" charset="0"/>
          </a:endParaRPr>
        </a:p>
      </dsp:txBody>
      <dsp:txXfrm>
        <a:off x="2302998" y="179583"/>
        <a:ext cx="2878748" cy="1151499"/>
      </dsp:txXfrm>
    </dsp:sp>
    <dsp:sp modelId="{BA1BBACD-C964-4429-B8AC-A0F655E890BE}">
      <dsp:nvSpPr>
        <dsp:cNvPr id="5" name="Chevron 4"/>
        <dsp:cNvSpPr/>
      </dsp:nvSpPr>
      <dsp:spPr bwMode="white">
        <a:xfrm>
          <a:off x="4605997" y="179583"/>
          <a:ext cx="2878748" cy="1151499"/>
        </a:xfrm>
        <a:prstGeom prst="chevron">
          <a:avLst/>
        </a:prstGeom>
      </dsp:spPr>
      <dsp:style>
        <a:lnRef idx="2">
          <a:schemeClr val="lt1"/>
        </a:lnRef>
        <a:fillRef idx="1">
          <a:schemeClr val="accent2">
            <a:hueOff val="-1500000"/>
            <a:satOff val="-83921"/>
            <a:lumOff val="8627"/>
            <a:alpha val="100000"/>
          </a:schemeClr>
        </a:fillRef>
        <a:effectRef idx="0">
          <a:scrgbClr r="0" g="0" b="0"/>
        </a:effectRef>
        <a:fontRef idx="minor">
          <a:schemeClr val="lt1"/>
        </a:fontRef>
      </dsp:style>
      <dsp:txBody>
        <a:bodyPr vert="horz" wrap="square" lIns="64008" tIns="42672" rIns="21336" bIns="4267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continuous learning initiatives by the developers</a:t>
          </a:r>
          <a:endParaRPr lang="en-IN" altLang="en-US" sz="1600">
            <a:solidFill>
              <a:schemeClr val="tx1"/>
            </a:solidFill>
            <a:latin typeface="Arial" panose="020B0604020202020204" pitchFamily="34" charset="0"/>
            <a:cs typeface="Arial" panose="020B0604020202020204" pitchFamily="34" charset="0"/>
          </a:endParaRPr>
        </a:p>
      </dsp:txBody>
      <dsp:txXfrm>
        <a:off x="4605997" y="179583"/>
        <a:ext cx="2878748" cy="1151499"/>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095865" cy="4439920"/>
        <a:chOff x="0" y="0"/>
        <a:chExt cx="10095865" cy="4439920"/>
      </a:xfrm>
    </dsp:grpSpPr>
    <dsp:sp modelId="{F3596884-C09F-4C70-900E-D61864BED5F1}">
      <dsp:nvSpPr>
        <dsp:cNvPr id="5" name="Block Arc 4"/>
        <dsp:cNvSpPr/>
      </dsp:nvSpPr>
      <dsp:spPr bwMode="white">
        <a:xfrm>
          <a:off x="3107472" y="451191"/>
          <a:ext cx="3880921" cy="3880921"/>
        </a:xfrm>
        <a:prstGeom prst="blockArc">
          <a:avLst>
            <a:gd name="adj1" fmla="val 16199999"/>
            <a:gd name="adj2" fmla="val 20520000"/>
            <a:gd name="adj3" fmla="val 3962"/>
          </a:avLst>
        </a:prstGeom>
      </dsp:spPr>
      <dsp:style>
        <a:lnRef idx="0">
          <a:schemeClr val="lt1"/>
        </a:lnRef>
        <a:fillRef idx="1">
          <a:schemeClr val="accent2">
            <a:hueOff val="0"/>
            <a:satOff val="0"/>
            <a:lumOff val="0"/>
            <a:alpha val="100000"/>
          </a:schemeClr>
        </a:fillRef>
        <a:effectRef idx="1">
          <a:scrgbClr r="0" g="0" b="0"/>
        </a:effectRef>
        <a:fontRef idx="minor">
          <a:schemeClr val="lt1"/>
        </a:fontRef>
      </dsp:style>
      <dsp:txXfrm>
        <a:off x="3107472" y="451191"/>
        <a:ext cx="3880921" cy="3880921"/>
      </dsp:txXfrm>
    </dsp:sp>
    <dsp:sp modelId="{15715456-3418-4DF0-AF3A-DA59307B110D}">
      <dsp:nvSpPr>
        <dsp:cNvPr id="7" name="Block Arc 6"/>
        <dsp:cNvSpPr/>
      </dsp:nvSpPr>
      <dsp:spPr bwMode="white">
        <a:xfrm>
          <a:off x="3107472" y="451191"/>
          <a:ext cx="3880921" cy="3880921"/>
        </a:xfrm>
        <a:prstGeom prst="blockArc">
          <a:avLst>
            <a:gd name="adj1" fmla="val 20520000"/>
            <a:gd name="adj2" fmla="val 3240000"/>
            <a:gd name="adj3" fmla="val 3962"/>
          </a:avLst>
        </a:prstGeom>
      </dsp:spPr>
      <dsp:style>
        <a:lnRef idx="0">
          <a:schemeClr val="lt1"/>
        </a:lnRef>
        <a:fillRef idx="1">
          <a:schemeClr val="accent2">
            <a:hueOff val="-375000"/>
            <a:satOff val="-20979"/>
            <a:lumOff val="2157"/>
            <a:alpha val="100000"/>
          </a:schemeClr>
        </a:fillRef>
        <a:effectRef idx="1">
          <a:scrgbClr r="0" g="0" b="0"/>
        </a:effectRef>
        <a:fontRef idx="minor">
          <a:schemeClr val="lt1"/>
        </a:fontRef>
      </dsp:style>
      <dsp:txXfrm>
        <a:off x="3107472" y="451191"/>
        <a:ext cx="3880921" cy="3880921"/>
      </dsp:txXfrm>
    </dsp:sp>
    <dsp:sp modelId="{EBDCA107-8C73-4044-AC95-50DA28B759A8}">
      <dsp:nvSpPr>
        <dsp:cNvPr id="9" name="Block Arc 8"/>
        <dsp:cNvSpPr/>
      </dsp:nvSpPr>
      <dsp:spPr bwMode="white">
        <a:xfrm>
          <a:off x="3107472" y="451191"/>
          <a:ext cx="3880921" cy="3880921"/>
        </a:xfrm>
        <a:prstGeom prst="blockArc">
          <a:avLst>
            <a:gd name="adj1" fmla="val 3240000"/>
            <a:gd name="adj2" fmla="val 7560000"/>
            <a:gd name="adj3" fmla="val 3962"/>
          </a:avLst>
        </a:prstGeom>
      </dsp:spPr>
      <dsp:style>
        <a:lnRef idx="0">
          <a:schemeClr val="lt1"/>
        </a:lnRef>
        <a:fillRef idx="1">
          <a:schemeClr val="accent2">
            <a:hueOff val="-750000"/>
            <a:satOff val="-41960"/>
            <a:lumOff val="4314"/>
            <a:alpha val="100000"/>
          </a:schemeClr>
        </a:fillRef>
        <a:effectRef idx="1">
          <a:scrgbClr r="0" g="0" b="0"/>
        </a:effectRef>
        <a:fontRef idx="minor">
          <a:schemeClr val="lt1"/>
        </a:fontRef>
      </dsp:style>
      <dsp:txXfrm>
        <a:off x="3107472" y="451191"/>
        <a:ext cx="3880921" cy="3880921"/>
      </dsp:txXfrm>
    </dsp:sp>
    <dsp:sp modelId="{B5FF6E04-452A-4146-97F4-3BC94EB5BB87}">
      <dsp:nvSpPr>
        <dsp:cNvPr id="11" name="Block Arc 10"/>
        <dsp:cNvSpPr/>
      </dsp:nvSpPr>
      <dsp:spPr bwMode="white">
        <a:xfrm>
          <a:off x="3107472" y="451191"/>
          <a:ext cx="3880921" cy="3880921"/>
        </a:xfrm>
        <a:prstGeom prst="blockArc">
          <a:avLst>
            <a:gd name="adj1" fmla="val 7560000"/>
            <a:gd name="adj2" fmla="val 11880000"/>
            <a:gd name="adj3" fmla="val 3962"/>
          </a:avLst>
        </a:prstGeom>
      </dsp:spPr>
      <dsp:style>
        <a:lnRef idx="0">
          <a:schemeClr val="lt1"/>
        </a:lnRef>
        <a:fillRef idx="1">
          <a:schemeClr val="accent2">
            <a:hueOff val="-1125000"/>
            <a:satOff val="-62940"/>
            <a:lumOff val="6471"/>
            <a:alpha val="100000"/>
          </a:schemeClr>
        </a:fillRef>
        <a:effectRef idx="1">
          <a:scrgbClr r="0" g="0" b="0"/>
        </a:effectRef>
        <a:fontRef idx="minor">
          <a:schemeClr val="lt1"/>
        </a:fontRef>
      </dsp:style>
      <dsp:txXfrm>
        <a:off x="3107472" y="451191"/>
        <a:ext cx="3880921" cy="3880921"/>
      </dsp:txXfrm>
    </dsp:sp>
    <dsp:sp modelId="{AAF8FF7B-8FEB-43D1-A599-1495DD44A067}">
      <dsp:nvSpPr>
        <dsp:cNvPr id="13" name="Block Arc 12"/>
        <dsp:cNvSpPr/>
      </dsp:nvSpPr>
      <dsp:spPr bwMode="white">
        <a:xfrm>
          <a:off x="3107472" y="451191"/>
          <a:ext cx="3880921" cy="3880921"/>
        </a:xfrm>
        <a:prstGeom prst="blockArc">
          <a:avLst>
            <a:gd name="adj1" fmla="val 11880000"/>
            <a:gd name="adj2" fmla="val 16199999"/>
            <a:gd name="adj3" fmla="val 3962"/>
          </a:avLst>
        </a:prstGeom>
      </dsp:spPr>
      <dsp:style>
        <a:lnRef idx="0">
          <a:schemeClr val="lt1"/>
        </a:lnRef>
        <a:fillRef idx="1">
          <a:schemeClr val="accent2">
            <a:hueOff val="-1500000"/>
            <a:satOff val="-83921"/>
            <a:lumOff val="8627"/>
            <a:alpha val="100000"/>
          </a:schemeClr>
        </a:fillRef>
        <a:effectRef idx="1">
          <a:scrgbClr r="0" g="0" b="0"/>
        </a:effectRef>
        <a:fontRef idx="minor">
          <a:schemeClr val="lt1"/>
        </a:fontRef>
      </dsp:style>
      <dsp:txXfrm>
        <a:off x="3107472" y="451191"/>
        <a:ext cx="3880921" cy="3880921"/>
      </dsp:txXfrm>
    </dsp:sp>
    <dsp:sp modelId="{BADECBB5-37EA-4668-8A2F-BD2C2902F22A}">
      <dsp:nvSpPr>
        <dsp:cNvPr id="3" name="Oval 2"/>
        <dsp:cNvSpPr/>
      </dsp:nvSpPr>
      <dsp:spPr bwMode="white">
        <a:xfrm>
          <a:off x="4199829" y="1543548"/>
          <a:ext cx="1696207" cy="1696207"/>
        </a:xfrm>
        <a:prstGeom prst="ellipse">
          <a:avLst/>
        </a:prstGeom>
      </dsp:spPr>
      <dsp:style>
        <a:lnRef idx="3">
          <a:schemeClr val="lt1"/>
        </a:lnRef>
        <a:fillRef idx="1">
          <a:schemeClr val="accent1"/>
        </a:fillRef>
        <a:effectRef idx="1">
          <a:scrgbClr r="0" g="0" b="0"/>
        </a:effectRef>
        <a:fontRef idx="minor">
          <a:schemeClr val="lt1"/>
        </a:fontRef>
      </dsp:style>
      <dsp:txBody>
        <a:bodyPr vert="horz" wrap="square" lIns="20320" tIns="20320" rIns="2032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Defect Life Cycle</a:t>
          </a:r>
          <a:endParaRPr lang="en-IN" altLang="en-US" sz="1600">
            <a:solidFill>
              <a:schemeClr val="tx1"/>
            </a:solidFill>
            <a:latin typeface="Arial" panose="020B0604020202020204" pitchFamily="34" charset="0"/>
            <a:cs typeface="Arial" panose="020B0604020202020204" pitchFamily="34" charset="0"/>
          </a:endParaRPr>
        </a:p>
      </dsp:txBody>
      <dsp:txXfrm>
        <a:off x="4199829" y="1543548"/>
        <a:ext cx="1696207" cy="1696207"/>
      </dsp:txXfrm>
    </dsp:sp>
    <dsp:sp modelId="{C2E7DEFD-0505-42BF-AE13-B6483BF86572}">
      <dsp:nvSpPr>
        <dsp:cNvPr id="4" name="Oval 3"/>
        <dsp:cNvSpPr/>
      </dsp:nvSpPr>
      <dsp:spPr bwMode="white">
        <a:xfrm>
          <a:off x="4454260" y="0"/>
          <a:ext cx="1187345" cy="1187345"/>
        </a:xfrm>
        <a:prstGeom prst="ellipse">
          <a:avLst/>
        </a:prstGeom>
      </dsp:spPr>
      <dsp:style>
        <a:lnRef idx="3">
          <a:schemeClr val="lt1"/>
        </a:lnRef>
        <a:fillRef idx="1">
          <a:schemeClr val="accent2">
            <a:hueOff val="0"/>
            <a:satOff val="0"/>
            <a:lumOff val="0"/>
            <a:alpha val="100000"/>
          </a:schemeClr>
        </a:fillRef>
        <a:effectRef idx="1">
          <a:scrgbClr r="0" g="0" b="0"/>
        </a:effectRef>
        <a:fontRef idx="minor">
          <a:schemeClr val="lt1"/>
        </a:fontRef>
      </dsp:style>
      <dsp:txBody>
        <a:bodyPr vert="horz" wrap="square" lIns="17780" tIns="17780" rIns="17780" bIns="1778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gn="ctr">
            <a:lnSpc>
              <a:spcPct val="100000"/>
            </a:lnSpc>
            <a:spcBef>
              <a:spcPct val="0"/>
            </a:spcBef>
            <a:spcAft>
              <a:spcPct val="35000"/>
            </a:spcAft>
          </a:pPr>
          <a:r>
            <a:rPr lang="en-US" altLang="en-US" sz="1400">
              <a:solidFill>
                <a:schemeClr val="tx1"/>
              </a:solidFill>
              <a:latin typeface="Arial" panose="020B0604020202020204" pitchFamily="34" charset="0"/>
              <a:cs typeface="Arial" panose="020B0604020202020204" pitchFamily="34" charset="0"/>
            </a:rPr>
            <a:t>robust requirements engineering</a:t>
          </a:r>
          <a:endParaRPr lang="en-US" altLang="en-US" sz="1400">
            <a:solidFill>
              <a:schemeClr val="tx1"/>
            </a:solidFill>
            <a:latin typeface="Arial" panose="020B0604020202020204" pitchFamily="34" charset="0"/>
            <a:cs typeface="Arial" panose="020B0604020202020204" pitchFamily="34" charset="0"/>
          </a:endParaRPr>
        </a:p>
      </dsp:txBody>
      <dsp:txXfrm>
        <a:off x="4454260" y="0"/>
        <a:ext cx="1187345" cy="1187345"/>
      </dsp:txXfrm>
    </dsp:sp>
    <dsp:sp modelId="{44F31994-0027-4DC3-B39E-FEE01FB1A852}">
      <dsp:nvSpPr>
        <dsp:cNvPr id="6" name="Oval 5"/>
        <dsp:cNvSpPr/>
      </dsp:nvSpPr>
      <dsp:spPr bwMode="white">
        <a:xfrm>
          <a:off x="6164240" y="1242373"/>
          <a:ext cx="1187345" cy="1187345"/>
        </a:xfrm>
        <a:prstGeom prst="ellipse">
          <a:avLst/>
        </a:prstGeom>
      </dsp:spPr>
      <dsp:style>
        <a:lnRef idx="3">
          <a:schemeClr val="lt1"/>
        </a:lnRef>
        <a:fillRef idx="1">
          <a:schemeClr val="accent2">
            <a:hueOff val="-375000"/>
            <a:satOff val="-20979"/>
            <a:lumOff val="2157"/>
            <a:alpha val="100000"/>
          </a:schemeClr>
        </a:fillRef>
        <a:effectRef idx="1">
          <a:scrgbClr r="0" g="0" b="0"/>
        </a:effectRef>
        <a:fontRef idx="minor">
          <a:schemeClr val="lt1"/>
        </a:fontRef>
      </dsp:style>
      <dsp:txBody>
        <a:bodyPr vert="horz" wrap="square" lIns="17780" tIns="17780" rIns="17780" bIns="1778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en-US" altLang="en-US" sz="1400">
              <a:solidFill>
                <a:schemeClr val="tx1"/>
              </a:solidFill>
              <a:latin typeface="Arial" panose="020B0604020202020204" pitchFamily="34" charset="0"/>
              <a:cs typeface="Arial" panose="020B0604020202020204" pitchFamily="34" charset="0"/>
            </a:rPr>
            <a:t>thorough design reviews</a:t>
          </a:r>
          <a:endParaRPr lang="en-US" altLang="en-US" sz="1400">
            <a:solidFill>
              <a:schemeClr val="tx1"/>
            </a:solidFill>
            <a:latin typeface="Arial" panose="020B0604020202020204" pitchFamily="34" charset="0"/>
            <a:cs typeface="Arial" panose="020B0604020202020204" pitchFamily="34" charset="0"/>
          </a:endParaRPr>
        </a:p>
      </dsp:txBody>
      <dsp:txXfrm>
        <a:off x="6164240" y="1242373"/>
        <a:ext cx="1187345" cy="1187345"/>
      </dsp:txXfrm>
    </dsp:sp>
    <dsp:sp modelId="{0DA4B7DF-BD6B-46E8-940A-69050C019BB3}">
      <dsp:nvSpPr>
        <dsp:cNvPr id="8" name="Oval 7"/>
        <dsp:cNvSpPr/>
      </dsp:nvSpPr>
      <dsp:spPr bwMode="white">
        <a:xfrm>
          <a:off x="5511086" y="3252575"/>
          <a:ext cx="1187345" cy="1187345"/>
        </a:xfrm>
        <a:prstGeom prst="ellipse">
          <a:avLst/>
        </a:prstGeom>
      </dsp:spPr>
      <dsp:style>
        <a:lnRef idx="3">
          <a:schemeClr val="lt1"/>
        </a:lnRef>
        <a:fillRef idx="1">
          <a:schemeClr val="accent2">
            <a:hueOff val="-750000"/>
            <a:satOff val="-41960"/>
            <a:lumOff val="4314"/>
            <a:alpha val="100000"/>
          </a:schemeClr>
        </a:fillRef>
        <a:effectRef idx="1">
          <a:scrgbClr r="0" g="0" b="0"/>
        </a:effectRef>
        <a:fontRef idx="minor">
          <a:schemeClr val="lt1"/>
        </a:fontRef>
      </dsp:style>
      <dsp:txBody>
        <a:bodyPr vert="horz" wrap="square" lIns="17780" tIns="17780" rIns="17780" bIns="1778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en-IN" altLang="en-US" sz="1400">
              <a:solidFill>
                <a:schemeClr val="tx1"/>
              </a:solidFill>
              <a:latin typeface="Arial" panose="020B0604020202020204" pitchFamily="34" charset="0"/>
              <a:cs typeface="Arial" panose="020B0604020202020204" pitchFamily="34" charset="0"/>
            </a:rPr>
            <a:t>good coding practices</a:t>
          </a:r>
          <a:endParaRPr lang="en-IN" altLang="en-US" sz="1400">
            <a:solidFill>
              <a:schemeClr val="tx1"/>
            </a:solidFill>
            <a:latin typeface="Arial" panose="020B0604020202020204" pitchFamily="34" charset="0"/>
            <a:cs typeface="Arial" panose="020B0604020202020204" pitchFamily="34" charset="0"/>
          </a:endParaRPr>
        </a:p>
      </dsp:txBody>
      <dsp:txXfrm>
        <a:off x="5511086" y="3252575"/>
        <a:ext cx="1187345" cy="1187345"/>
      </dsp:txXfrm>
    </dsp:sp>
    <dsp:sp modelId="{F539A410-44AA-4A02-9F1B-997DD2B71E87}">
      <dsp:nvSpPr>
        <dsp:cNvPr id="10" name="Oval 9"/>
        <dsp:cNvSpPr/>
      </dsp:nvSpPr>
      <dsp:spPr bwMode="white">
        <a:xfrm>
          <a:off x="3397434" y="3252575"/>
          <a:ext cx="1187345" cy="1187345"/>
        </a:xfrm>
        <a:prstGeom prst="ellipse">
          <a:avLst/>
        </a:prstGeom>
      </dsp:spPr>
      <dsp:style>
        <a:lnRef idx="3">
          <a:schemeClr val="lt1"/>
        </a:lnRef>
        <a:fillRef idx="1">
          <a:schemeClr val="accent2">
            <a:hueOff val="-1125000"/>
            <a:satOff val="-62940"/>
            <a:lumOff val="6471"/>
            <a:alpha val="100000"/>
          </a:schemeClr>
        </a:fillRef>
        <a:effectRef idx="1">
          <a:scrgbClr r="0" g="0" b="0"/>
        </a:effectRef>
        <a:fontRef idx="minor">
          <a:schemeClr val="lt1"/>
        </a:fontRef>
      </dsp:style>
      <dsp:txBody>
        <a:bodyPr vert="horz" wrap="square" lIns="17780" tIns="17780" rIns="17780" bIns="1778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en-US" altLang="en-US" sz="1400">
              <a:solidFill>
                <a:schemeClr val="tx1"/>
              </a:solidFill>
              <a:latin typeface="Arial" panose="020B0604020202020204" pitchFamily="34" charset="0"/>
              <a:cs typeface="Arial" panose="020B0604020202020204" pitchFamily="34" charset="0"/>
            </a:rPr>
            <a:t>effective code reviews</a:t>
          </a:r>
          <a:endParaRPr lang="en-US" altLang="en-US" sz="1400">
            <a:solidFill>
              <a:schemeClr val="tx1"/>
            </a:solidFill>
            <a:latin typeface="Arial" panose="020B0604020202020204" pitchFamily="34" charset="0"/>
            <a:cs typeface="Arial" panose="020B0604020202020204" pitchFamily="34" charset="0"/>
          </a:endParaRPr>
        </a:p>
      </dsp:txBody>
      <dsp:txXfrm>
        <a:off x="3397434" y="3252575"/>
        <a:ext cx="1187345" cy="1187345"/>
      </dsp:txXfrm>
    </dsp:sp>
    <dsp:sp modelId="{E550AD67-4EEF-42BD-A2E0-B285847785D8}">
      <dsp:nvSpPr>
        <dsp:cNvPr id="12" name="Oval 11"/>
        <dsp:cNvSpPr/>
      </dsp:nvSpPr>
      <dsp:spPr bwMode="white">
        <a:xfrm>
          <a:off x="2744280" y="1242373"/>
          <a:ext cx="1187345" cy="1187345"/>
        </a:xfrm>
        <a:prstGeom prst="ellipse">
          <a:avLst/>
        </a:prstGeom>
      </dsp:spPr>
      <dsp:style>
        <a:lnRef idx="3">
          <a:schemeClr val="lt1"/>
        </a:lnRef>
        <a:fillRef idx="1">
          <a:schemeClr val="accent2">
            <a:hueOff val="-1500000"/>
            <a:satOff val="-83921"/>
            <a:lumOff val="8627"/>
            <a:alpha val="100000"/>
          </a:schemeClr>
        </a:fillRef>
        <a:effectRef idx="1">
          <a:scrgbClr r="0" g="0" b="0"/>
        </a:effectRef>
        <a:fontRef idx="minor">
          <a:schemeClr val="lt1"/>
        </a:fontRef>
      </dsp:style>
      <dsp:txBody>
        <a:bodyPr vert="horz" wrap="square" lIns="17780" tIns="17780" rIns="17780" bIns="1778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en-US" altLang="en-US" sz="1400">
              <a:solidFill>
                <a:schemeClr val="tx1"/>
              </a:solidFill>
              <a:latin typeface="Arial" panose="020B0604020202020204" pitchFamily="34" charset="0"/>
              <a:cs typeface="Arial" panose="020B0604020202020204" pitchFamily="34" charset="0"/>
            </a:rPr>
            <a:t>comprehensive testing strategies</a:t>
          </a:r>
          <a:endParaRPr lang="en-US" altLang="en-US" sz="1400">
            <a:solidFill>
              <a:schemeClr val="tx1"/>
            </a:solidFill>
            <a:latin typeface="Arial" panose="020B0604020202020204" pitchFamily="34" charset="0"/>
            <a:cs typeface="Arial" panose="020B0604020202020204" pitchFamily="34" charset="0"/>
          </a:endParaRPr>
        </a:p>
      </dsp:txBody>
      <dsp:txXfrm>
        <a:off x="2744280" y="1242373"/>
        <a:ext cx="1187345" cy="1187345"/>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9610090" cy="3816985"/>
        <a:chOff x="0" y="0"/>
        <a:chExt cx="9610090" cy="3816985"/>
      </a:xfrm>
    </dsp:grpSpPr>
    <dsp:sp modelId="{1F055725-8984-42CB-98CB-8E7728DD5EAB}">
      <dsp:nvSpPr>
        <dsp:cNvPr id="5" name="Rectangles 4"/>
        <dsp:cNvSpPr/>
      </dsp:nvSpPr>
      <dsp:spPr bwMode="white">
        <a:xfrm>
          <a:off x="0" y="441673"/>
          <a:ext cx="9610090" cy="730800"/>
        </a:xfrm>
        <a:prstGeom prst="rect">
          <a:avLst/>
        </a:prstGeom>
      </dsp:spPr>
      <dsp:style>
        <a:lnRef idx="2">
          <a:schemeClr val="accent2">
            <a:hueOff val="0"/>
            <a:satOff val="0"/>
            <a:lumOff val="0"/>
            <a:alpha val="100000"/>
          </a:schemeClr>
        </a:lnRef>
        <a:fillRef idx="1">
          <a:schemeClr val="lt1">
            <a:alpha val="90000"/>
          </a:schemeClr>
        </a:fillRef>
        <a:effectRef idx="0">
          <a:scrgbClr r="0" g="0" b="0"/>
        </a:effectRef>
        <a:fontRef idx="minor"/>
      </dsp:style>
      <dsp:txBody>
        <a:bodyPr lIns="745849" tIns="604011" rIns="745849" bIns="206248" anchor="t"/>
        <a:lstStyle>
          <a:lvl1pPr algn="l">
            <a:defRPr sz="29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endParaRPr>
            <a:solidFill>
              <a:schemeClr val="dk1"/>
            </a:solidFill>
          </a:endParaRPr>
        </a:p>
      </dsp:txBody>
      <dsp:txXfrm>
        <a:off x="0" y="441673"/>
        <a:ext cx="9610090" cy="730800"/>
      </dsp:txXfrm>
    </dsp:sp>
    <dsp:sp modelId="{D0971512-D8E1-4E4B-89F4-FF2EB164C196}">
      <dsp:nvSpPr>
        <dsp:cNvPr id="4" name="Rounded Rectangle 3"/>
        <dsp:cNvSpPr/>
      </dsp:nvSpPr>
      <dsp:spPr bwMode="white">
        <a:xfrm>
          <a:off x="480505" y="13633"/>
          <a:ext cx="6727063" cy="856080"/>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vert="horz" wrap="square" lIns="254266" tIns="0" rIns="254266" bIns="0" anchor="ctr"/>
        <a:lstStyle>
          <a:lvl1pPr algn="l">
            <a:defRPr sz="29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0">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Technically proficient team for development</a:t>
          </a:r>
          <a:endParaRPr lang="en-IN" altLang="en-US" sz="1600">
            <a:solidFill>
              <a:schemeClr val="tx1"/>
            </a:solidFill>
            <a:latin typeface="Arial" panose="020B0604020202020204" pitchFamily="34" charset="0"/>
            <a:cs typeface="Arial" panose="020B0604020202020204" pitchFamily="34" charset="0"/>
          </a:endParaRPr>
        </a:p>
      </dsp:txBody>
      <dsp:txXfrm>
        <a:off x="480505" y="13633"/>
        <a:ext cx="6727063" cy="856080"/>
      </dsp:txXfrm>
    </dsp:sp>
    <dsp:sp modelId="{FB20FF5F-D131-4A8A-AEBC-01A2B84D6655}">
      <dsp:nvSpPr>
        <dsp:cNvPr id="8" name="Rectangles 7"/>
        <dsp:cNvSpPr/>
      </dsp:nvSpPr>
      <dsp:spPr bwMode="white">
        <a:xfrm>
          <a:off x="0" y="1757113"/>
          <a:ext cx="9610090" cy="730800"/>
        </a:xfrm>
        <a:prstGeom prst="rect">
          <a:avLst/>
        </a:prstGeom>
      </dsp:spPr>
      <dsp:style>
        <a:lnRef idx="2">
          <a:schemeClr val="accent2">
            <a:hueOff val="-750000"/>
            <a:satOff val="-41960"/>
            <a:lumOff val="4314"/>
            <a:alpha val="100000"/>
          </a:schemeClr>
        </a:lnRef>
        <a:fillRef idx="1">
          <a:schemeClr val="lt1">
            <a:alpha val="90000"/>
          </a:schemeClr>
        </a:fillRef>
        <a:effectRef idx="0">
          <a:scrgbClr r="0" g="0" b="0"/>
        </a:effectRef>
        <a:fontRef idx="minor"/>
      </dsp:style>
      <dsp:txBody>
        <a:bodyPr lIns="745849" tIns="604011" rIns="745849" bIns="206248" anchor="t"/>
        <a:lstStyle>
          <a:lvl1pPr algn="l">
            <a:defRPr sz="29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endParaRPr>
            <a:solidFill>
              <a:schemeClr val="dk1"/>
            </a:solidFill>
          </a:endParaRPr>
        </a:p>
      </dsp:txBody>
      <dsp:txXfrm>
        <a:off x="0" y="1757113"/>
        <a:ext cx="9610090" cy="730800"/>
      </dsp:txXfrm>
    </dsp:sp>
    <dsp:sp modelId="{DD07B078-3354-4F1B-9438-E4F95C4B43A6}">
      <dsp:nvSpPr>
        <dsp:cNvPr id="7" name="Rounded Rectangle 6"/>
        <dsp:cNvSpPr/>
      </dsp:nvSpPr>
      <dsp:spPr bwMode="white">
        <a:xfrm>
          <a:off x="480505" y="1329073"/>
          <a:ext cx="6727063" cy="856080"/>
        </a:xfrm>
        <a:prstGeom prst="roundRect">
          <a:avLst/>
        </a:prstGeom>
      </dsp:spPr>
      <dsp:style>
        <a:lnRef idx="2">
          <a:schemeClr val="lt1"/>
        </a:lnRef>
        <a:fillRef idx="1">
          <a:schemeClr val="accent2">
            <a:hueOff val="-750000"/>
            <a:satOff val="-41960"/>
            <a:lumOff val="4314"/>
            <a:alpha val="100000"/>
          </a:schemeClr>
        </a:fillRef>
        <a:effectRef idx="0">
          <a:scrgbClr r="0" g="0" b="0"/>
        </a:effectRef>
        <a:fontRef idx="minor">
          <a:schemeClr val="lt1"/>
        </a:fontRef>
      </dsp:style>
      <dsp:txBody>
        <a:bodyPr vert="horz" wrap="square" lIns="254266" tIns="0" rIns="254266" bIns="0" anchor="ctr"/>
        <a:lstStyle>
          <a:lvl1pPr algn="l">
            <a:defRPr sz="29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0">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Strong understanding of business impact and risk assessmet </a:t>
          </a:r>
          <a:endParaRPr lang="en-IN" altLang="en-US" sz="1600">
            <a:solidFill>
              <a:schemeClr val="tx1"/>
            </a:solidFill>
            <a:latin typeface="Arial" panose="020B0604020202020204" pitchFamily="34" charset="0"/>
            <a:cs typeface="Arial" panose="020B0604020202020204" pitchFamily="34" charset="0"/>
          </a:endParaRPr>
        </a:p>
      </dsp:txBody>
      <dsp:txXfrm>
        <a:off x="480505" y="1329073"/>
        <a:ext cx="6727063" cy="856080"/>
      </dsp:txXfrm>
    </dsp:sp>
    <dsp:sp modelId="{F855875C-E8B4-4273-8C6C-6A8EC3091B3C}">
      <dsp:nvSpPr>
        <dsp:cNvPr id="11" name="Rectangles 10"/>
        <dsp:cNvSpPr/>
      </dsp:nvSpPr>
      <dsp:spPr bwMode="white">
        <a:xfrm>
          <a:off x="0" y="3072553"/>
          <a:ext cx="9610090" cy="730800"/>
        </a:xfrm>
        <a:prstGeom prst="rect">
          <a:avLst/>
        </a:prstGeom>
      </dsp:spPr>
      <dsp:style>
        <a:lnRef idx="2">
          <a:schemeClr val="accent2">
            <a:hueOff val="-1500000"/>
            <a:satOff val="-83921"/>
            <a:lumOff val="8627"/>
            <a:alpha val="100000"/>
          </a:schemeClr>
        </a:lnRef>
        <a:fillRef idx="1">
          <a:schemeClr val="lt1">
            <a:alpha val="90000"/>
          </a:schemeClr>
        </a:fillRef>
        <a:effectRef idx="0">
          <a:scrgbClr r="0" g="0" b="0"/>
        </a:effectRef>
        <a:fontRef idx="minor"/>
      </dsp:style>
      <dsp:txBody>
        <a:bodyPr lIns="745849" tIns="604011" rIns="745849" bIns="206248" anchor="t"/>
        <a:lstStyle>
          <a:lvl1pPr algn="l">
            <a:defRPr sz="29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endParaRPr>
            <a:solidFill>
              <a:schemeClr val="dk1"/>
            </a:solidFill>
          </a:endParaRPr>
        </a:p>
      </dsp:txBody>
      <dsp:txXfrm>
        <a:off x="0" y="3072553"/>
        <a:ext cx="9610090" cy="730800"/>
      </dsp:txXfrm>
    </dsp:sp>
    <dsp:sp modelId="{F8B30F84-9FC1-4455-B8FC-CA5DC2189586}">
      <dsp:nvSpPr>
        <dsp:cNvPr id="10" name="Rounded Rectangle 9"/>
        <dsp:cNvSpPr/>
      </dsp:nvSpPr>
      <dsp:spPr bwMode="white">
        <a:xfrm>
          <a:off x="480505" y="2644513"/>
          <a:ext cx="6727063" cy="856080"/>
        </a:xfrm>
        <a:prstGeom prst="roundRect">
          <a:avLst/>
        </a:prstGeom>
      </dsp:spPr>
      <dsp:style>
        <a:lnRef idx="2">
          <a:schemeClr val="lt1"/>
        </a:lnRef>
        <a:fillRef idx="1">
          <a:schemeClr val="accent2">
            <a:hueOff val="-1500000"/>
            <a:satOff val="-83921"/>
            <a:lumOff val="8627"/>
            <a:alpha val="100000"/>
          </a:schemeClr>
        </a:fillRef>
        <a:effectRef idx="0">
          <a:scrgbClr r="0" g="0" b="0"/>
        </a:effectRef>
        <a:fontRef idx="minor">
          <a:schemeClr val="lt1"/>
        </a:fontRef>
      </dsp:style>
      <dsp:txBody>
        <a:bodyPr vert="horz" wrap="square" lIns="254266" tIns="0" rIns="254266" bIns="0" anchor="ctr"/>
        <a:lstStyle>
          <a:lvl1pPr algn="l">
            <a:defRPr sz="29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0">
            <a:lnSpc>
              <a:spcPct val="100000"/>
            </a:lnSpc>
            <a:spcBef>
              <a:spcPct val="0"/>
            </a:spcBef>
            <a:spcAft>
              <a:spcPct val="35000"/>
            </a:spcAft>
          </a:pPr>
          <a:r>
            <a:rPr lang="en-IN" altLang="en-US" sz="1600">
              <a:solidFill>
                <a:schemeClr val="tx1"/>
              </a:solidFill>
              <a:latin typeface="Arial" panose="020B0604020202020204" pitchFamily="34" charset="0"/>
              <a:cs typeface="Arial" panose="020B0604020202020204" pitchFamily="34" charset="0"/>
            </a:rPr>
            <a:t>Prioritization of defect fixes based on their severity</a:t>
          </a:r>
          <a:endParaRPr lang="en-IN" altLang="en-US" sz="1600">
            <a:solidFill>
              <a:schemeClr val="tx1"/>
            </a:solidFill>
            <a:latin typeface="Arial" panose="020B0604020202020204" pitchFamily="34" charset="0"/>
            <a:cs typeface="Arial" panose="020B0604020202020204" pitchFamily="34" charset="0"/>
          </a:endParaRPr>
        </a:p>
      </dsp:txBody>
      <dsp:txXfrm>
        <a:off x="480505" y="2644513"/>
        <a:ext cx="6727063" cy="856080"/>
      </dsp:txXfrm>
    </dsp:sp>
    <dsp:sp modelId="{58B158CB-C1D2-4676-88E6-6B3937A00A96}">
      <dsp:nvSpPr>
        <dsp:cNvPr id="3" name="Rectangles 2" hidden="1"/>
        <dsp:cNvSpPr/>
      </dsp:nvSpPr>
      <dsp:spPr>
        <a:xfrm>
          <a:off x="0" y="13633"/>
          <a:ext cx="480505" cy="856080"/>
        </a:xfrm>
        <a:prstGeom prst="rect">
          <a:avLst/>
        </a:prstGeom>
      </dsp:spPr>
      <dsp:txXfrm>
        <a:off x="0" y="13633"/>
        <a:ext cx="480505" cy="856080"/>
      </dsp:txXfrm>
    </dsp:sp>
    <dsp:sp modelId="{AEA4B341-6C57-43B8-BC42-9813D43D1335}">
      <dsp:nvSpPr>
        <dsp:cNvPr id="6" name="Rectangles 5" hidden="1"/>
        <dsp:cNvSpPr/>
      </dsp:nvSpPr>
      <dsp:spPr>
        <a:xfrm>
          <a:off x="0" y="1329073"/>
          <a:ext cx="480505" cy="856080"/>
        </a:xfrm>
        <a:prstGeom prst="rect">
          <a:avLst/>
        </a:prstGeom>
      </dsp:spPr>
      <dsp:txXfrm>
        <a:off x="0" y="1329073"/>
        <a:ext cx="480505" cy="856080"/>
      </dsp:txXfrm>
    </dsp:sp>
    <dsp:sp modelId="{09CBCBA7-E2EE-4654-BCFB-AB2C2D77E66B}">
      <dsp:nvSpPr>
        <dsp:cNvPr id="9" name="Rectangles 8" hidden="1"/>
        <dsp:cNvSpPr/>
      </dsp:nvSpPr>
      <dsp:spPr>
        <a:xfrm>
          <a:off x="0" y="2644513"/>
          <a:ext cx="480505" cy="856080"/>
        </a:xfrm>
        <a:prstGeom prst="rect">
          <a:avLst/>
        </a:prstGeom>
      </dsp:spPr>
      <dsp:txXfrm>
        <a:off x="0" y="2644513"/>
        <a:ext cx="480505" cy="85608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9284335" cy="4996180"/>
        <a:chOff x="0" y="0"/>
        <a:chExt cx="9284335" cy="4996180"/>
      </a:xfrm>
    </dsp:grpSpPr>
    <dsp:sp modelId="{EA4C33C9-9B7B-4236-9D97-1954A4D46745}">
      <dsp:nvSpPr>
        <dsp:cNvPr id="4" name="Rounded Rectangle 3"/>
        <dsp:cNvSpPr/>
      </dsp:nvSpPr>
      <dsp:spPr bwMode="white">
        <a:xfrm>
          <a:off x="0" y="1461899"/>
          <a:ext cx="2512614" cy="2072381"/>
        </a:xfrm>
        <a:prstGeom prst="roundRect">
          <a:avLst>
            <a:gd name="adj" fmla="val 10000"/>
          </a:avLst>
        </a:prstGeom>
      </dsp:spPr>
      <dsp:style>
        <a:lnRef idx="2">
          <a:schemeClr val="accent2">
            <a:hueOff val="0"/>
            <a:satOff val="0"/>
            <a:lumOff val="0"/>
            <a:alpha val="100000"/>
          </a:schemeClr>
        </a:lnRef>
        <a:fillRef idx="1">
          <a:schemeClr val="lt1">
            <a:alpha val="90000"/>
          </a:schemeClr>
        </a:fillRef>
        <a:effectRef idx="0">
          <a:scrgbClr r="0" g="0" b="0"/>
        </a:effectRef>
        <a:fontRef idx="minor"/>
      </dsp:style>
      <dsp:txBody>
        <a:bodyPr vert="horz" wrap="square" lIns="24765" tIns="24765" rIns="24765" bIns="24765" anchor="t"/>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a:lnSpc>
              <a:spcPct val="120000"/>
            </a:lnSpc>
            <a:spcBef>
              <a:spcPct val="0"/>
            </a:spcBef>
            <a:spcAft>
              <a:spcPct val="15000"/>
            </a:spcAft>
            <a:buChar char="•"/>
          </a:pPr>
          <a:r>
            <a:rPr lang="en-IN" altLang="en-US">
              <a:solidFill>
                <a:schemeClr val="dk1"/>
              </a:solidFill>
            </a:rPr>
            <a:t>Made during requirement gathering, analysis and coding</a:t>
          </a:r>
          <a:endParaRPr lang="en-US">
            <a:solidFill>
              <a:schemeClr val="dk1"/>
            </a:solidFill>
          </a:endParaRPr>
        </a:p>
        <a:p>
          <a:pPr lvl="1">
            <a:lnSpc>
              <a:spcPct val="120000"/>
            </a:lnSpc>
            <a:spcBef>
              <a:spcPct val="0"/>
            </a:spcBef>
            <a:spcAft>
              <a:spcPct val="15000"/>
            </a:spcAft>
            <a:buChar char="•"/>
          </a:pPr>
          <a:r>
            <a:rPr lang="en-IN" altLang="en-US">
              <a:solidFill>
                <a:schemeClr val="dk1"/>
              </a:solidFill>
            </a:rPr>
            <a:t>I</a:t>
          </a:r>
          <a:r>
            <a:rPr lang="en-US" altLang="en-US">
              <a:solidFill>
                <a:schemeClr val="dk1"/>
              </a:solidFill>
            </a:rPr>
            <a:t>ntroduces an imperfection or flaw into the software's work product</a:t>
          </a:r>
          <a:endParaRPr lang="en-US" altLang="en-US">
            <a:solidFill>
              <a:schemeClr val="dk1"/>
            </a:solidFill>
          </a:endParaRPr>
        </a:p>
      </dsp:txBody>
      <dsp:txXfrm>
        <a:off x="0" y="1461899"/>
        <a:ext cx="2512614" cy="2072381"/>
      </dsp:txXfrm>
    </dsp:sp>
    <dsp:sp modelId="{B871E909-CC84-4270-8398-F5F049AEA932}">
      <dsp:nvSpPr>
        <dsp:cNvPr id="6" name="Shape 5"/>
        <dsp:cNvSpPr/>
      </dsp:nvSpPr>
      <dsp:spPr bwMode="white">
        <a:xfrm>
          <a:off x="1389207" y="1954028"/>
          <a:ext cx="2864238" cy="2864238"/>
        </a:xfrm>
        <a:prstGeom prst="leftCircularArrow">
          <a:avLst>
            <a:gd name="adj1" fmla="val 5000"/>
            <a:gd name="adj2" fmla="val -360000"/>
            <a:gd name="adj3" fmla="val 2271621"/>
            <a:gd name="adj4" fmla="val 9160599"/>
            <a:gd name="adj5" fmla="val 5500"/>
          </a:avLst>
        </a:prstGeom>
      </dsp:spPr>
      <dsp:style>
        <a:lnRef idx="0">
          <a:schemeClr val="lt1"/>
        </a:lnRef>
        <a:fillRef idx="1">
          <a:schemeClr val="accent2">
            <a:hueOff val="0"/>
            <a:satOff val="0"/>
            <a:lumOff val="0"/>
            <a:alpha val="100000"/>
          </a:schemeClr>
        </a:fillRef>
        <a:effectRef idx="0">
          <a:scrgbClr r="0" g="0" b="0"/>
        </a:effectRef>
        <a:fontRef idx="minor">
          <a:schemeClr val="lt1"/>
        </a:fontRef>
      </dsp:style>
      <dsp:txXfrm>
        <a:off x="1389207" y="1954028"/>
        <a:ext cx="2864238" cy="2864238"/>
      </dsp:txXfrm>
    </dsp:sp>
    <dsp:sp modelId="{50F89035-D090-4CAD-827E-5FE864D0CC7D}">
      <dsp:nvSpPr>
        <dsp:cNvPr id="5" name="Rounded Rectangle 4"/>
        <dsp:cNvSpPr/>
      </dsp:nvSpPr>
      <dsp:spPr bwMode="white">
        <a:xfrm>
          <a:off x="558359" y="3090199"/>
          <a:ext cx="2233435" cy="888163"/>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vert="horz" wrap="square"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altLang="en-US" sz="1600" b="1">
              <a:solidFill>
                <a:schemeClr val="tx1"/>
              </a:solidFill>
              <a:latin typeface="Arial" panose="020B0604020202020204" pitchFamily="34" charset="0"/>
              <a:cs typeface="Arial" panose="020B0604020202020204" pitchFamily="34" charset="0"/>
            </a:rPr>
            <a:t>Error</a:t>
          </a:r>
          <a:endParaRPr lang="en-IN" altLang="en-US" sz="1600" b="1">
            <a:solidFill>
              <a:schemeClr val="tx1"/>
            </a:solidFill>
            <a:latin typeface="Arial" panose="020B0604020202020204" pitchFamily="34" charset="0"/>
            <a:cs typeface="Arial" panose="020B0604020202020204" pitchFamily="34" charset="0"/>
          </a:endParaRPr>
        </a:p>
      </dsp:txBody>
      <dsp:txXfrm>
        <a:off x="558359" y="3090199"/>
        <a:ext cx="2233435" cy="888163"/>
      </dsp:txXfrm>
    </dsp:sp>
    <dsp:sp modelId="{8C4A7715-D8F8-4D2B-94CE-98F25CB35172}">
      <dsp:nvSpPr>
        <dsp:cNvPr id="8" name="Rounded Rectangle 7"/>
        <dsp:cNvSpPr/>
      </dsp:nvSpPr>
      <dsp:spPr bwMode="white">
        <a:xfrm>
          <a:off x="3162517" y="1399728"/>
          <a:ext cx="2663371" cy="2196724"/>
        </a:xfrm>
        <a:prstGeom prst="roundRect">
          <a:avLst>
            <a:gd name="adj" fmla="val 10000"/>
          </a:avLst>
        </a:prstGeom>
      </dsp:spPr>
      <dsp:style>
        <a:lnRef idx="2">
          <a:schemeClr val="accent2">
            <a:hueOff val="-750000"/>
            <a:satOff val="-41960"/>
            <a:lumOff val="4314"/>
            <a:alpha val="100000"/>
          </a:schemeClr>
        </a:lnRef>
        <a:fillRef idx="1">
          <a:schemeClr val="lt1">
            <a:alpha val="90000"/>
          </a:schemeClr>
        </a:fillRef>
        <a:effectRef idx="0">
          <a:scrgbClr r="0" g="0" b="0"/>
        </a:effectRef>
        <a:fontRef idx="minor"/>
      </dsp:style>
      <dsp:txBody>
        <a:bodyPr vert="horz" wrap="square" lIns="24765" tIns="24765" rIns="24765" bIns="24765" anchor="t"/>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a:lnSpc>
              <a:spcPct val="110000"/>
            </a:lnSpc>
            <a:spcBef>
              <a:spcPct val="0"/>
            </a:spcBef>
            <a:spcAft>
              <a:spcPct val="15000"/>
            </a:spcAft>
            <a:buChar char="•"/>
          </a:pPr>
          <a:r>
            <a:rPr lang="en-IN" altLang="en-US">
              <a:solidFill>
                <a:schemeClr val="dk1"/>
              </a:solidFill>
            </a:rPr>
            <a:t>If it </a:t>
          </a:r>
          <a:r>
            <a:rPr lang="en-US" altLang="en-US">
              <a:solidFill>
                <a:schemeClr val="dk1"/>
              </a:solidFill>
            </a:rPr>
            <a:t>remains undetected and uncorrected, and the specific conditions required to activate it are met during the software's execution, the system may then exhibit unexpected behavior or cease to function as required</a:t>
          </a:r>
          <a:r>
            <a:rPr lang="en-IN" altLang="en-US">
              <a:solidFill>
                <a:schemeClr val="dk1"/>
              </a:solidFill>
            </a:rPr>
            <a:t>.</a:t>
          </a:r>
          <a:endParaRPr lang="en-IN" altLang="en-US">
            <a:solidFill>
              <a:schemeClr val="dk1"/>
            </a:solidFill>
          </a:endParaRPr>
        </a:p>
      </dsp:txBody>
      <dsp:txXfrm>
        <a:off x="3162517" y="1399728"/>
        <a:ext cx="2663371" cy="2196724"/>
      </dsp:txXfrm>
    </dsp:sp>
    <dsp:sp modelId="{FB15DAFD-B404-4CB3-9791-947A7CB3C00D}">
      <dsp:nvSpPr>
        <dsp:cNvPr id="10" name="Circular Arrow 9"/>
        <dsp:cNvSpPr/>
      </dsp:nvSpPr>
      <dsp:spPr bwMode="white">
        <a:xfrm>
          <a:off x="4559970" y="70528"/>
          <a:ext cx="3251347" cy="3251347"/>
        </a:xfrm>
        <a:prstGeom prst="circularArrow">
          <a:avLst>
            <a:gd name="adj1" fmla="val 5000"/>
            <a:gd name="adj2" fmla="val 360000"/>
            <a:gd name="adj3" fmla="val 19584387"/>
            <a:gd name="adj4" fmla="val 12695408"/>
            <a:gd name="adj5" fmla="val 5500"/>
          </a:avLst>
        </a:prstGeom>
      </dsp:spPr>
      <dsp:style>
        <a:lnRef idx="0">
          <a:schemeClr val="lt1"/>
        </a:lnRef>
        <a:fillRef idx="1">
          <a:schemeClr val="accent2">
            <a:hueOff val="-1500000"/>
            <a:satOff val="-83921"/>
            <a:lumOff val="8627"/>
            <a:alpha val="100000"/>
          </a:schemeClr>
        </a:fillRef>
        <a:effectRef idx="0">
          <a:scrgbClr r="0" g="0" b="0"/>
        </a:effectRef>
        <a:fontRef idx="minor">
          <a:schemeClr val="lt1"/>
        </a:fontRef>
      </dsp:style>
      <dsp:txXfrm>
        <a:off x="4559970" y="70528"/>
        <a:ext cx="3251347" cy="3251347"/>
      </dsp:txXfrm>
    </dsp:sp>
    <dsp:sp modelId="{D48BF050-6660-4D4F-AF7C-757C782402D6}">
      <dsp:nvSpPr>
        <dsp:cNvPr id="9" name="Rounded Rectangle 8"/>
        <dsp:cNvSpPr/>
      </dsp:nvSpPr>
      <dsp:spPr bwMode="white">
        <a:xfrm>
          <a:off x="3754377" y="929002"/>
          <a:ext cx="2367441" cy="941453"/>
        </a:xfrm>
        <a:prstGeom prst="roundRect">
          <a:avLst>
            <a:gd name="adj" fmla="val 10000"/>
          </a:avLst>
        </a:prstGeom>
      </dsp:spPr>
      <dsp:style>
        <a:lnRef idx="2">
          <a:schemeClr val="lt1"/>
        </a:lnRef>
        <a:fillRef idx="1">
          <a:schemeClr val="accent2">
            <a:hueOff val="-750000"/>
            <a:satOff val="-41960"/>
            <a:lumOff val="4314"/>
            <a:alpha val="100000"/>
          </a:schemeClr>
        </a:fillRef>
        <a:effectRef idx="0">
          <a:scrgbClr r="0" g="0" b="0"/>
        </a:effectRef>
        <a:fontRef idx="minor">
          <a:schemeClr val="lt1"/>
        </a:fontRef>
      </dsp:style>
      <dsp:txBody>
        <a:bodyPr vert="horz" wrap="square"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altLang="en-US" sz="1600" b="1">
              <a:solidFill>
                <a:schemeClr val="tx1"/>
              </a:solidFill>
              <a:latin typeface="Arial" panose="020B0604020202020204" pitchFamily="34" charset="0"/>
              <a:cs typeface="Arial" panose="020B0604020202020204" pitchFamily="34" charset="0"/>
            </a:rPr>
            <a:t>Defect</a:t>
          </a:r>
          <a:r>
            <a:rPr lang="en-IN" altLang="en-US" sz="1600" b="1">
              <a:latin typeface="Arial" panose="020B0604020202020204" pitchFamily="34" charset="0"/>
              <a:cs typeface="Arial" panose="020B0604020202020204" pitchFamily="34" charset="0"/>
            </a:rPr>
            <a:t>	</a:t>
          </a:r>
          <a:endParaRPr lang="en-IN" altLang="en-US" sz="1600" b="1">
            <a:latin typeface="Arial" panose="020B0604020202020204" pitchFamily="34" charset="0"/>
            <a:cs typeface="Arial" panose="020B0604020202020204" pitchFamily="34" charset="0"/>
          </a:endParaRPr>
        </a:p>
      </dsp:txBody>
      <dsp:txXfrm>
        <a:off x="3754377" y="929002"/>
        <a:ext cx="2367441" cy="941453"/>
      </dsp:txXfrm>
    </dsp:sp>
    <dsp:sp modelId="{0428F0A0-98D5-457A-BE43-28F46915FA56}">
      <dsp:nvSpPr>
        <dsp:cNvPr id="12" name="Rounded Rectangle 11"/>
        <dsp:cNvSpPr/>
      </dsp:nvSpPr>
      <dsp:spPr bwMode="white">
        <a:xfrm>
          <a:off x="6492542" y="1461899"/>
          <a:ext cx="2512614" cy="2072381"/>
        </a:xfrm>
        <a:prstGeom prst="roundRect">
          <a:avLst>
            <a:gd name="adj" fmla="val 10000"/>
          </a:avLst>
        </a:prstGeom>
      </dsp:spPr>
      <dsp:style>
        <a:lnRef idx="2">
          <a:schemeClr val="accent2">
            <a:hueOff val="-1500000"/>
            <a:satOff val="-83921"/>
            <a:lumOff val="8627"/>
            <a:alpha val="100000"/>
          </a:schemeClr>
        </a:lnRef>
        <a:fillRef idx="1">
          <a:schemeClr val="lt1">
            <a:alpha val="90000"/>
          </a:schemeClr>
        </a:fillRef>
        <a:effectRef idx="0">
          <a:scrgbClr r="0" g="0" b="0"/>
        </a:effectRef>
        <a:fontRef idx="minor"/>
      </dsp:style>
      <dsp:txBody>
        <a:bodyPr vert="horz" wrap="square" lIns="24765" tIns="24765" rIns="24765" bIns="24765" anchor="t"/>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a:lnSpc>
              <a:spcPct val="110000"/>
            </a:lnSpc>
            <a:spcBef>
              <a:spcPct val="0"/>
            </a:spcBef>
            <a:spcAft>
              <a:spcPct val="15000"/>
            </a:spcAft>
            <a:buChar char="•"/>
          </a:pPr>
          <a:r>
            <a:rPr lang="en-IN" altLang="en-US">
              <a:solidFill>
                <a:schemeClr val="dk1"/>
              </a:solidFill>
            </a:rPr>
            <a:t>Poor user satisfaction</a:t>
          </a:r>
          <a:endParaRPr lang="en-US">
            <a:solidFill>
              <a:schemeClr val="dk1"/>
            </a:solidFill>
          </a:endParaRPr>
        </a:p>
        <a:p>
          <a:pPr lvl="1">
            <a:lnSpc>
              <a:spcPct val="110000"/>
            </a:lnSpc>
            <a:spcBef>
              <a:spcPct val="0"/>
            </a:spcBef>
            <a:spcAft>
              <a:spcPct val="15000"/>
            </a:spcAft>
            <a:buChar char="•"/>
          </a:pPr>
          <a:r>
            <a:rPr lang="en-IN" altLang="en-US">
              <a:solidFill>
                <a:schemeClr val="dk1"/>
              </a:solidFill>
            </a:rPr>
            <a:t>Escalations</a:t>
          </a:r>
          <a:endParaRPr lang="en-IN" altLang="en-US">
            <a:solidFill>
              <a:schemeClr val="dk1"/>
            </a:solidFill>
          </a:endParaRPr>
        </a:p>
      </dsp:txBody>
      <dsp:txXfrm>
        <a:off x="6492542" y="1461899"/>
        <a:ext cx="2512614" cy="2072381"/>
      </dsp:txXfrm>
    </dsp:sp>
    <dsp:sp modelId="{E8647766-AE1D-45F8-B3AB-5EEE3BDE8498}">
      <dsp:nvSpPr>
        <dsp:cNvPr id="13" name="Rounded Rectangle 12"/>
        <dsp:cNvSpPr/>
      </dsp:nvSpPr>
      <dsp:spPr bwMode="white">
        <a:xfrm>
          <a:off x="7050900" y="3090199"/>
          <a:ext cx="2233435" cy="888163"/>
        </a:xfrm>
        <a:prstGeom prst="roundRect">
          <a:avLst>
            <a:gd name="adj" fmla="val 10000"/>
          </a:avLst>
        </a:prstGeom>
      </dsp:spPr>
      <dsp:style>
        <a:lnRef idx="2">
          <a:schemeClr val="lt1"/>
        </a:lnRef>
        <a:fillRef idx="1">
          <a:schemeClr val="accent2">
            <a:hueOff val="-1500000"/>
            <a:satOff val="-83921"/>
            <a:lumOff val="8627"/>
            <a:alpha val="100000"/>
          </a:schemeClr>
        </a:fillRef>
        <a:effectRef idx="0">
          <a:scrgbClr r="0" g="0" b="0"/>
        </a:effectRef>
        <a:fontRef idx="minor">
          <a:schemeClr val="lt1"/>
        </a:fontRef>
      </dsp:style>
      <dsp:txBody>
        <a:bodyPr vert="horz" wrap="square" lIns="26670" tIns="17780" rIns="2667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altLang="en-US" sz="1400" b="1">
              <a:solidFill>
                <a:schemeClr val="tx1"/>
              </a:solidFill>
              <a:latin typeface="Arial" panose="020B0604020202020204" pitchFamily="34" charset="0"/>
              <a:cs typeface="Arial" panose="020B0604020202020204" pitchFamily="34" charset="0"/>
            </a:rPr>
            <a:t>Failure</a:t>
          </a:r>
          <a:endParaRPr lang="en-IN" altLang="en-US" sz="1400" b="1">
            <a:solidFill>
              <a:schemeClr val="tx1"/>
            </a:solidFill>
            <a:latin typeface="Arial" panose="020B0604020202020204" pitchFamily="34" charset="0"/>
            <a:cs typeface="Arial" panose="020B0604020202020204" pitchFamily="34" charset="0"/>
          </a:endParaRPr>
        </a:p>
      </dsp:txBody>
      <dsp:txXfrm>
        <a:off x="7050900" y="3090199"/>
        <a:ext cx="2233435" cy="888163"/>
      </dsp:txXfrm>
    </dsp:sp>
    <dsp:sp modelId="{24BEEBBD-4900-44F6-A6F9-3F722A9F3012}">
      <dsp:nvSpPr>
        <dsp:cNvPr id="3" name="Rectangles 2" hidden="1"/>
        <dsp:cNvSpPr/>
      </dsp:nvSpPr>
      <dsp:spPr>
        <a:xfrm>
          <a:off x="0" y="1017818"/>
          <a:ext cx="2791793" cy="2960544"/>
        </a:xfrm>
        <a:prstGeom prst="rect">
          <a:avLst/>
        </a:prstGeom>
      </dsp:spPr>
      <dsp:txXfrm>
        <a:off x="0" y="1017818"/>
        <a:ext cx="2791793" cy="2960544"/>
      </dsp:txXfrm>
    </dsp:sp>
    <dsp:sp modelId="{8C60EF28-DEE2-471E-9110-F1DE84254762}">
      <dsp:nvSpPr>
        <dsp:cNvPr id="7" name="Rectangles 6" hidden="1"/>
        <dsp:cNvSpPr/>
      </dsp:nvSpPr>
      <dsp:spPr>
        <a:xfrm>
          <a:off x="3162517" y="929002"/>
          <a:ext cx="2959301" cy="3138177"/>
        </a:xfrm>
        <a:prstGeom prst="rect">
          <a:avLst/>
        </a:prstGeom>
      </dsp:spPr>
      <dsp:txXfrm>
        <a:off x="3162517" y="929002"/>
        <a:ext cx="2959301" cy="3138177"/>
      </dsp:txXfrm>
    </dsp:sp>
    <dsp:sp modelId="{020AEDA5-DA09-4A53-AF58-AED2EF90E935}">
      <dsp:nvSpPr>
        <dsp:cNvPr id="11" name="Rectangles 10" hidden="1"/>
        <dsp:cNvSpPr/>
      </dsp:nvSpPr>
      <dsp:spPr>
        <a:xfrm>
          <a:off x="6492542" y="1017818"/>
          <a:ext cx="2791793" cy="2960544"/>
        </a:xfrm>
        <a:prstGeom prst="rect">
          <a:avLst/>
        </a:prstGeom>
      </dsp:spPr>
      <dsp:txXfrm>
        <a:off x="6492542" y="1017818"/>
        <a:ext cx="2791793" cy="296054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type="homePlate" r:blip="" rot="180">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type="chevron" r:blip="" rot="180">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type="homePlate" r:blip="" rot="180">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type="chevron" r:blip="" rot="180">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srcNode" val="parentNode1"/>
              <dgm:param type="dstNode" val="connSite2"/>
              <dgm:param type="connRout" val="curve"/>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srcNode" val="parentNode2"/>
                <dgm:param type="dstNode" val="connSite1"/>
                <dgm:param type="connRout" val="curve"/>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Google Shape;93;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5"/>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6"/>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6"/>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6"/>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5183188" y="987425"/>
            <a:ext cx="6172200" cy="4873625"/>
          </a:xfrm>
          <a:prstGeom prst="rect">
            <a:avLst/>
          </a:prstGeom>
          <a:noFill/>
          <a:ln>
            <a:noFill/>
          </a:ln>
        </p:spPr>
      </p:sp>
      <p:sp>
        <p:nvSpPr>
          <p:cNvPr id="64" name="Google Shape;64;p1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9.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9.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9.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458012" y="2149312"/>
            <a:ext cx="9144000" cy="852127"/>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4000"/>
              <a:buFont typeface="Arial" panose="020B0604020202020204"/>
              <a:buNone/>
            </a:pPr>
            <a:r>
              <a:rPr lang="en-IN" sz="4000">
                <a:latin typeface="Arial" panose="020B0604020202020204"/>
                <a:ea typeface="Arial" panose="020B0604020202020204"/>
                <a:cs typeface="Arial" panose="020B0604020202020204"/>
                <a:sym typeface="Arial" panose="020B0604020202020204"/>
              </a:rPr>
              <a:t>Chapter 1 – </a:t>
            </a:r>
            <a:br>
              <a:rPr lang="en-IN" sz="4000">
                <a:latin typeface="Arial" panose="020B0604020202020204"/>
                <a:ea typeface="Arial" panose="020B0604020202020204"/>
                <a:cs typeface="Arial" panose="020B0604020202020204"/>
                <a:sym typeface="Arial" panose="020B0604020202020204"/>
              </a:rPr>
            </a:br>
            <a:r>
              <a:rPr lang="en-US" altLang="en-US" sz="4000">
                <a:latin typeface="Arial" panose="020B0604020202020204"/>
                <a:ea typeface="Arial" panose="020B0604020202020204"/>
                <a:cs typeface="Arial" panose="020B0604020202020204"/>
                <a:sym typeface="Arial" panose="020B0604020202020204"/>
              </a:rPr>
              <a:t>Software Testing Fundamentals</a:t>
            </a:r>
            <a:endParaRPr lang="en-US" altLang="en-US" sz="4000">
              <a:latin typeface="Arial" panose="020B0604020202020204"/>
              <a:ea typeface="Arial" panose="020B0604020202020204"/>
              <a:cs typeface="Arial" panose="020B0604020202020204"/>
              <a:sym typeface="Arial" panose="020B0604020202020204"/>
            </a:endParaRPr>
          </a:p>
        </p:txBody>
      </p:sp>
      <p:sp>
        <p:nvSpPr>
          <p:cNvPr id="85" name="Google Shape;85;p13"/>
          <p:cNvSpPr txBox="1"/>
          <p:nvPr>
            <p:ph type="subTitle" idx="1"/>
          </p:nvPr>
        </p:nvSpPr>
        <p:spPr>
          <a:xfrm>
            <a:off x="1458012" y="3574257"/>
            <a:ext cx="9144000" cy="56460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IN"/>
              <a:t>- Mrs. Apurwa Barve</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15"/>
          <p:cNvSpPr txBox="1"/>
          <p:nvPr>
            <p:ph type="title"/>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Objectives of Software Testing</a:t>
            </a:r>
            <a:endParaRPr lang="en-IN" sz="2000" u="sng">
              <a:latin typeface="Arial" panose="020B0604020202020204"/>
              <a:ea typeface="Arial" panose="020B0604020202020204"/>
              <a:cs typeface="Arial" panose="020B0604020202020204"/>
              <a:sym typeface="Arial" panose="020B0604020202020204"/>
            </a:endParaRPr>
          </a:p>
        </p:txBody>
      </p:sp>
      <p:sp>
        <p:nvSpPr>
          <p:cNvPr id="97" name="Google Shape;97;p15"/>
          <p:cNvSpPr txBox="1"/>
          <p:nvPr>
            <p:ph type="body" idx="1"/>
          </p:nvPr>
        </p:nvSpPr>
        <p:spPr>
          <a:xfrm>
            <a:off x="838200" y="764540"/>
            <a:ext cx="10515600" cy="1193165"/>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1800"/>
              <a:buChar char="•"/>
            </a:pPr>
            <a:r>
              <a:rPr lang="en-IN" sz="1600">
                <a:highlight>
                  <a:srgbClr val="00FFFF"/>
                </a:highlight>
                <a:latin typeface="Arial" panose="020B0604020202020204" pitchFamily="34" charset="0"/>
                <a:cs typeface="Arial" panose="020B0604020202020204" pitchFamily="34" charset="0"/>
              </a:rPr>
              <a:t>Level 1 objectives - During design and early development stages</a:t>
            </a:r>
            <a:endParaRPr lang="en-IN" sz="1600">
              <a:highlight>
                <a:srgbClr val="00FFFF"/>
              </a:highlight>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IN" altLang="en-US" sz="1400">
                <a:latin typeface="Arial" panose="020B0604020202020204" pitchFamily="34" charset="0"/>
                <a:cs typeface="Arial" panose="020B0604020202020204" pitchFamily="34" charset="0"/>
                <a:sym typeface="+mn-ea"/>
              </a:rPr>
              <a:t>To d</a:t>
            </a:r>
            <a:r>
              <a:rPr lang="en-US" altLang="en-US" sz="1400">
                <a:latin typeface="Arial" panose="020B0604020202020204" pitchFamily="34" charset="0"/>
                <a:cs typeface="Arial" panose="020B0604020202020204" pitchFamily="34" charset="0"/>
                <a:sym typeface="+mn-ea"/>
              </a:rPr>
              <a:t>iscover defects, errors, and bugs within software applications</a:t>
            </a:r>
            <a:r>
              <a:rPr lang="en-IN" altLang="en-US" sz="1400">
                <a:latin typeface="Arial" panose="020B0604020202020204" pitchFamily="34" charset="0"/>
                <a:cs typeface="Arial" panose="020B0604020202020204" pitchFamily="34" charset="0"/>
                <a:sym typeface="+mn-ea"/>
              </a:rPr>
              <a:t>.</a:t>
            </a:r>
            <a:endParaRPr lang="en-US" altLang="en-US" sz="1400">
              <a:latin typeface="Arial" panose="020B0604020202020204" pitchFamily="34" charset="0"/>
              <a:cs typeface="Arial" panose="020B0604020202020204" pitchFamily="34" charset="0"/>
              <a:sym typeface="+mn-ea"/>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IN" altLang="en-US" sz="1400">
                <a:latin typeface="Arial" panose="020B0604020202020204" pitchFamily="34" charset="0"/>
                <a:cs typeface="Arial" panose="020B0604020202020204" pitchFamily="34" charset="0"/>
                <a:sym typeface="+mn-ea"/>
              </a:rPr>
              <a:t>To make sure user requirements are properly translated into delivarables through robust code.</a:t>
            </a:r>
            <a:endParaRPr lang="en-IN" altLang="en-US" sz="1400">
              <a:latin typeface="Arial" panose="020B0604020202020204" pitchFamily="34" charset="0"/>
              <a:cs typeface="Arial" panose="020B0604020202020204" pitchFamily="34" charset="0"/>
              <a:sym typeface="+mn-ea"/>
            </a:endParaRPr>
          </a:p>
        </p:txBody>
      </p:sp>
      <p:sp>
        <p:nvSpPr>
          <p:cNvPr id="3" name="Google Shape;97;p15"/>
          <p:cNvSpPr txBox="1"/>
          <p:nvPr/>
        </p:nvSpPr>
        <p:spPr>
          <a:xfrm>
            <a:off x="911225" y="2015490"/>
            <a:ext cx="10515600" cy="2245995"/>
          </a:xfrm>
          <a:prstGeom prst="rect">
            <a:avLst/>
          </a:prstGeom>
          <a:noFill/>
          <a:ln>
            <a:noFill/>
          </a:ln>
        </p:spPr>
        <p:txBody>
          <a:bodyPr wrap="square" lIns="91425" tIns="45700" rIns="91425" bIns="45700" anchor="t" anchorCtr="0">
            <a:normAutofit fontScale="6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42900" algn="l" rtl="0">
              <a:lnSpc>
                <a:spcPct val="90000"/>
              </a:lnSpc>
              <a:spcBef>
                <a:spcPts val="500"/>
              </a:spcBef>
              <a:spcAft>
                <a:spcPts val="0"/>
              </a:spcAft>
              <a:buClr>
                <a:schemeClr val="dk1"/>
              </a:buClr>
              <a:buSzPts val="18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90000"/>
              </a:lnSpc>
              <a:spcBef>
                <a:spcPts val="500"/>
              </a:spcBef>
              <a:spcAft>
                <a:spcPts val="0"/>
              </a:spcAft>
              <a:buClr>
                <a:schemeClr val="dk1"/>
              </a:buClr>
              <a:buSzPts val="18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28600" lvl="0" indent="-228600" algn="l" rtl="0">
              <a:lnSpc>
                <a:spcPct val="150000"/>
              </a:lnSpc>
              <a:spcBef>
                <a:spcPts val="0"/>
              </a:spcBef>
              <a:spcAft>
                <a:spcPts val="0"/>
              </a:spcAft>
              <a:buClr>
                <a:schemeClr val="dk1"/>
              </a:buClr>
              <a:buSzPts val="1800"/>
              <a:buChar char="•"/>
            </a:pPr>
            <a:r>
              <a:rPr lang="en-IN" sz="2665">
                <a:highlight>
                  <a:srgbClr val="00FFFF"/>
                </a:highlight>
                <a:latin typeface="Arial" panose="020B0604020202020204" pitchFamily="34" charset="0"/>
                <a:cs typeface="Arial" panose="020B0604020202020204" pitchFamily="34" charset="0"/>
              </a:rPr>
              <a:t>Level 2 objectives - During advanced development and release stages </a:t>
            </a:r>
            <a:endParaRPr lang="en-IN" sz="2665">
              <a:highlight>
                <a:srgbClr val="00FFFF"/>
              </a:highlight>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IN" altLang="en-US">
                <a:latin typeface="Arial" panose="020B0604020202020204" pitchFamily="34" charset="0"/>
                <a:cs typeface="Arial" panose="020B0604020202020204" pitchFamily="34" charset="0"/>
                <a:sym typeface="+mn-ea"/>
              </a:rPr>
              <a:t>V</a:t>
            </a:r>
            <a:r>
              <a:rPr lang="en-US" altLang="en-US">
                <a:latin typeface="Arial" panose="020B0604020202020204" pitchFamily="34" charset="0"/>
                <a:cs typeface="Arial" panose="020B0604020202020204" pitchFamily="34" charset="0"/>
                <a:sym typeface="+mn-ea"/>
              </a:rPr>
              <a:t>alidating that the software meets specified requirements and user expectations.</a:t>
            </a:r>
            <a:endParaRPr lang="en-US" altLang="en-US">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IN" altLang="en-US">
                <a:latin typeface="Arial" panose="020B0604020202020204" pitchFamily="34" charset="0"/>
                <a:cs typeface="Arial" panose="020B0604020202020204" pitchFamily="34" charset="0"/>
                <a:sym typeface="+mn-ea"/>
              </a:rPr>
              <a:t>C</a:t>
            </a:r>
            <a:r>
              <a:rPr lang="en-US" altLang="en-US">
                <a:latin typeface="Arial" panose="020B0604020202020204" pitchFamily="34" charset="0"/>
                <a:cs typeface="Arial" panose="020B0604020202020204" pitchFamily="34" charset="0"/>
                <a:sym typeface="+mn-ea"/>
              </a:rPr>
              <a:t>ontribute</a:t>
            </a:r>
            <a:r>
              <a:rPr lang="en-IN" altLang="en-US">
                <a:latin typeface="Arial" panose="020B0604020202020204" pitchFamily="34" charset="0"/>
                <a:cs typeface="Arial" panose="020B0604020202020204" pitchFamily="34" charset="0"/>
                <a:sym typeface="+mn-ea"/>
              </a:rPr>
              <a:t> </a:t>
            </a:r>
            <a:r>
              <a:rPr lang="en-US" altLang="en-US">
                <a:latin typeface="Arial" panose="020B0604020202020204" pitchFamily="34" charset="0"/>
                <a:cs typeface="Arial" panose="020B0604020202020204" pitchFamily="34" charset="0"/>
                <a:sym typeface="+mn-ea"/>
              </a:rPr>
              <a:t>to ensuring the overall quality and reliability of software products.</a:t>
            </a:r>
            <a:endParaRPr lang="en-US" altLang="en-US">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IN" altLang="en-US">
                <a:latin typeface="Arial" panose="020B0604020202020204" pitchFamily="34" charset="0"/>
                <a:cs typeface="Arial" panose="020B0604020202020204" pitchFamily="34" charset="0"/>
                <a:sym typeface="+mn-ea"/>
              </a:rPr>
              <a:t>H</a:t>
            </a:r>
            <a:r>
              <a:rPr lang="en-US" altLang="en-US">
                <a:latin typeface="Arial" panose="020B0604020202020204" pitchFamily="34" charset="0"/>
                <a:cs typeface="Arial" panose="020B0604020202020204" pitchFamily="34" charset="0"/>
                <a:sym typeface="+mn-ea"/>
              </a:rPr>
              <a:t>elp in mitigating risks associated with software deployment and potential failures.</a:t>
            </a:r>
            <a:endParaRPr lang="en-US" altLang="en-US">
              <a:latin typeface="Arial" panose="020B0604020202020204" pitchFamily="34" charset="0"/>
              <a:cs typeface="Arial" panose="020B0604020202020204" pitchFamily="34" charset="0"/>
              <a:sym typeface="+mn-ea"/>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IN" altLang="en-US">
                <a:latin typeface="Arial" panose="020B0604020202020204" pitchFamily="34" charset="0"/>
                <a:cs typeface="Arial" panose="020B0604020202020204" pitchFamily="34" charset="0"/>
                <a:sym typeface="+mn-ea"/>
              </a:rPr>
              <a:t>T</a:t>
            </a:r>
            <a:r>
              <a:rPr lang="en-US" altLang="en-US">
                <a:latin typeface="Arial" panose="020B0604020202020204" pitchFamily="34" charset="0"/>
                <a:cs typeface="Arial" panose="020B0604020202020204" pitchFamily="34" charset="0"/>
                <a:sym typeface="+mn-ea"/>
              </a:rPr>
              <a:t>esting non-functional requirements such as performance, security, usability, and scalability.</a:t>
            </a:r>
            <a:endParaRPr lang="en-US" altLang="en-US">
              <a:latin typeface="Arial" panose="020B0604020202020204" pitchFamily="34" charset="0"/>
              <a:cs typeface="Arial" panose="020B0604020202020204" pitchFamily="34" charset="0"/>
              <a:sym typeface="+mn-ea"/>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IN" altLang="en-US">
                <a:latin typeface="Arial" panose="020B0604020202020204" pitchFamily="34" charset="0"/>
                <a:cs typeface="Arial" panose="020B0604020202020204" pitchFamily="34" charset="0"/>
                <a:sym typeface="+mn-ea"/>
              </a:rPr>
              <a:t>Ensure cost savings by timely detection of bugs and fixing those bugs</a:t>
            </a:r>
            <a:endParaRPr lang="en-US" altLang="en-US">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endParaRPr lang="en-US" altLang="en-US" sz="1715">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endParaRPr lang="en-US" altLang="en-US">
              <a:sym typeface="+mn-ea"/>
            </a:endParaRPr>
          </a:p>
          <a:p>
            <a:pPr lvl="1" indent="-457200" algn="l" rtl="0">
              <a:lnSpc>
                <a:spcPct val="150000"/>
              </a:lnSpc>
              <a:spcBef>
                <a:spcPts val="0"/>
              </a:spcBef>
              <a:spcAft>
                <a:spcPts val="0"/>
              </a:spcAft>
              <a:buClr>
                <a:schemeClr val="dk1"/>
              </a:buClr>
              <a:buSzPts val="1800"/>
              <a:buFont typeface="Wingdings" panose="05000000000000000000" charset="0"/>
              <a:buChar char="ü"/>
            </a:pPr>
            <a:endParaRPr lang="en-IN"/>
          </a:p>
        </p:txBody>
      </p:sp>
      <p:sp>
        <p:nvSpPr>
          <p:cNvPr id="2" name="Google Shape;97;p15"/>
          <p:cNvSpPr txBox="1"/>
          <p:nvPr/>
        </p:nvSpPr>
        <p:spPr>
          <a:xfrm>
            <a:off x="1055370" y="4436745"/>
            <a:ext cx="10515600" cy="2245995"/>
          </a:xfrm>
          <a:prstGeom prst="rect">
            <a:avLst/>
          </a:prstGeom>
          <a:noFill/>
          <a:ln>
            <a:noFill/>
          </a:ln>
        </p:spPr>
        <p:txBody>
          <a:bodyPr wrap="square" lIns="91425" tIns="45700" rIns="91425" bIns="45700" anchor="t" anchorCtr="0">
            <a:normAutofit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42900" algn="l" rtl="0">
              <a:lnSpc>
                <a:spcPct val="90000"/>
              </a:lnSpc>
              <a:spcBef>
                <a:spcPts val="500"/>
              </a:spcBef>
              <a:spcAft>
                <a:spcPts val="0"/>
              </a:spcAft>
              <a:buClr>
                <a:schemeClr val="dk1"/>
              </a:buClr>
              <a:buSzPts val="18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90000"/>
              </a:lnSpc>
              <a:spcBef>
                <a:spcPts val="500"/>
              </a:spcBef>
              <a:spcAft>
                <a:spcPts val="0"/>
              </a:spcAft>
              <a:buClr>
                <a:schemeClr val="dk1"/>
              </a:buClr>
              <a:buSzPts val="18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28600" lvl="0" indent="-228600" algn="l" rtl="0">
              <a:lnSpc>
                <a:spcPct val="150000"/>
              </a:lnSpc>
              <a:spcBef>
                <a:spcPts val="0"/>
              </a:spcBef>
              <a:spcAft>
                <a:spcPts val="0"/>
              </a:spcAft>
              <a:buClr>
                <a:schemeClr val="dk1"/>
              </a:buClr>
              <a:buSzPts val="1800"/>
              <a:buChar char="•"/>
            </a:pPr>
            <a:r>
              <a:rPr lang="en-IN" sz="1600">
                <a:highlight>
                  <a:srgbClr val="00FFFF"/>
                </a:highlight>
                <a:latin typeface="Arial" panose="020B0604020202020204" pitchFamily="34" charset="0"/>
                <a:cs typeface="Arial" panose="020B0604020202020204" pitchFamily="34" charset="0"/>
              </a:rPr>
              <a:t>Level 3 objectives - Post implementation stage </a:t>
            </a:r>
            <a:endParaRPr lang="en-IN" sz="1600">
              <a:highlight>
                <a:srgbClr val="00FFFF"/>
              </a:highlight>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US" altLang="en-US" sz="1400">
                <a:latin typeface="Arial" panose="020B0604020202020204" pitchFamily="34" charset="0"/>
                <a:cs typeface="Arial" panose="020B0604020202020204" pitchFamily="34" charset="0"/>
                <a:sym typeface="+mn-ea"/>
              </a:rPr>
              <a:t>Prevents hampering business operations due to bugs/issues</a:t>
            </a:r>
            <a:endParaRPr lang="en-US" altLang="en-US" sz="1400">
              <a:latin typeface="Arial" panose="020B0604020202020204" pitchFamily="34" charset="0"/>
              <a:cs typeface="Arial" panose="020B0604020202020204" pitchFamily="34" charset="0"/>
              <a:sym typeface="+mn-ea"/>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US" altLang="en-US" sz="1400">
                <a:latin typeface="Arial" panose="020B0604020202020204" pitchFamily="34" charset="0"/>
                <a:cs typeface="Arial" panose="020B0604020202020204" pitchFamily="34" charset="0"/>
              </a:rPr>
              <a:t>Identify enhancements/patches/releases</a:t>
            </a:r>
            <a:endParaRPr lang="en-US" altLang="en-US" sz="1400">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r>
              <a:rPr lang="en-US" altLang="en-US" sz="1400">
                <a:latin typeface="Arial" panose="020B0604020202020204" pitchFamily="34" charset="0"/>
                <a:cs typeface="Arial" panose="020B0604020202020204" pitchFamily="34" charset="0"/>
              </a:rPr>
              <a:t>Reduced maintenance costs</a:t>
            </a:r>
            <a:endParaRPr lang="en-US" altLang="en-US" sz="1400">
              <a:latin typeface="Arial" panose="020B0604020202020204" pitchFamily="34" charset="0"/>
              <a:cs typeface="Arial" panose="020B0604020202020204" pitchFamily="34" charset="0"/>
            </a:endParaRPr>
          </a:p>
          <a:p>
            <a:pPr lvl="1" indent="-457200" algn="l" rtl="0">
              <a:lnSpc>
                <a:spcPct val="150000"/>
              </a:lnSpc>
              <a:spcBef>
                <a:spcPts val="0"/>
              </a:spcBef>
              <a:spcAft>
                <a:spcPts val="0"/>
              </a:spcAft>
              <a:buClr>
                <a:schemeClr val="dk1"/>
              </a:buClr>
              <a:buSzPts val="1800"/>
              <a:buFont typeface="Wingdings" panose="05000000000000000000" charset="0"/>
              <a:buChar char="ü"/>
            </a:pPr>
            <a:endParaRPr lang="en-US" altLang="en-US">
              <a:sym typeface="+mn-ea"/>
            </a:endParaRPr>
          </a:p>
          <a:p>
            <a:pPr lvl="1" indent="-457200" algn="l" rtl="0">
              <a:lnSpc>
                <a:spcPct val="150000"/>
              </a:lnSpc>
              <a:spcBef>
                <a:spcPts val="0"/>
              </a:spcBef>
              <a:spcAft>
                <a:spcPts val="0"/>
              </a:spcAft>
              <a:buClr>
                <a:schemeClr val="dk1"/>
              </a:buClr>
              <a:buSzPts val="1800"/>
              <a:buFont typeface="Wingdings" panose="05000000000000000000" charset="0"/>
              <a:buChar char="ü"/>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build="p"/>
      <p:bldP spid="97" grpId="1" build="p"/>
      <p:bldP spid="3" grpId="0"/>
      <p:bldP spid="3" grpId="1"/>
      <p:bldP spid="2" grpId="0"/>
      <p:bldP spid="2"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40105" y="457200"/>
            <a:ext cx="10965815" cy="494030"/>
          </a:xfrm>
          <a:prstGeom prst="rect">
            <a:avLst/>
          </a:prstGeom>
          <a:solidFill>
            <a:schemeClr val="accent1">
              <a:lumMod val="60000"/>
              <a:lumOff val="4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Activity 1.1</a:t>
            </a:r>
            <a:endParaRPr lang="en-IN" sz="2000" u="sng">
              <a:latin typeface="Arial" panose="020B0604020202020204"/>
              <a:ea typeface="Arial" panose="020B0604020202020204"/>
              <a:cs typeface="Arial" panose="020B0604020202020204"/>
              <a:sym typeface="Arial" panose="020B0604020202020204"/>
            </a:endParaRPr>
          </a:p>
        </p:txBody>
      </p:sp>
      <p:sp>
        <p:nvSpPr>
          <p:cNvPr id="103" name="Google Shape;103;p16"/>
          <p:cNvSpPr txBox="1"/>
          <p:nvPr>
            <p:ph type="body" idx="1"/>
          </p:nvPr>
        </p:nvSpPr>
        <p:spPr>
          <a:xfrm>
            <a:off x="840105" y="1124585"/>
            <a:ext cx="10951210" cy="531495"/>
          </a:xfrm>
          <a:prstGeom prst="rect">
            <a:avLst/>
          </a:prstGeom>
          <a:noFill/>
          <a:ln>
            <a:noFill/>
          </a:ln>
        </p:spPr>
        <p:txBody>
          <a:bodyPr spcFirstLastPara="1" wrap="square" lIns="91425" tIns="45700" rIns="91425" bIns="45700" anchor="t" anchorCtr="0">
            <a:normAutofit/>
          </a:bodyPr>
          <a:lstStyle/>
          <a:p>
            <a:pPr marL="342900" lvl="0" indent="-228600" algn="l" rtl="0">
              <a:lnSpc>
                <a:spcPct val="150000"/>
              </a:lnSpc>
              <a:spcBef>
                <a:spcPts val="1000"/>
              </a:spcBef>
              <a:spcAft>
                <a:spcPts val="0"/>
              </a:spcAft>
              <a:buClr>
                <a:schemeClr val="dk1"/>
              </a:buClr>
              <a:buSzPts val="1800"/>
              <a:buFont typeface="Arial" panose="020B0604020202020204"/>
              <a:buNone/>
            </a:pPr>
            <a:r>
              <a:rPr lang="en-IN" sz="1400">
                <a:latin typeface="Arial" panose="020B0604020202020204"/>
                <a:ea typeface="Arial" panose="020B0604020202020204"/>
                <a:cs typeface="Arial" panose="020B0604020202020204"/>
                <a:sym typeface="Arial" panose="020B0604020202020204"/>
              </a:rPr>
              <a:t>1. Consider the following figure and </a:t>
            </a:r>
            <a:r>
              <a:rPr lang="en-IN" sz="1400">
                <a:latin typeface="Arial" panose="020B0604020202020204"/>
                <a:ea typeface="Arial" panose="020B0604020202020204"/>
                <a:cs typeface="Arial" panose="020B0604020202020204"/>
                <a:sym typeface="Arial" panose="020B0604020202020204"/>
              </a:rPr>
              <a:t>discuss the following points : </a:t>
            </a:r>
            <a:endParaRPr sz="1400" b="0" i="0">
              <a:solidFill>
                <a:srgbClr val="0C0D0E"/>
              </a:solidFill>
              <a:latin typeface="Arial" panose="020B0604020202020204"/>
              <a:ea typeface="Arial" panose="020B0604020202020204"/>
              <a:cs typeface="Arial" panose="020B0604020202020204"/>
              <a:sym typeface="Arial" panose="020B0604020202020204"/>
            </a:endParaRPr>
          </a:p>
          <a:p>
            <a:pPr marL="228600" lvl="0" indent="-50800" algn="l" rtl="0">
              <a:lnSpc>
                <a:spcPct val="90000"/>
              </a:lnSpc>
              <a:spcBef>
                <a:spcPts val="1000"/>
              </a:spcBef>
              <a:spcAft>
                <a:spcPts val="0"/>
              </a:spcAft>
              <a:buClr>
                <a:schemeClr val="dk1"/>
              </a:buClr>
              <a:buSzPts val="2800"/>
              <a:buNone/>
            </a:pPr>
            <a:endParaRPr sz="1400"/>
          </a:p>
        </p:txBody>
      </p:sp>
      <p:pic>
        <p:nvPicPr>
          <p:cNvPr id="7" name="Picture Placeholder 6"/>
          <p:cNvPicPr>
            <a:picLocks noChangeAspect="1"/>
          </p:cNvPicPr>
          <p:nvPr>
            <p:ph type="pic" idx="2"/>
          </p:nvPr>
        </p:nvPicPr>
        <p:blipFill>
          <a:blip r:embed="rId1"/>
          <a:stretch>
            <a:fillRect/>
          </a:stretch>
        </p:blipFill>
        <p:spPr>
          <a:xfrm>
            <a:off x="1780540" y="1773555"/>
            <a:ext cx="3901440" cy="2896870"/>
          </a:xfrm>
          <a:prstGeom prst="rect">
            <a:avLst/>
          </a:prstGeom>
        </p:spPr>
      </p:pic>
      <p:sp>
        <p:nvSpPr>
          <p:cNvPr id="2" name="Google Shape;103;p16"/>
          <p:cNvSpPr txBox="1"/>
          <p:nvPr/>
        </p:nvSpPr>
        <p:spPr>
          <a:xfrm>
            <a:off x="5880100" y="1873250"/>
            <a:ext cx="5824220" cy="53149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sym typeface="Arial" panose="020B0604020202020204"/>
              </a:rPr>
              <a:t>1. What are the different stages of software application process?</a:t>
            </a:r>
            <a:endParaRPr lang="en-IN" sz="1400"/>
          </a:p>
        </p:txBody>
      </p:sp>
      <p:sp>
        <p:nvSpPr>
          <p:cNvPr id="3" name="Google Shape;103;p16"/>
          <p:cNvSpPr txBox="1"/>
          <p:nvPr/>
        </p:nvSpPr>
        <p:spPr>
          <a:xfrm>
            <a:off x="5880100" y="2276475"/>
            <a:ext cx="5824220" cy="53149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sym typeface="Arial" panose="020B0604020202020204"/>
              </a:rPr>
              <a:t>2. What happens in the requirement gathering phase?</a:t>
            </a:r>
            <a:endParaRPr lang="en-IN" sz="1400"/>
          </a:p>
        </p:txBody>
      </p:sp>
      <p:sp>
        <p:nvSpPr>
          <p:cNvPr id="4" name="Google Shape;103;p16"/>
          <p:cNvSpPr txBox="1"/>
          <p:nvPr/>
        </p:nvSpPr>
        <p:spPr>
          <a:xfrm>
            <a:off x="5880100" y="2708910"/>
            <a:ext cx="5824220" cy="53149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sym typeface="Arial" panose="020B0604020202020204"/>
              </a:rPr>
              <a:t>3. What happens in the design phase?</a:t>
            </a:r>
            <a:endParaRPr lang="en-IN" sz="1400"/>
          </a:p>
        </p:txBody>
      </p:sp>
      <p:sp>
        <p:nvSpPr>
          <p:cNvPr id="5" name="Google Shape;103;p16"/>
          <p:cNvSpPr txBox="1"/>
          <p:nvPr/>
        </p:nvSpPr>
        <p:spPr>
          <a:xfrm>
            <a:off x="5880735" y="3094355"/>
            <a:ext cx="5824220" cy="53149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sym typeface="Arial" panose="020B0604020202020204"/>
              </a:rPr>
              <a:t>4. What is the PRODUCTION phase in software application  process?</a:t>
            </a:r>
            <a:endParaRPr lang="en-IN" sz="1400"/>
          </a:p>
        </p:txBody>
      </p:sp>
      <p:sp>
        <p:nvSpPr>
          <p:cNvPr id="6" name="Google Shape;103;p16"/>
          <p:cNvSpPr txBox="1"/>
          <p:nvPr/>
        </p:nvSpPr>
        <p:spPr>
          <a:xfrm>
            <a:off x="5935345" y="3578860"/>
            <a:ext cx="5824220" cy="53149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sym typeface="Arial" panose="020B0604020202020204"/>
              </a:rPr>
              <a:t>5. Why is the cost of fixing defects high in PRODUCTION phase?</a:t>
            </a:r>
            <a:endParaRPr lang="en-IN" sz="1400"/>
          </a:p>
        </p:txBody>
      </p:sp>
      <p:sp>
        <p:nvSpPr>
          <p:cNvPr id="8" name="Google Shape;103;p16"/>
          <p:cNvSpPr txBox="1"/>
          <p:nvPr/>
        </p:nvSpPr>
        <p:spPr>
          <a:xfrm>
            <a:off x="840105" y="5113655"/>
            <a:ext cx="10951210" cy="531495"/>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sym typeface="Arial" panose="020B0604020202020204"/>
              </a:rPr>
              <a:t>2. Disucss, </a:t>
            </a:r>
            <a:r>
              <a:rPr lang="en-IN" sz="1400">
                <a:latin typeface="Arial" panose="020B0604020202020204"/>
                <a:ea typeface="Arial" panose="020B0604020202020204"/>
                <a:cs typeface="Arial" panose="020B0604020202020204"/>
              </a:rPr>
              <a:t> “Is software testing only limited to identifying bugs”?</a:t>
            </a:r>
            <a:endParaRPr lang="en-IN" sz="1400">
              <a:latin typeface="Arial" panose="020B0604020202020204"/>
              <a:ea typeface="Arial" panose="020B0604020202020204"/>
              <a:cs typeface="Arial" panose="020B0604020202020204"/>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Differences between bug, defect, error and failure</a:t>
            </a:r>
            <a:endParaRPr lang="en-IN" sz="2000" u="sng">
              <a:latin typeface="Arial" panose="020B0604020202020204"/>
              <a:ea typeface="Arial" panose="020B0604020202020204"/>
              <a:cs typeface="Arial" panose="020B0604020202020204"/>
              <a:sym typeface="Arial" panose="020B0604020202020204"/>
            </a:endParaRPr>
          </a:p>
        </p:txBody>
      </p:sp>
      <p:graphicFrame>
        <p:nvGraphicFramePr>
          <p:cNvPr id="3" name="Table 2"/>
          <p:cNvGraphicFramePr/>
          <p:nvPr>
            <p:custDataLst>
              <p:tags r:id="rId1"/>
            </p:custDataLst>
          </p:nvPr>
        </p:nvGraphicFramePr>
        <p:xfrm>
          <a:off x="838200" y="2348865"/>
          <a:ext cx="9864090" cy="3680460"/>
        </p:xfrm>
        <a:graphic>
          <a:graphicData uri="http://schemas.openxmlformats.org/drawingml/2006/table">
            <a:tbl>
              <a:tblPr firstRow="1" bandRow="1">
                <a:tableStyleId>{5940675A-B579-460E-94D1-54222C63F5DA}</a:tableStyleId>
              </a:tblPr>
              <a:tblGrid>
                <a:gridCol w="1595120"/>
                <a:gridCol w="8268970"/>
              </a:tblGrid>
              <a:tr h="394335">
                <a:tc>
                  <a:txBody>
                    <a:bodyPr/>
                    <a:p>
                      <a:pPr>
                        <a:buNone/>
                      </a:pPr>
                      <a:endParaRPr lang="en-US"/>
                    </a:p>
                  </a:txBody>
                  <a:tcPr/>
                </a:tc>
                <a:tc>
                  <a:txBody>
                    <a:bodyPr/>
                    <a:p>
                      <a:pPr algn="ctr">
                        <a:buNone/>
                      </a:pPr>
                      <a:r>
                        <a:rPr lang="en-IN" altLang="en-US" b="1"/>
                        <a:t>ERROR / MISTAKE</a:t>
                      </a:r>
                      <a:endParaRPr lang="en-IN" altLang="en-US" b="1"/>
                    </a:p>
                  </a:txBody>
                  <a:tcPr>
                    <a:solidFill>
                      <a:schemeClr val="bg2">
                        <a:lumMod val="60000"/>
                        <a:lumOff val="40000"/>
                      </a:schemeClr>
                    </a:solidFill>
                  </a:tcPr>
                </a:tc>
              </a:tr>
              <a:tr h="419735">
                <a:tc>
                  <a:txBody>
                    <a:bodyPr/>
                    <a:p>
                      <a:pPr>
                        <a:buNone/>
                      </a:pPr>
                      <a:r>
                        <a:rPr lang="en-IN" altLang="en-US"/>
                        <a:t>Definition </a:t>
                      </a:r>
                      <a:endParaRPr lang="en-IN" altLang="en-US"/>
                    </a:p>
                  </a:txBody>
                  <a:tcPr>
                    <a:solidFill>
                      <a:srgbClr val="FFFF00"/>
                    </a:solidFill>
                  </a:tcPr>
                </a:tc>
                <a:tc>
                  <a:txBody>
                    <a:bodyPr/>
                    <a:p>
                      <a:pPr>
                        <a:buNone/>
                      </a:pPr>
                      <a:r>
                        <a:rPr lang="en-US" altLang="en-US"/>
                        <a:t>A human action that produces an incorrect result.</a:t>
                      </a:r>
                      <a:endParaRPr lang="en-US" altLang="en-US"/>
                    </a:p>
                  </a:txBody>
                  <a:tcPr/>
                </a:tc>
              </a:tr>
              <a:tr h="382270">
                <a:tc>
                  <a:txBody>
                    <a:bodyPr/>
                    <a:p>
                      <a:pPr>
                        <a:buNone/>
                      </a:pPr>
                      <a:r>
                        <a:rPr lang="en-IN" altLang="en-US"/>
                        <a:t>Nature</a:t>
                      </a:r>
                      <a:endParaRPr lang="en-IN" altLang="en-US"/>
                    </a:p>
                  </a:txBody>
                  <a:tcPr>
                    <a:solidFill>
                      <a:srgbClr val="FFFF00"/>
                    </a:solidFill>
                  </a:tcPr>
                </a:tc>
                <a:tc>
                  <a:txBody>
                    <a:bodyPr/>
                    <a:p>
                      <a:pPr>
                        <a:buNone/>
                      </a:pPr>
                      <a:r>
                        <a:rPr lang="en-US" altLang="en-US"/>
                        <a:t>Human action/mistake</a:t>
                      </a:r>
                      <a:endParaRPr lang="en-US" altLang="en-US"/>
                    </a:p>
                  </a:txBody>
                  <a:tcPr/>
                </a:tc>
              </a:tr>
              <a:tr h="536575">
                <a:tc>
                  <a:txBody>
                    <a:bodyPr/>
                    <a:p>
                      <a:pPr>
                        <a:buNone/>
                      </a:pPr>
                      <a:r>
                        <a:rPr lang="en-IN" altLang="en-US"/>
                        <a:t>Primary cause</a:t>
                      </a:r>
                      <a:endParaRPr lang="en-IN" altLang="en-US"/>
                    </a:p>
                  </a:txBody>
                  <a:tcPr>
                    <a:solidFill>
                      <a:srgbClr val="FFFF00"/>
                    </a:solidFill>
                  </a:tcPr>
                </a:tc>
                <a:tc>
                  <a:txBody>
                    <a:bodyPr/>
                    <a:p>
                      <a:pPr>
                        <a:buNone/>
                      </a:pPr>
                      <a:r>
                        <a:rPr lang="en-US" altLang="en-US"/>
                        <a:t>Human mistake</a:t>
                      </a:r>
                      <a:r>
                        <a:rPr lang="en-IN" altLang="en-US"/>
                        <a:t>(s) such as</a:t>
                      </a:r>
                      <a:r>
                        <a:rPr lang="en-US" altLang="en-US"/>
                        <a:t> misunderstanding or misinterpretation of software requirements, which can lead to incorrect logic implementation. Other causes involve miscalculation of values, incorrect algorithms, syntactical mistakes, accidental oversights, or poor coding practices during development. Additionally, faulty design choices can introduce logical inconsistencies into the program architecture, laying the groundwork for subsequent problems.</a:t>
                      </a:r>
                      <a:endParaRPr lang="en-US" altLang="en-US"/>
                    </a:p>
                  </a:txBody>
                  <a:tcPr/>
                </a:tc>
              </a:tr>
              <a:tr h="394970">
                <a:tc>
                  <a:txBody>
                    <a:bodyPr/>
                    <a:p>
                      <a:pPr>
                        <a:buNone/>
                      </a:pPr>
                      <a:r>
                        <a:rPr lang="en-IN" altLang="en-US"/>
                        <a:t>Discovery Phase</a:t>
                      </a:r>
                      <a:endParaRPr lang="en-IN" altLang="en-US"/>
                    </a:p>
                  </a:txBody>
                  <a:tcPr>
                    <a:solidFill>
                      <a:srgbClr val="FFFF00"/>
                    </a:solidFill>
                  </a:tcPr>
                </a:tc>
                <a:tc>
                  <a:txBody>
                    <a:bodyPr/>
                    <a:p>
                      <a:pPr>
                        <a:buNone/>
                      </a:pPr>
                      <a:r>
                        <a:rPr lang="en-US" altLang="en-US"/>
                        <a:t>Development (coding, design, requirements)</a:t>
                      </a:r>
                      <a:endParaRPr lang="en-US" altLang="en-US"/>
                    </a:p>
                  </a:txBody>
                  <a:tcPr/>
                </a:tc>
              </a:tr>
              <a:tr h="536575">
                <a:tc>
                  <a:txBody>
                    <a:bodyPr/>
                    <a:p>
                      <a:pPr>
                        <a:buNone/>
                      </a:pPr>
                      <a:r>
                        <a:rPr lang="en-IN" altLang="en-US"/>
                        <a:t>Who checks/ handles?</a:t>
                      </a:r>
                      <a:endParaRPr lang="en-IN" altLang="en-US"/>
                    </a:p>
                  </a:txBody>
                  <a:tcPr>
                    <a:solidFill>
                      <a:srgbClr val="FFFF00"/>
                    </a:solidFill>
                  </a:tcPr>
                </a:tc>
                <a:tc>
                  <a:txBody>
                    <a:bodyPr/>
                    <a:p>
                      <a:pPr>
                        <a:buNone/>
                      </a:pPr>
                      <a:r>
                        <a:rPr lang="en-US" altLang="en-US"/>
                        <a:t>Developer</a:t>
                      </a:r>
                      <a:r>
                        <a:rPr lang="en-IN" altLang="en-US"/>
                        <a:t> </a:t>
                      </a:r>
                      <a:r>
                        <a:rPr lang="en-US" altLang="en-US"/>
                        <a:t>through code reviews,</a:t>
                      </a:r>
                      <a:r>
                        <a:rPr lang="en-IN" altLang="en-US"/>
                        <a:t> </a:t>
                      </a:r>
                      <a:r>
                        <a:rPr lang="en-US" altLang="en-US"/>
                        <a:t>unit testing, which includes debugging.</a:t>
                      </a:r>
                      <a:endParaRPr lang="en-US" altLang="en-US"/>
                    </a:p>
                  </a:txBody>
                  <a:tcPr/>
                </a:tc>
              </a:tr>
              <a:tr h="394335">
                <a:tc>
                  <a:txBody>
                    <a:bodyPr/>
                    <a:p>
                      <a:pPr>
                        <a:buNone/>
                      </a:pPr>
                      <a:r>
                        <a:rPr lang="en-IN" altLang="en-US"/>
                        <a:t>Impact factor</a:t>
                      </a:r>
                      <a:endParaRPr lang="en-IN" altLang="en-US"/>
                    </a:p>
                  </a:txBody>
                  <a:tcPr>
                    <a:solidFill>
                      <a:srgbClr val="FFFF00"/>
                    </a:solidFill>
                  </a:tcPr>
                </a:tc>
                <a:tc>
                  <a:txBody>
                    <a:bodyPr/>
                    <a:p>
                      <a:pPr>
                        <a:buNone/>
                      </a:pPr>
                      <a:r>
                        <a:rPr lang="en-US" altLang="en-US"/>
                        <a:t>Internal code issue, potential for defect</a:t>
                      </a:r>
                      <a:endParaRPr lang="en-US" altLang="en-US"/>
                    </a:p>
                  </a:txBody>
                  <a:tcPr/>
                </a:tc>
              </a:tr>
            </a:tbl>
          </a:graphicData>
        </a:graphic>
      </p:graphicFrame>
      <p:sp>
        <p:nvSpPr>
          <p:cNvPr id="4" name="Text Box 3"/>
          <p:cNvSpPr txBox="1"/>
          <p:nvPr/>
        </p:nvSpPr>
        <p:spPr>
          <a:xfrm>
            <a:off x="839470" y="836295"/>
            <a:ext cx="10485755" cy="1383665"/>
          </a:xfrm>
          <a:prstGeom prst="rect">
            <a:avLst/>
          </a:prstGeom>
          <a:noFill/>
        </p:spPr>
        <p:txBody>
          <a:bodyPr wrap="square" rtlCol="0">
            <a:spAutoFit/>
          </a:bodyPr>
          <a:p>
            <a:pPr marL="285750" indent="-285750">
              <a:lnSpc>
                <a:spcPct val="150000"/>
              </a:lnSpc>
              <a:buFont typeface="Wingdings" panose="05000000000000000000" charset="0"/>
              <a:buChar char="ü"/>
            </a:pPr>
            <a:r>
              <a:rPr lang="en-IN" altLang="en-US"/>
              <a:t>Precise use of terminology is important to indicate the exact nature, severity, possible phase of discovery and scope of the problem to the developers, testers, project manager and other stakeholders of the project / release under SDLC.</a:t>
            </a:r>
            <a:endParaRPr lang="en-IN" altLang="en-US"/>
          </a:p>
          <a:p>
            <a:pPr marL="285750" indent="-285750">
              <a:lnSpc>
                <a:spcPct val="150000"/>
              </a:lnSpc>
              <a:buFont typeface="Wingdings" panose="05000000000000000000" charset="0"/>
              <a:buChar char="ü"/>
            </a:pPr>
            <a:r>
              <a:rPr lang="en-IN" altLang="en-US"/>
              <a:t>The terminilogy also provides clarity on understanding the issues, their origin, impact and helps in streamlining problem resolution and enhancing overall product delivery.</a:t>
            </a:r>
            <a:endParaRPr lang="en-I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40105" y="457200"/>
            <a:ext cx="10965815" cy="494030"/>
          </a:xfrm>
          <a:prstGeom prst="rect">
            <a:avLst/>
          </a:prstGeom>
          <a:solidFill>
            <a:schemeClr val="accent1">
              <a:lumMod val="60000"/>
              <a:lumOff val="4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Activity 1.2</a:t>
            </a:r>
            <a:endParaRPr lang="en-IN" sz="2000" u="sng">
              <a:latin typeface="Arial" panose="020B0604020202020204"/>
              <a:ea typeface="Arial" panose="020B0604020202020204"/>
              <a:cs typeface="Arial" panose="020B0604020202020204"/>
              <a:sym typeface="Arial" panose="020B0604020202020204"/>
            </a:endParaRPr>
          </a:p>
        </p:txBody>
      </p:sp>
      <p:sp>
        <p:nvSpPr>
          <p:cNvPr id="103" name="Google Shape;103;p16"/>
          <p:cNvSpPr txBox="1"/>
          <p:nvPr>
            <p:ph type="body" idx="1"/>
          </p:nvPr>
        </p:nvSpPr>
        <p:spPr>
          <a:xfrm>
            <a:off x="839470" y="1196340"/>
            <a:ext cx="10951210" cy="53149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rPr>
              <a:t>1. Discuss how we can prevent errors in our app?</a:t>
            </a:r>
            <a:endParaRPr lang="en-IN" sz="1400">
              <a:latin typeface="Arial" panose="020B0604020202020204"/>
              <a:ea typeface="Arial" panose="020B0604020202020204"/>
              <a:cs typeface="Arial" panose="020B0604020202020204"/>
            </a:endParaRPr>
          </a:p>
        </p:txBody>
      </p:sp>
      <p:graphicFrame>
        <p:nvGraphicFramePr>
          <p:cNvPr id="2" name="Diagram 1"/>
          <p:cNvGraphicFramePr/>
          <p:nvPr/>
        </p:nvGraphicFramePr>
        <p:xfrm>
          <a:off x="1559560" y="1972945"/>
          <a:ext cx="7484745" cy="151066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Differences between bug, defect, error and failure</a:t>
            </a:r>
            <a:endParaRPr lang="en-IN" sz="2000" u="sng">
              <a:latin typeface="Arial" panose="020B0604020202020204"/>
              <a:ea typeface="Arial" panose="020B0604020202020204"/>
              <a:cs typeface="Arial" panose="020B0604020202020204"/>
              <a:sym typeface="Arial" panose="020B0604020202020204"/>
            </a:endParaRPr>
          </a:p>
        </p:txBody>
      </p:sp>
      <p:graphicFrame>
        <p:nvGraphicFramePr>
          <p:cNvPr id="3" name="Table 2"/>
          <p:cNvGraphicFramePr/>
          <p:nvPr/>
        </p:nvGraphicFramePr>
        <p:xfrm>
          <a:off x="838200" y="1124585"/>
          <a:ext cx="9864090" cy="2804160"/>
        </p:xfrm>
        <a:graphic>
          <a:graphicData uri="http://schemas.openxmlformats.org/drawingml/2006/table">
            <a:tbl>
              <a:tblPr firstRow="1" bandRow="1">
                <a:tableStyleId>{5940675A-B579-460E-94D1-54222C63F5DA}</a:tableStyleId>
              </a:tblPr>
              <a:tblGrid>
                <a:gridCol w="1595120"/>
                <a:gridCol w="8268970"/>
              </a:tblGrid>
              <a:tr h="381000">
                <a:tc>
                  <a:txBody>
                    <a:bodyPr/>
                    <a:p>
                      <a:pPr>
                        <a:buNone/>
                      </a:pPr>
                      <a:endParaRPr lang="en-US"/>
                    </a:p>
                  </a:txBody>
                  <a:tcPr/>
                </a:tc>
                <a:tc>
                  <a:txBody>
                    <a:bodyPr/>
                    <a:p>
                      <a:pPr algn="ctr">
                        <a:buNone/>
                      </a:pPr>
                      <a:r>
                        <a:rPr lang="en-IN" altLang="en-US"/>
                        <a:t>BUG / DEFECT</a:t>
                      </a:r>
                      <a:endParaRPr lang="en-IN" altLang="en-US"/>
                    </a:p>
                  </a:txBody>
                  <a:tcPr>
                    <a:solidFill>
                      <a:schemeClr val="bg2">
                        <a:lumMod val="60000"/>
                        <a:lumOff val="40000"/>
                      </a:schemeClr>
                    </a:solidFill>
                  </a:tcPr>
                </a:tc>
              </a:tr>
              <a:tr h="381000">
                <a:tc>
                  <a:txBody>
                    <a:bodyPr/>
                    <a:p>
                      <a:pPr>
                        <a:buNone/>
                      </a:pPr>
                      <a:r>
                        <a:rPr lang="en-IN" altLang="en-US"/>
                        <a:t>Definition </a:t>
                      </a:r>
                      <a:endParaRPr lang="en-IN" altLang="en-US"/>
                    </a:p>
                  </a:txBody>
                  <a:tcPr>
                    <a:solidFill>
                      <a:srgbClr val="FFFF00"/>
                    </a:solidFill>
                  </a:tcPr>
                </a:tc>
                <a:tc>
                  <a:txBody>
                    <a:bodyPr/>
                    <a:p>
                      <a:pPr>
                        <a:buNone/>
                      </a:pPr>
                      <a:r>
                        <a:rPr lang="en-US" altLang="en-US"/>
                        <a:t>An imperfection or deficiency in a work product where it deviates from requirements or intended functionality.</a:t>
                      </a:r>
                      <a:r>
                        <a:rPr lang="en-IN" altLang="en-US"/>
                        <a:t> </a:t>
                      </a:r>
                      <a:r>
                        <a:rPr lang="en-US" altLang="en-US"/>
                        <a:t>It represents a deviation between the expected result and the actual result in an application or module</a:t>
                      </a:r>
                      <a:endParaRPr lang="en-US" altLang="en-US"/>
                    </a:p>
                  </a:txBody>
                  <a:tcPr/>
                </a:tc>
              </a:tr>
              <a:tr h="381000">
                <a:tc>
                  <a:txBody>
                    <a:bodyPr/>
                    <a:p>
                      <a:pPr>
                        <a:buNone/>
                      </a:pPr>
                      <a:r>
                        <a:rPr lang="en-IN" altLang="en-US"/>
                        <a:t>Nature</a:t>
                      </a:r>
                      <a:endParaRPr lang="en-IN" altLang="en-US"/>
                    </a:p>
                  </a:txBody>
                  <a:tcPr>
                    <a:solidFill>
                      <a:srgbClr val="FFFF00"/>
                    </a:solidFill>
                  </a:tcPr>
                </a:tc>
                <a:tc>
                  <a:txBody>
                    <a:bodyPr/>
                    <a:p>
                      <a:pPr>
                        <a:buNone/>
                      </a:pPr>
                      <a:r>
                        <a:rPr lang="en-US" altLang="en-US"/>
                        <a:t>Product flaw/deviation</a:t>
                      </a:r>
                      <a:endParaRPr lang="en-US" altLang="en-US"/>
                    </a:p>
                  </a:txBody>
                  <a:tcPr/>
                </a:tc>
              </a:tr>
              <a:tr h="381000">
                <a:tc>
                  <a:txBody>
                    <a:bodyPr/>
                    <a:p>
                      <a:pPr>
                        <a:buNone/>
                      </a:pPr>
                      <a:r>
                        <a:rPr lang="en-IN" altLang="en-US"/>
                        <a:t>Primary cause</a:t>
                      </a:r>
                      <a:endParaRPr lang="en-IN" altLang="en-US"/>
                    </a:p>
                  </a:txBody>
                  <a:tcPr>
                    <a:solidFill>
                      <a:srgbClr val="FFFF00"/>
                    </a:solidFill>
                  </a:tcPr>
                </a:tc>
                <a:tc>
                  <a:txBody>
                    <a:bodyPr/>
                    <a:p>
                      <a:pPr>
                        <a:buNone/>
                      </a:pPr>
                      <a:r>
                        <a:rPr lang="en-US" altLang="en-US"/>
                        <a:t>Consequence of an underlying error (programming, design</a:t>
                      </a:r>
                      <a:r>
                        <a:rPr lang="en-IN" altLang="en-US"/>
                        <a:t> error or inconsistencies in architecture </a:t>
                      </a:r>
                      <a:r>
                        <a:rPr lang="en-US" altLang="en-US"/>
                        <a:t>, requirements</a:t>
                      </a:r>
                      <a:r>
                        <a:rPr lang="en-IN" altLang="en-US"/>
                        <a:t> which are not fully understood or poorly gathered, </a:t>
                      </a:r>
                      <a:r>
                        <a:rPr lang="en-US" altLang="en-US"/>
                        <a:t>)</a:t>
                      </a:r>
                      <a:endParaRPr lang="en-US" altLang="en-US"/>
                    </a:p>
                  </a:txBody>
                  <a:tcPr/>
                </a:tc>
              </a:tr>
              <a:tr h="381000">
                <a:tc>
                  <a:txBody>
                    <a:bodyPr/>
                    <a:p>
                      <a:pPr>
                        <a:buNone/>
                      </a:pPr>
                      <a:r>
                        <a:rPr lang="en-IN" altLang="en-US"/>
                        <a:t>Discovery Phase</a:t>
                      </a:r>
                      <a:endParaRPr lang="en-IN" altLang="en-US"/>
                    </a:p>
                  </a:txBody>
                  <a:tcPr>
                    <a:solidFill>
                      <a:srgbClr val="FFFF00"/>
                    </a:solidFill>
                  </a:tcPr>
                </a:tc>
                <a:tc>
                  <a:txBody>
                    <a:bodyPr/>
                    <a:p>
                      <a:pPr>
                        <a:buNone/>
                      </a:pPr>
                      <a:r>
                        <a:rPr lang="en-US" altLang="en-US"/>
                        <a:t>Testing phases (unit, integration, system, regression)</a:t>
                      </a:r>
                      <a:endParaRPr lang="en-US" altLang="en-US"/>
                    </a:p>
                  </a:txBody>
                  <a:tcPr/>
                </a:tc>
              </a:tr>
              <a:tr h="381000">
                <a:tc>
                  <a:txBody>
                    <a:bodyPr/>
                    <a:p>
                      <a:pPr>
                        <a:buNone/>
                      </a:pPr>
                      <a:r>
                        <a:rPr lang="en-IN" altLang="en-US"/>
                        <a:t>Who checks/ handles?</a:t>
                      </a:r>
                      <a:endParaRPr lang="en-IN" altLang="en-US"/>
                    </a:p>
                  </a:txBody>
                  <a:tcPr>
                    <a:solidFill>
                      <a:srgbClr val="FFFF00"/>
                    </a:solidFill>
                  </a:tcPr>
                </a:tc>
                <a:tc>
                  <a:txBody>
                    <a:bodyPr/>
                    <a:p>
                      <a:pPr>
                        <a:buNone/>
                      </a:pPr>
                      <a:r>
                        <a:rPr lang="en-US" altLang="en-US"/>
                        <a:t>QA Tester</a:t>
                      </a:r>
                      <a:r>
                        <a:rPr lang="en-IN" altLang="en-US"/>
                        <a:t> during integration, system and regression testing, </a:t>
                      </a:r>
                      <a:endParaRPr lang="en-IN" altLang="en-US"/>
                    </a:p>
                    <a:p>
                      <a:pPr>
                        <a:buNone/>
                      </a:pPr>
                      <a:r>
                        <a:rPr lang="en-US" altLang="en-US"/>
                        <a:t>Developer</a:t>
                      </a:r>
                      <a:endParaRPr lang="en-US" altLang="en-US"/>
                    </a:p>
                  </a:txBody>
                  <a:tcPr/>
                </a:tc>
              </a:tr>
              <a:tr h="381000">
                <a:tc>
                  <a:txBody>
                    <a:bodyPr/>
                    <a:p>
                      <a:pPr>
                        <a:buNone/>
                      </a:pPr>
                      <a:r>
                        <a:rPr lang="en-IN" altLang="en-US"/>
                        <a:t>Impact factor</a:t>
                      </a:r>
                      <a:endParaRPr lang="en-IN" altLang="en-US"/>
                    </a:p>
                  </a:txBody>
                  <a:tcPr>
                    <a:solidFill>
                      <a:srgbClr val="FFFF00"/>
                    </a:solidFill>
                  </a:tcPr>
                </a:tc>
                <a:tc>
                  <a:txBody>
                    <a:bodyPr/>
                    <a:p>
                      <a:pPr>
                        <a:buNone/>
                      </a:pPr>
                      <a:r>
                        <a:rPr lang="en-US" altLang="en-US"/>
                        <a:t>Functional deviation, potential for failure</a:t>
                      </a:r>
                      <a:endParaRPr lang="en-US" altLang="en-US"/>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40105" y="457200"/>
            <a:ext cx="10965815" cy="494030"/>
          </a:xfrm>
          <a:prstGeom prst="rect">
            <a:avLst/>
          </a:prstGeom>
          <a:solidFill>
            <a:schemeClr val="accent1">
              <a:lumMod val="60000"/>
              <a:lumOff val="4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Activity 1.3</a:t>
            </a:r>
            <a:endParaRPr lang="en-IN" sz="2000" u="sng">
              <a:latin typeface="Arial" panose="020B0604020202020204"/>
              <a:ea typeface="Arial" panose="020B0604020202020204"/>
              <a:cs typeface="Arial" panose="020B0604020202020204"/>
              <a:sym typeface="Arial" panose="020B0604020202020204"/>
            </a:endParaRPr>
          </a:p>
        </p:txBody>
      </p:sp>
      <p:sp>
        <p:nvSpPr>
          <p:cNvPr id="103" name="Google Shape;103;p16"/>
          <p:cNvSpPr txBox="1"/>
          <p:nvPr>
            <p:ph type="body" idx="1"/>
          </p:nvPr>
        </p:nvSpPr>
        <p:spPr>
          <a:xfrm>
            <a:off x="839470" y="1196340"/>
            <a:ext cx="10951210" cy="76454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sym typeface="Arial" panose="020B0604020202020204"/>
              </a:rPr>
              <a:t>1. Quickly do a google search to find out how defects / faults in an application came to be called as BUGs?</a:t>
            </a:r>
            <a:endParaRPr lang="en-IN" sz="1400">
              <a:latin typeface="Arial" panose="020B0604020202020204"/>
              <a:ea typeface="Arial" panose="020B0604020202020204"/>
              <a:cs typeface="Arial" panose="020B0604020202020204"/>
              <a:sym typeface="Arial" panose="020B0604020202020204"/>
            </a:endParaRPr>
          </a:p>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rPr>
              <a:t>2. List down different ways to prevent Bugs / Defects in your application</a:t>
            </a:r>
            <a:endParaRPr lang="en-IN" sz="1400">
              <a:latin typeface="Arial" panose="020B0604020202020204"/>
              <a:ea typeface="Arial" panose="020B0604020202020204"/>
              <a:cs typeface="Arial" panose="020B0604020202020204"/>
            </a:endParaRPr>
          </a:p>
        </p:txBody>
      </p:sp>
      <p:graphicFrame>
        <p:nvGraphicFramePr>
          <p:cNvPr id="2" name="Diagram 1"/>
          <p:cNvGraphicFramePr/>
          <p:nvPr/>
        </p:nvGraphicFramePr>
        <p:xfrm>
          <a:off x="760730" y="2059940"/>
          <a:ext cx="10095865" cy="44399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Differences between bug, defect, error and failure</a:t>
            </a:r>
            <a:endParaRPr lang="en-IN" sz="2000" u="sng">
              <a:latin typeface="Arial" panose="020B0604020202020204"/>
              <a:ea typeface="Arial" panose="020B0604020202020204"/>
              <a:cs typeface="Arial" panose="020B0604020202020204"/>
              <a:sym typeface="Arial" panose="020B0604020202020204"/>
            </a:endParaRPr>
          </a:p>
        </p:txBody>
      </p:sp>
      <p:graphicFrame>
        <p:nvGraphicFramePr>
          <p:cNvPr id="3" name="Table 2"/>
          <p:cNvGraphicFramePr/>
          <p:nvPr>
            <p:custDataLst>
              <p:tags r:id="rId1"/>
            </p:custDataLst>
          </p:nvPr>
        </p:nvGraphicFramePr>
        <p:xfrm>
          <a:off x="839470" y="1052195"/>
          <a:ext cx="9864090" cy="3550920"/>
        </p:xfrm>
        <a:graphic>
          <a:graphicData uri="http://schemas.openxmlformats.org/drawingml/2006/table">
            <a:tbl>
              <a:tblPr firstRow="1" bandRow="1">
                <a:tableStyleId>{5940675A-B579-460E-94D1-54222C63F5DA}</a:tableStyleId>
              </a:tblPr>
              <a:tblGrid>
                <a:gridCol w="1595120"/>
                <a:gridCol w="8268970"/>
              </a:tblGrid>
              <a:tr h="394335">
                <a:tc>
                  <a:txBody>
                    <a:bodyPr/>
                    <a:p>
                      <a:pPr>
                        <a:buNone/>
                      </a:pPr>
                      <a:endParaRPr lang="en-US"/>
                    </a:p>
                  </a:txBody>
                  <a:tcPr/>
                </a:tc>
                <a:tc>
                  <a:txBody>
                    <a:bodyPr/>
                    <a:p>
                      <a:pPr algn="ctr">
                        <a:buNone/>
                      </a:pPr>
                      <a:r>
                        <a:rPr lang="en-IN" altLang="en-US"/>
                        <a:t>FAILURE</a:t>
                      </a:r>
                      <a:endParaRPr lang="en-IN" altLang="en-US"/>
                    </a:p>
                  </a:txBody>
                  <a:tcPr>
                    <a:solidFill>
                      <a:schemeClr val="bg2">
                        <a:lumMod val="60000"/>
                        <a:lumOff val="40000"/>
                      </a:schemeClr>
                    </a:solidFill>
                  </a:tcPr>
                </a:tc>
              </a:tr>
              <a:tr h="757555">
                <a:tc>
                  <a:txBody>
                    <a:bodyPr/>
                    <a:p>
                      <a:pPr>
                        <a:buNone/>
                      </a:pPr>
                      <a:r>
                        <a:rPr lang="en-IN" altLang="en-US"/>
                        <a:t>Definition </a:t>
                      </a:r>
                      <a:endParaRPr lang="en-IN" altLang="en-US"/>
                    </a:p>
                  </a:txBody>
                  <a:tcPr>
                    <a:solidFill>
                      <a:srgbClr val="FFFF00"/>
                    </a:solidFill>
                  </a:tcPr>
                </a:tc>
                <a:tc>
                  <a:txBody>
                    <a:bodyPr/>
                    <a:p>
                      <a:pPr>
                        <a:buNone/>
                      </a:pPr>
                      <a:r>
                        <a:rPr lang="en-US" altLang="en-US"/>
                        <a:t>An event in which a component or system does not perform a required function within specified limits.</a:t>
                      </a:r>
                      <a:r>
                        <a:rPr lang="en-IN" altLang="en-US"/>
                        <a:t> T</a:t>
                      </a:r>
                      <a:r>
                        <a:rPr lang="en-US" altLang="en-US"/>
                        <a:t>he inability of the software to achieve a certain goal, deliver expected results, or meet user expectations.</a:t>
                      </a:r>
                      <a:endParaRPr lang="en-US" altLang="en-US"/>
                    </a:p>
                  </a:txBody>
                  <a:tcPr/>
                </a:tc>
              </a:tr>
              <a:tr h="536575">
                <a:tc>
                  <a:txBody>
                    <a:bodyPr/>
                    <a:p>
                      <a:pPr>
                        <a:buNone/>
                      </a:pPr>
                      <a:r>
                        <a:rPr lang="en-IN" altLang="en-US"/>
                        <a:t>Nature</a:t>
                      </a:r>
                      <a:endParaRPr lang="en-IN" altLang="en-US"/>
                    </a:p>
                  </a:txBody>
                  <a:tcPr>
                    <a:solidFill>
                      <a:srgbClr val="FFFF00"/>
                    </a:solidFill>
                  </a:tcPr>
                </a:tc>
                <a:tc>
                  <a:txBody>
                    <a:bodyPr/>
                    <a:p>
                      <a:pPr>
                        <a:buNone/>
                      </a:pPr>
                      <a:r>
                        <a:rPr lang="en-US" altLang="en-US"/>
                        <a:t>Observable system malfunction</a:t>
                      </a:r>
                      <a:r>
                        <a:rPr lang="en-IN" altLang="en-US"/>
                        <a:t> - </a:t>
                      </a:r>
                      <a:r>
                        <a:rPr lang="en-US" altLang="en-US"/>
                        <a:t>its visibility to the end-user or its significant impact on the system's operational behavior</a:t>
                      </a:r>
                      <a:endParaRPr lang="en-US" altLang="en-US"/>
                    </a:p>
                  </a:txBody>
                  <a:tcPr/>
                </a:tc>
              </a:tr>
              <a:tr h="536575">
                <a:tc>
                  <a:txBody>
                    <a:bodyPr/>
                    <a:p>
                      <a:pPr>
                        <a:buNone/>
                      </a:pPr>
                      <a:r>
                        <a:rPr lang="en-IN" altLang="en-US"/>
                        <a:t>Primary cause</a:t>
                      </a:r>
                      <a:endParaRPr lang="en-IN" altLang="en-US"/>
                    </a:p>
                  </a:txBody>
                  <a:tcPr>
                    <a:solidFill>
                      <a:srgbClr val="FFFF00"/>
                    </a:solidFill>
                  </a:tcPr>
                </a:tc>
                <a:tc>
                  <a:txBody>
                    <a:bodyPr/>
                    <a:p>
                      <a:pPr>
                        <a:buNone/>
                      </a:pPr>
                      <a:r>
                        <a:rPr lang="en-US" altLang="en-US"/>
                        <a:t>Activation of one or more underlying defects; specific inputs,</a:t>
                      </a:r>
                      <a:r>
                        <a:rPr lang="en-IN" altLang="en-US"/>
                        <a:t> </a:t>
                      </a:r>
                      <a:r>
                        <a:rPr lang="en-US" altLang="en-US"/>
                        <a:t>environmental factors</a:t>
                      </a:r>
                      <a:r>
                        <a:rPr lang="en-IN" altLang="en-US"/>
                        <a:t> </a:t>
                      </a:r>
                      <a:r>
                        <a:rPr lang="en-US" altLang="en-US"/>
                        <a:t>such as network disruption, hardware malfunction, system load, or resource consumption</a:t>
                      </a:r>
                      <a:endParaRPr lang="en-US" altLang="en-US"/>
                    </a:p>
                  </a:txBody>
                  <a:tcPr/>
                </a:tc>
              </a:tr>
              <a:tr h="394970">
                <a:tc>
                  <a:txBody>
                    <a:bodyPr/>
                    <a:p>
                      <a:pPr>
                        <a:buNone/>
                      </a:pPr>
                      <a:r>
                        <a:rPr lang="en-IN" altLang="en-US"/>
                        <a:t>Discovery Phase</a:t>
                      </a:r>
                      <a:endParaRPr lang="en-IN" altLang="en-US"/>
                    </a:p>
                  </a:txBody>
                  <a:tcPr>
                    <a:solidFill>
                      <a:srgbClr val="FFFF00"/>
                    </a:solidFill>
                  </a:tcPr>
                </a:tc>
                <a:tc>
                  <a:txBody>
                    <a:bodyPr/>
                    <a:p>
                      <a:pPr>
                        <a:buNone/>
                      </a:pPr>
                      <a:r>
                        <a:rPr lang="en-US" altLang="en-US"/>
                        <a:t>Production/Live environment; sometimes late-stage testing</a:t>
                      </a:r>
                      <a:endParaRPr lang="en-US" altLang="en-US"/>
                    </a:p>
                  </a:txBody>
                  <a:tcPr/>
                </a:tc>
              </a:tr>
              <a:tr h="536575">
                <a:tc>
                  <a:txBody>
                    <a:bodyPr/>
                    <a:p>
                      <a:pPr>
                        <a:buNone/>
                      </a:pPr>
                      <a:r>
                        <a:rPr lang="en-IN" altLang="en-US"/>
                        <a:t>Who checks/ handles?</a:t>
                      </a:r>
                      <a:endParaRPr lang="en-IN" altLang="en-US"/>
                    </a:p>
                  </a:txBody>
                  <a:tcPr>
                    <a:solidFill>
                      <a:srgbClr val="FFFF00"/>
                    </a:solidFill>
                  </a:tcPr>
                </a:tc>
                <a:tc>
                  <a:txBody>
                    <a:bodyPr/>
                    <a:p>
                      <a:pPr>
                        <a:buNone/>
                      </a:pPr>
                      <a:r>
                        <a:rPr lang="en-US" altLang="en-US"/>
                        <a:t>End-User, Operations Team</a:t>
                      </a:r>
                      <a:endParaRPr lang="en-US" altLang="en-US"/>
                    </a:p>
                  </a:txBody>
                  <a:tcPr/>
                </a:tc>
              </a:tr>
              <a:tr h="394335">
                <a:tc>
                  <a:txBody>
                    <a:bodyPr/>
                    <a:p>
                      <a:pPr>
                        <a:buNone/>
                      </a:pPr>
                      <a:r>
                        <a:rPr lang="en-IN" altLang="en-US"/>
                        <a:t>Impact factor</a:t>
                      </a:r>
                      <a:endParaRPr lang="en-IN" altLang="en-US"/>
                    </a:p>
                  </a:txBody>
                  <a:tcPr>
                    <a:solidFill>
                      <a:srgbClr val="FFFF00"/>
                    </a:solidFill>
                  </a:tcPr>
                </a:tc>
                <a:tc>
                  <a:txBody>
                    <a:bodyPr/>
                    <a:p>
                      <a:pPr>
                        <a:buNone/>
                      </a:pPr>
                      <a:r>
                        <a:rPr lang="en-IN" altLang="en-US"/>
                        <a:t>Being the most NOTICEABLE issues they can often lead to or cause s</a:t>
                      </a:r>
                      <a:r>
                        <a:rPr lang="en-US" altLang="en-US"/>
                        <a:t>ystem outage, business harm, user dissatisfaction</a:t>
                      </a:r>
                      <a:r>
                        <a:rPr lang="en-IN" altLang="en-US"/>
                        <a:t> thus inducing BUSINESS RISK.</a:t>
                      </a:r>
                      <a:endParaRPr lang="en-IN" altLang="en-US"/>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40105" y="457200"/>
            <a:ext cx="10965815" cy="494030"/>
          </a:xfrm>
          <a:prstGeom prst="rect">
            <a:avLst/>
          </a:prstGeom>
          <a:solidFill>
            <a:schemeClr val="accent1">
              <a:lumMod val="60000"/>
              <a:lumOff val="4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Activity 1.4</a:t>
            </a:r>
            <a:endParaRPr lang="en-IN" sz="2000" u="sng">
              <a:latin typeface="Arial" panose="020B0604020202020204"/>
              <a:ea typeface="Arial" panose="020B0604020202020204"/>
              <a:cs typeface="Arial" panose="020B0604020202020204"/>
              <a:sym typeface="Arial" panose="020B0604020202020204"/>
            </a:endParaRPr>
          </a:p>
        </p:txBody>
      </p:sp>
      <p:sp>
        <p:nvSpPr>
          <p:cNvPr id="103" name="Google Shape;103;p16"/>
          <p:cNvSpPr txBox="1"/>
          <p:nvPr>
            <p:ph type="body" idx="1"/>
          </p:nvPr>
        </p:nvSpPr>
        <p:spPr>
          <a:xfrm>
            <a:off x="839470" y="1196340"/>
            <a:ext cx="10951210" cy="53149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rPr>
              <a:t>1. Discuss how we can prevent failures in our app?</a:t>
            </a:r>
            <a:endParaRPr lang="en-IN" sz="1400">
              <a:latin typeface="Arial" panose="020B0604020202020204"/>
              <a:ea typeface="Arial" panose="020B0604020202020204"/>
              <a:cs typeface="Arial" panose="020B0604020202020204"/>
            </a:endParaRPr>
          </a:p>
        </p:txBody>
      </p:sp>
      <p:graphicFrame>
        <p:nvGraphicFramePr>
          <p:cNvPr id="2" name="Diagram 1"/>
          <p:cNvGraphicFramePr/>
          <p:nvPr/>
        </p:nvGraphicFramePr>
        <p:xfrm>
          <a:off x="911225" y="1844675"/>
          <a:ext cx="9610090" cy="381698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How mistakes grow bigger : From human error to system failure</a:t>
            </a:r>
            <a:endParaRPr lang="en-IN" sz="2000" u="sng">
              <a:latin typeface="Arial" panose="020B0604020202020204"/>
              <a:ea typeface="Arial" panose="020B0604020202020204"/>
              <a:cs typeface="Arial" panose="020B0604020202020204"/>
              <a:sym typeface="Arial" panose="020B0604020202020204"/>
            </a:endParaRPr>
          </a:p>
        </p:txBody>
      </p:sp>
      <p:graphicFrame>
        <p:nvGraphicFramePr>
          <p:cNvPr id="2" name="Diagram 1"/>
          <p:cNvGraphicFramePr/>
          <p:nvPr/>
        </p:nvGraphicFramePr>
        <p:xfrm>
          <a:off x="1631315" y="1125220"/>
          <a:ext cx="9284335" cy="49961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40105" y="457200"/>
            <a:ext cx="10965815" cy="494030"/>
          </a:xfrm>
          <a:prstGeom prst="rect">
            <a:avLst/>
          </a:prstGeom>
          <a:solidFill>
            <a:schemeClr val="accent1">
              <a:lumMod val="60000"/>
              <a:lumOff val="4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Activity 1.5</a:t>
            </a:r>
            <a:endParaRPr lang="en-IN" sz="2000" u="sng">
              <a:latin typeface="Arial" panose="020B0604020202020204"/>
              <a:ea typeface="Arial" panose="020B0604020202020204"/>
              <a:cs typeface="Arial" panose="020B0604020202020204"/>
              <a:sym typeface="Arial" panose="020B0604020202020204"/>
            </a:endParaRPr>
          </a:p>
        </p:txBody>
      </p:sp>
      <p:sp>
        <p:nvSpPr>
          <p:cNvPr id="103" name="Google Shape;103;p16"/>
          <p:cNvSpPr txBox="1"/>
          <p:nvPr>
            <p:ph type="body" idx="1"/>
          </p:nvPr>
        </p:nvSpPr>
        <p:spPr>
          <a:xfrm>
            <a:off x="839470" y="1196340"/>
            <a:ext cx="10951210" cy="53149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rPr>
              <a:t>Understand the case studies given below to understand how bugs excalated into failures</a:t>
            </a:r>
            <a:endParaRPr lang="en-IN" sz="1400">
              <a:latin typeface="Arial" panose="020B0604020202020204"/>
              <a:ea typeface="Arial" panose="020B0604020202020204"/>
              <a:cs typeface="Arial" panose="020B0604020202020204"/>
            </a:endParaRPr>
          </a:p>
        </p:txBody>
      </p:sp>
      <p:sp>
        <p:nvSpPr>
          <p:cNvPr id="3" name="Text Box 2"/>
          <p:cNvSpPr txBox="1"/>
          <p:nvPr/>
        </p:nvSpPr>
        <p:spPr>
          <a:xfrm>
            <a:off x="2711450" y="1802765"/>
            <a:ext cx="758190" cy="398780"/>
          </a:xfrm>
          <a:prstGeom prst="rect">
            <a:avLst/>
          </a:prstGeom>
          <a:noFill/>
        </p:spPr>
        <p:txBody>
          <a:bodyPr wrap="square" rtlCol="0">
            <a:spAutoFit/>
          </a:bodyPr>
          <a:p>
            <a:pPr algn="ctr"/>
            <a:r>
              <a:rPr lang="en-IN" altLang="en-US" sz="2000" b="1"/>
              <a:t>BUG</a:t>
            </a:r>
            <a:endParaRPr lang="en-IN" altLang="en-US" sz="2000" b="1"/>
          </a:p>
        </p:txBody>
      </p:sp>
      <p:sp>
        <p:nvSpPr>
          <p:cNvPr id="4" name="Text Box 3"/>
          <p:cNvSpPr txBox="1"/>
          <p:nvPr/>
        </p:nvSpPr>
        <p:spPr>
          <a:xfrm>
            <a:off x="6671945" y="1731010"/>
            <a:ext cx="1533525" cy="398780"/>
          </a:xfrm>
          <a:prstGeom prst="rect">
            <a:avLst/>
          </a:prstGeom>
          <a:noFill/>
        </p:spPr>
        <p:txBody>
          <a:bodyPr wrap="square" rtlCol="0">
            <a:spAutoFit/>
          </a:bodyPr>
          <a:p>
            <a:pPr algn="ctr"/>
            <a:r>
              <a:rPr lang="en-IN" altLang="en-US" sz="2000" b="1"/>
              <a:t>FAILURES</a:t>
            </a:r>
            <a:endParaRPr lang="en-IN" altLang="en-US" sz="2000" b="1"/>
          </a:p>
        </p:txBody>
      </p:sp>
      <p:sp>
        <p:nvSpPr>
          <p:cNvPr id="6" name="Text Box 5"/>
          <p:cNvSpPr txBox="1"/>
          <p:nvPr/>
        </p:nvSpPr>
        <p:spPr>
          <a:xfrm>
            <a:off x="1356995" y="2567305"/>
            <a:ext cx="4018915" cy="737235"/>
          </a:xfrm>
          <a:prstGeom prst="rect">
            <a:avLst/>
          </a:prstGeom>
          <a:noFill/>
        </p:spPr>
        <p:txBody>
          <a:bodyPr wrap="square" rtlCol="0">
            <a:spAutoFit/>
          </a:bodyPr>
          <a:p>
            <a:r>
              <a:rPr lang="en-US" altLang="en-US">
                <a:solidFill>
                  <a:schemeClr val="tx1"/>
                </a:solidFill>
                <a:sym typeface="+mn-ea"/>
              </a:rPr>
              <a:t>In 2015, CareFusion's ventilators </a:t>
            </a:r>
            <a:r>
              <a:rPr lang="en-IN" altLang="en-US">
                <a:solidFill>
                  <a:schemeClr val="tx1"/>
                </a:solidFill>
                <a:sym typeface="+mn-ea"/>
              </a:rPr>
              <a:t>had a bug which </a:t>
            </a:r>
            <a:r>
              <a:rPr lang="en-US" altLang="en-US">
                <a:solidFill>
                  <a:schemeClr val="tx1"/>
                </a:solidFill>
                <a:sym typeface="+mn-ea"/>
              </a:rPr>
              <a:t>could cause patients to suffocate.</a:t>
            </a:r>
            <a:endParaRPr lang="en-US" altLang="en-US">
              <a:solidFill>
                <a:schemeClr val="tx1"/>
              </a:solidFill>
            </a:endParaRPr>
          </a:p>
          <a:p>
            <a:endParaRPr lang="en-IN" altLang="en-US"/>
          </a:p>
        </p:txBody>
      </p:sp>
      <p:sp>
        <p:nvSpPr>
          <p:cNvPr id="7" name="Text Box 6"/>
          <p:cNvSpPr txBox="1"/>
          <p:nvPr/>
        </p:nvSpPr>
        <p:spPr>
          <a:xfrm>
            <a:off x="6630670" y="2407920"/>
            <a:ext cx="4283075" cy="1168400"/>
          </a:xfrm>
          <a:prstGeom prst="rect">
            <a:avLst/>
          </a:prstGeom>
          <a:noFill/>
        </p:spPr>
        <p:txBody>
          <a:bodyPr wrap="square" rtlCol="0">
            <a:spAutoFit/>
          </a:bodyPr>
          <a:p>
            <a:r>
              <a:rPr lang="en-US" altLang="en-US">
                <a:solidFill>
                  <a:schemeClr val="tx1"/>
                </a:solidFill>
                <a:sym typeface="+mn-ea"/>
              </a:rPr>
              <a:t> </a:t>
            </a:r>
            <a:r>
              <a:rPr lang="en-IN" altLang="en-US">
                <a:solidFill>
                  <a:schemeClr val="tx1"/>
                </a:solidFill>
                <a:sym typeface="+mn-ea"/>
              </a:rPr>
              <a:t>1. T</a:t>
            </a:r>
            <a:r>
              <a:rPr lang="en-US" altLang="en-US">
                <a:solidFill>
                  <a:schemeClr val="tx1"/>
                </a:solidFill>
                <a:sym typeface="+mn-ea"/>
              </a:rPr>
              <a:t>he ventilator flaw posed a direct threat of suffocation. </a:t>
            </a:r>
            <a:endParaRPr lang="en-US" altLang="en-US">
              <a:solidFill>
                <a:schemeClr val="tx1"/>
              </a:solidFill>
              <a:sym typeface="+mn-ea"/>
            </a:endParaRPr>
          </a:p>
          <a:p>
            <a:r>
              <a:rPr lang="en-IN" altLang="en-US">
                <a:solidFill>
                  <a:schemeClr val="tx1"/>
                </a:solidFill>
                <a:sym typeface="+mn-ea"/>
              </a:rPr>
              <a:t>2.Due to reported</a:t>
            </a:r>
            <a:r>
              <a:rPr lang="en-US" altLang="en-US">
                <a:solidFill>
                  <a:schemeClr val="tx1"/>
                </a:solidFill>
                <a:sym typeface="+mn-ea"/>
              </a:rPr>
              <a:t> incidents emergency recalls </a:t>
            </a:r>
            <a:r>
              <a:rPr lang="en-IN" altLang="en-US">
                <a:solidFill>
                  <a:schemeClr val="tx1"/>
                </a:solidFill>
                <a:sym typeface="+mn-ea"/>
              </a:rPr>
              <a:t>had to be done by the company.</a:t>
            </a:r>
            <a:r>
              <a:rPr lang="en-US" altLang="en-US">
                <a:solidFill>
                  <a:schemeClr val="tx1"/>
                </a:solidFill>
                <a:sym typeface="+mn-ea"/>
              </a:rPr>
              <a:t>   </a:t>
            </a:r>
            <a:endParaRPr lang="en-US" altLang="en-US">
              <a:solidFill>
                <a:schemeClr val="tx1"/>
              </a:solidFill>
            </a:endParaRPr>
          </a:p>
          <a:p>
            <a:endParaRPr lang="en-US"/>
          </a:p>
        </p:txBody>
      </p:sp>
      <p:cxnSp>
        <p:nvCxnSpPr>
          <p:cNvPr id="8" name="Straight Connector 7"/>
          <p:cNvCxnSpPr/>
          <p:nvPr/>
        </p:nvCxnSpPr>
        <p:spPr>
          <a:xfrm flipV="1">
            <a:off x="1664970" y="2204720"/>
            <a:ext cx="8535670" cy="19050"/>
          </a:xfrm>
          <a:prstGeom prst="line">
            <a:avLst/>
          </a:prstGeom>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1343660" y="3572510"/>
            <a:ext cx="4018915" cy="1383665"/>
          </a:xfrm>
          <a:prstGeom prst="rect">
            <a:avLst/>
          </a:prstGeom>
          <a:noFill/>
        </p:spPr>
        <p:txBody>
          <a:bodyPr wrap="square" rtlCol="0">
            <a:spAutoFit/>
          </a:bodyPr>
          <a:p>
            <a:r>
              <a:rPr lang="en-US" altLang="en-US"/>
              <a:t>In 2016, a group of hackers exploited a software bug within the Bangladesh Bank system. This glitch interrupted the automatic printing process of transfer receipts, meaning that the bank was not immediately alerted to fraudulent transactions.</a:t>
            </a:r>
            <a:endParaRPr lang="en-US" altLang="en-US"/>
          </a:p>
        </p:txBody>
      </p:sp>
      <p:sp>
        <p:nvSpPr>
          <p:cNvPr id="10" name="Text Box 9"/>
          <p:cNvSpPr txBox="1"/>
          <p:nvPr/>
        </p:nvSpPr>
        <p:spPr>
          <a:xfrm>
            <a:off x="6671945" y="3576320"/>
            <a:ext cx="4283075" cy="2461260"/>
          </a:xfrm>
          <a:prstGeom prst="rect">
            <a:avLst/>
          </a:prstGeom>
          <a:noFill/>
        </p:spPr>
        <p:txBody>
          <a:bodyPr wrap="square" rtlCol="0">
            <a:spAutoFit/>
          </a:bodyPr>
          <a:p>
            <a:r>
              <a:rPr lang="en-US" altLang="en-US"/>
              <a:t>The software bug allowed the hacker-thieves to successfully transfer $81 million in four transactions before a spelling error in a subsequent transfer attempt finally tipped off the bank, leading to the cancellation of another $870 million in transfers. The delay in discovering the transfers due to the printing glitch gave the thieves ample time to cover their tracks, resulting in a significant financial loss for the bank. </a:t>
            </a:r>
            <a:r>
              <a:rPr lang="en-US" altLang="en-US"/>
              <a:t> </a:t>
            </a:r>
            <a:r>
              <a:rPr lang="en-US" altLang="en-US"/>
              <a:t> </a:t>
            </a:r>
            <a:endParaRPr lang="en-US" altLang="en-US"/>
          </a:p>
          <a:p>
            <a:endParaRPr lang="en-US" altLang="en-US"/>
          </a:p>
          <a:p>
            <a:endParaRPr lang="en-US" altLang="en-US"/>
          </a:p>
        </p:txBody>
      </p:sp>
      <p:sp>
        <p:nvSpPr>
          <p:cNvPr id="11" name="Text Box 10"/>
          <p:cNvSpPr txBox="1"/>
          <p:nvPr/>
        </p:nvSpPr>
        <p:spPr>
          <a:xfrm>
            <a:off x="335280" y="2701290"/>
            <a:ext cx="892810" cy="306705"/>
          </a:xfrm>
          <a:prstGeom prst="rect">
            <a:avLst/>
          </a:prstGeom>
          <a:noFill/>
        </p:spPr>
        <p:txBody>
          <a:bodyPr wrap="square" rtlCol="0">
            <a:spAutoFit/>
          </a:bodyPr>
          <a:p>
            <a:r>
              <a:rPr lang="en-IN" altLang="en-US" b="1" u="sng"/>
              <a:t>Case 1</a:t>
            </a:r>
            <a:endParaRPr lang="en-IN" altLang="en-US" b="1" u="sng"/>
          </a:p>
        </p:txBody>
      </p:sp>
      <p:sp>
        <p:nvSpPr>
          <p:cNvPr id="12" name="Text Box 11"/>
          <p:cNvSpPr txBox="1"/>
          <p:nvPr/>
        </p:nvSpPr>
        <p:spPr>
          <a:xfrm>
            <a:off x="335280" y="3716655"/>
            <a:ext cx="892810" cy="306705"/>
          </a:xfrm>
          <a:prstGeom prst="rect">
            <a:avLst/>
          </a:prstGeom>
          <a:noFill/>
        </p:spPr>
        <p:txBody>
          <a:bodyPr wrap="square" rtlCol="0">
            <a:spAutoFit/>
          </a:bodyPr>
          <a:p>
            <a:r>
              <a:rPr lang="en-IN" altLang="en-US" b="1" u="sng"/>
              <a:t>Case 2</a:t>
            </a:r>
            <a:endParaRPr lang="en-IN" altLang="en-US"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6" grpId="1"/>
      <p:bldP spid="7" grpId="1"/>
      <p:bldP spid="9" grpId="0"/>
      <p:bldP spid="9" grpId="1"/>
      <p:bldP spid="10" grpId="0"/>
      <p:bldP spid="10"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40105" y="457200"/>
            <a:ext cx="10965815" cy="494030"/>
          </a:xfrm>
          <a:prstGeom prst="rect">
            <a:avLst/>
          </a:prstGeom>
          <a:solidFill>
            <a:schemeClr val="accent1">
              <a:lumMod val="60000"/>
              <a:lumOff val="4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Activity 1.6</a:t>
            </a:r>
            <a:endParaRPr lang="en-IN" sz="2000" u="sng">
              <a:latin typeface="Arial" panose="020B0604020202020204"/>
              <a:ea typeface="Arial" panose="020B0604020202020204"/>
              <a:cs typeface="Arial" panose="020B0604020202020204"/>
              <a:sym typeface="Arial" panose="020B0604020202020204"/>
            </a:endParaRPr>
          </a:p>
        </p:txBody>
      </p:sp>
      <p:sp>
        <p:nvSpPr>
          <p:cNvPr id="103" name="Google Shape;103;p16"/>
          <p:cNvSpPr txBox="1"/>
          <p:nvPr>
            <p:ph type="body" idx="1"/>
          </p:nvPr>
        </p:nvSpPr>
        <p:spPr>
          <a:xfrm>
            <a:off x="839470" y="1196340"/>
            <a:ext cx="10951210" cy="53149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rPr>
              <a:t>Understand the case studies given below to understand how bugs excalated into failures</a:t>
            </a:r>
            <a:endParaRPr lang="en-IN" sz="1400">
              <a:latin typeface="Arial" panose="020B0604020202020204"/>
              <a:ea typeface="Arial" panose="020B0604020202020204"/>
              <a:cs typeface="Arial" panose="020B0604020202020204"/>
            </a:endParaRPr>
          </a:p>
        </p:txBody>
      </p:sp>
      <p:sp>
        <p:nvSpPr>
          <p:cNvPr id="3" name="Text Box 2"/>
          <p:cNvSpPr txBox="1"/>
          <p:nvPr/>
        </p:nvSpPr>
        <p:spPr>
          <a:xfrm>
            <a:off x="2711450" y="1802765"/>
            <a:ext cx="758190" cy="398780"/>
          </a:xfrm>
          <a:prstGeom prst="rect">
            <a:avLst/>
          </a:prstGeom>
          <a:noFill/>
        </p:spPr>
        <p:txBody>
          <a:bodyPr wrap="square" rtlCol="0">
            <a:spAutoFit/>
          </a:bodyPr>
          <a:p>
            <a:pPr algn="ctr"/>
            <a:r>
              <a:rPr lang="en-IN" altLang="en-US" sz="2000" b="1"/>
              <a:t>BUG</a:t>
            </a:r>
            <a:endParaRPr lang="en-IN" altLang="en-US" sz="2000" b="1"/>
          </a:p>
        </p:txBody>
      </p:sp>
      <p:sp>
        <p:nvSpPr>
          <p:cNvPr id="4" name="Text Box 3"/>
          <p:cNvSpPr txBox="1"/>
          <p:nvPr/>
        </p:nvSpPr>
        <p:spPr>
          <a:xfrm>
            <a:off x="6671945" y="1731010"/>
            <a:ext cx="1533525" cy="398780"/>
          </a:xfrm>
          <a:prstGeom prst="rect">
            <a:avLst/>
          </a:prstGeom>
          <a:noFill/>
        </p:spPr>
        <p:txBody>
          <a:bodyPr wrap="square" rtlCol="0">
            <a:spAutoFit/>
          </a:bodyPr>
          <a:p>
            <a:pPr algn="ctr"/>
            <a:r>
              <a:rPr lang="en-IN" altLang="en-US" sz="2000" b="1"/>
              <a:t>FAILURES</a:t>
            </a:r>
            <a:endParaRPr lang="en-IN" altLang="en-US" sz="2000" b="1"/>
          </a:p>
        </p:txBody>
      </p:sp>
      <p:sp>
        <p:nvSpPr>
          <p:cNvPr id="6" name="Text Box 5"/>
          <p:cNvSpPr txBox="1"/>
          <p:nvPr/>
        </p:nvSpPr>
        <p:spPr>
          <a:xfrm>
            <a:off x="1356995" y="2567305"/>
            <a:ext cx="4018915" cy="1383665"/>
          </a:xfrm>
          <a:prstGeom prst="rect">
            <a:avLst/>
          </a:prstGeom>
          <a:noFill/>
        </p:spPr>
        <p:txBody>
          <a:bodyPr wrap="square" rtlCol="0">
            <a:spAutoFit/>
          </a:bodyPr>
          <a:p>
            <a:r>
              <a:rPr lang="en-US" altLang="en-US"/>
              <a:t>After upgrading its patient-management software, St. Mary's Mercy Hospital experienced a critical data mapping error. The system incorrectly assigned a code of "20" (meaning "expired") instead of "01" (meaning "patient discharged") to thousands of patients.</a:t>
            </a:r>
            <a:endParaRPr lang="en-US" altLang="en-US"/>
          </a:p>
        </p:txBody>
      </p:sp>
      <p:sp>
        <p:nvSpPr>
          <p:cNvPr id="7" name="Text Box 6"/>
          <p:cNvSpPr txBox="1"/>
          <p:nvPr/>
        </p:nvSpPr>
        <p:spPr>
          <a:xfrm>
            <a:off x="6671945" y="2564765"/>
            <a:ext cx="4283075" cy="1599565"/>
          </a:xfrm>
          <a:prstGeom prst="rect">
            <a:avLst/>
          </a:prstGeom>
          <a:noFill/>
        </p:spPr>
        <p:txBody>
          <a:bodyPr wrap="square" rtlCol="0">
            <a:spAutoFit/>
          </a:bodyPr>
          <a:p>
            <a:r>
              <a:rPr lang="en-US" altLang="en-US"/>
              <a:t>As a result of this defect, approximately 8,500 people who had received treatment at the hospital between October and December received letters stating they had died. This erroneous data was also sent to insurance companies and the local Social Security Office, causing widespread distress and administrative chaos.</a:t>
            </a:r>
            <a:endParaRPr lang="en-US" altLang="en-US"/>
          </a:p>
        </p:txBody>
      </p:sp>
      <p:cxnSp>
        <p:nvCxnSpPr>
          <p:cNvPr id="8" name="Straight Connector 7"/>
          <p:cNvCxnSpPr/>
          <p:nvPr/>
        </p:nvCxnSpPr>
        <p:spPr>
          <a:xfrm flipV="1">
            <a:off x="1664970" y="2204720"/>
            <a:ext cx="8535670" cy="19050"/>
          </a:xfrm>
          <a:prstGeom prst="line">
            <a:avLst/>
          </a:prstGeom>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335280" y="2701290"/>
            <a:ext cx="892810" cy="306705"/>
          </a:xfrm>
          <a:prstGeom prst="rect">
            <a:avLst/>
          </a:prstGeom>
          <a:noFill/>
        </p:spPr>
        <p:txBody>
          <a:bodyPr wrap="square" rtlCol="0">
            <a:spAutoFit/>
          </a:bodyPr>
          <a:p>
            <a:r>
              <a:rPr lang="en-IN" altLang="en-US" b="1" u="sng"/>
              <a:t>Case 3</a:t>
            </a:r>
            <a:endParaRPr lang="en-IN" altLang="en-US"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6" grpId="1"/>
      <p:bldP spid="7"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40105" y="457200"/>
            <a:ext cx="10965815" cy="494030"/>
          </a:xfrm>
          <a:prstGeom prst="rect">
            <a:avLst/>
          </a:prstGeom>
          <a:solidFill>
            <a:schemeClr val="accent1">
              <a:lumMod val="60000"/>
              <a:lumOff val="4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Activity 1.7</a:t>
            </a:r>
            <a:endParaRPr lang="en-IN" sz="2000" u="sng">
              <a:latin typeface="Arial" panose="020B0604020202020204"/>
              <a:ea typeface="Arial" panose="020B0604020202020204"/>
              <a:cs typeface="Arial" panose="020B0604020202020204"/>
              <a:sym typeface="Arial" panose="020B0604020202020204"/>
            </a:endParaRPr>
          </a:p>
        </p:txBody>
      </p:sp>
      <p:sp>
        <p:nvSpPr>
          <p:cNvPr id="103" name="Google Shape;103;p16"/>
          <p:cNvSpPr txBox="1"/>
          <p:nvPr>
            <p:ph type="body" idx="1"/>
          </p:nvPr>
        </p:nvSpPr>
        <p:spPr>
          <a:xfrm>
            <a:off x="839470" y="1196340"/>
            <a:ext cx="10951210" cy="53149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rPr>
              <a:t>Differentiate the following into Errors, Bugs and Failures</a:t>
            </a:r>
            <a:endParaRPr lang="en-IN" sz="1400">
              <a:latin typeface="Arial" panose="020B0604020202020204"/>
              <a:ea typeface="Arial" panose="020B0604020202020204"/>
              <a:cs typeface="Arial" panose="020B0604020202020204"/>
            </a:endParaRPr>
          </a:p>
        </p:txBody>
      </p:sp>
      <p:graphicFrame>
        <p:nvGraphicFramePr>
          <p:cNvPr id="3" name="Table 2"/>
          <p:cNvGraphicFramePr/>
          <p:nvPr>
            <p:custDataLst>
              <p:tags r:id="rId1"/>
            </p:custDataLst>
          </p:nvPr>
        </p:nvGraphicFramePr>
        <p:xfrm>
          <a:off x="983615" y="1772285"/>
          <a:ext cx="8821420" cy="3215640"/>
        </p:xfrm>
        <a:graphic>
          <a:graphicData uri="http://schemas.openxmlformats.org/drawingml/2006/table">
            <a:tbl>
              <a:tblPr firstRow="1" bandRow="1">
                <a:tableStyleId>{5C22544A-7EE6-4342-B048-85BDC9FD1C3A}</a:tableStyleId>
              </a:tblPr>
              <a:tblGrid>
                <a:gridCol w="574675"/>
                <a:gridCol w="8246745"/>
              </a:tblGrid>
              <a:tr h="381000">
                <a:tc>
                  <a:txBody>
                    <a:bodyPr/>
                    <a:p>
                      <a:pPr>
                        <a:buNone/>
                      </a:pPr>
                      <a:endParaRPr lang="en-IN" altLang="en-US"/>
                    </a:p>
                  </a:txBody>
                  <a:tcPr/>
                </a:tc>
                <a:tc>
                  <a:txBody>
                    <a:bodyPr/>
                    <a:p>
                      <a:pPr algn="ctr">
                        <a:buNone/>
                      </a:pPr>
                      <a:r>
                        <a:rPr lang="en-IN" altLang="en-US"/>
                        <a:t>Example</a:t>
                      </a:r>
                      <a:endParaRPr lang="en-IN" altLang="en-US"/>
                    </a:p>
                  </a:txBody>
                  <a:tcPr/>
                </a:tc>
              </a:tr>
              <a:tr h="381000">
                <a:tc>
                  <a:txBody>
                    <a:bodyPr/>
                    <a:p>
                      <a:pPr>
                        <a:buNone/>
                      </a:pPr>
                      <a:r>
                        <a:rPr lang="en-IN" altLang="en-US"/>
                        <a:t>1</a:t>
                      </a:r>
                      <a:endParaRPr lang="en-IN" altLang="en-US"/>
                    </a:p>
                  </a:txBody>
                  <a:tcPr/>
                </a:tc>
                <a:tc>
                  <a:txBody>
                    <a:bodyPr/>
                    <a:p>
                      <a:pPr>
                        <a:buNone/>
                      </a:pPr>
                      <a:r>
                        <a:rPr lang="en-US" altLang="en-US"/>
                        <a:t>A programmer misinterprets a requirement for user authentication, leading to an incorrect implementation of password complexity rules. </a:t>
                      </a:r>
                      <a:endParaRPr lang="en-US" altLang="en-US"/>
                    </a:p>
                  </a:txBody>
                  <a:tcPr/>
                </a:tc>
              </a:tr>
              <a:tr h="381000">
                <a:tc>
                  <a:txBody>
                    <a:bodyPr/>
                    <a:p>
                      <a:pPr>
                        <a:buNone/>
                      </a:pPr>
                      <a:r>
                        <a:rPr lang="en-IN" altLang="en-US"/>
                        <a:t>2</a:t>
                      </a:r>
                      <a:endParaRPr lang="en-IN" altLang="en-US"/>
                    </a:p>
                  </a:txBody>
                  <a:tcPr/>
                </a:tc>
                <a:tc>
                  <a:txBody>
                    <a:bodyPr/>
                    <a:p>
                      <a:pPr>
                        <a:buNone/>
                      </a:pPr>
                      <a:r>
                        <a:rPr lang="en-US" altLang="en-US"/>
                        <a:t>An e-commerce website experiences a complete system crash during peak traffic hours, making it impossible for users to browse products or make purchases, resulting in significant revenue loss.</a:t>
                      </a:r>
                      <a:endParaRPr lang="en-US" altLang="en-US"/>
                    </a:p>
                  </a:txBody>
                  <a:tcPr/>
                </a:tc>
              </a:tr>
              <a:tr h="381000">
                <a:tc>
                  <a:txBody>
                    <a:bodyPr/>
                    <a:p>
                      <a:pPr>
                        <a:buNone/>
                      </a:pPr>
                      <a:r>
                        <a:rPr lang="en-IN" altLang="en-US"/>
                        <a:t>3</a:t>
                      </a:r>
                      <a:endParaRPr lang="en-IN" altLang="en-US"/>
                    </a:p>
                  </a:txBody>
                  <a:tcPr/>
                </a:tc>
                <a:tc>
                  <a:txBody>
                    <a:bodyPr/>
                    <a:p>
                      <a:pPr>
                        <a:buNone/>
                      </a:pPr>
                      <a:r>
                        <a:rPr lang="en-US" altLang="en-US"/>
                        <a:t>A developer mistakenly uses x - y instead of x + y in a critical financial calculation module</a:t>
                      </a:r>
                      <a:endParaRPr lang="en-US" altLang="en-US"/>
                    </a:p>
                  </a:txBody>
                  <a:tcPr/>
                </a:tc>
              </a:tr>
              <a:tr h="381000">
                <a:tc>
                  <a:txBody>
                    <a:bodyPr/>
                    <a:p>
                      <a:pPr>
                        <a:buNone/>
                      </a:pPr>
                      <a:r>
                        <a:rPr lang="en-IN" altLang="en-US"/>
                        <a:t>4</a:t>
                      </a:r>
                      <a:endParaRPr lang="en-IN" altLang="en-US"/>
                    </a:p>
                  </a:txBody>
                  <a:tcPr/>
                </a:tc>
                <a:tc>
                  <a:txBody>
                    <a:bodyPr/>
                    <a:p>
                      <a:pPr>
                        <a:buNone/>
                      </a:pPr>
                      <a:r>
                        <a:rPr lang="en-US" altLang="en-US"/>
                        <a:t>A "Login" button on a website does not trigger any action when clicked, preventing users from accessing their accounts.</a:t>
                      </a:r>
                      <a:endParaRPr lang="en-US" altLang="en-US"/>
                    </a:p>
                  </a:txBody>
                  <a:tcPr/>
                </a:tc>
              </a:tr>
              <a:tr h="381000">
                <a:tc>
                  <a:txBody>
                    <a:bodyPr/>
                    <a:p>
                      <a:pPr>
                        <a:buNone/>
                      </a:pPr>
                      <a:r>
                        <a:rPr lang="en-IN" altLang="en-US"/>
                        <a:t>5</a:t>
                      </a:r>
                      <a:endParaRPr lang="en-IN" altLang="en-US"/>
                    </a:p>
                  </a:txBody>
                  <a:tcPr/>
                </a:tc>
                <a:tc>
                  <a:txBody>
                    <a:bodyPr/>
                    <a:p>
                      <a:pPr>
                        <a:buNone/>
                      </a:pPr>
                      <a:r>
                        <a:rPr lang="en-US" altLang="en-US"/>
                        <a:t>A false ballistic missile alert is sent to an entire state due to a software glitch, causing widespread panic and emergency response, despite no actual threat.</a:t>
                      </a:r>
                      <a:endParaRPr lang="en-US" altLang="en-US"/>
                    </a:p>
                  </a:txBody>
                  <a:tcPr/>
                </a:tc>
              </a:tr>
              <a:tr h="381000">
                <a:tc>
                  <a:txBody>
                    <a:bodyPr/>
                    <a:p>
                      <a:pPr>
                        <a:buNone/>
                      </a:pPr>
                      <a:r>
                        <a:rPr lang="en-IN" altLang="en-US"/>
                        <a:t>6</a:t>
                      </a:r>
                      <a:endParaRPr lang="en-IN" altLang="en-US"/>
                    </a:p>
                  </a:txBody>
                  <a:tcPr/>
                </a:tc>
                <a:tc>
                  <a:txBody>
                    <a:bodyPr/>
                    <a:p>
                      <a:pPr>
                        <a:buNone/>
                      </a:pPr>
                      <a:r>
                        <a:rPr lang="en-US" altLang="en-US"/>
                        <a:t>A login feature technically allows users to log in but fails to enforce all specified security requirements, such as multi-factor authentication integration or specific error messages for invalid attempts. </a:t>
                      </a:r>
                      <a:r>
                        <a:rPr lang="en-US" altLang="en-US"/>
                        <a:t> </a:t>
                      </a:r>
                      <a:endParaRPr lang="en-US" altLang="en-US"/>
                    </a:p>
                    <a:p>
                      <a:pPr>
                        <a:buNone/>
                      </a:pPr>
                      <a:endParaRPr lang="en-US" altLang="en-US"/>
                    </a:p>
                  </a:txBody>
                  <a:tcPr/>
                </a:tc>
              </a:tr>
            </a:tbl>
          </a:graphicData>
        </a:graphic>
      </p:graphicFrame>
      <p:sp>
        <p:nvSpPr>
          <p:cNvPr id="2" name="Text Box 1"/>
          <p:cNvSpPr txBox="1"/>
          <p:nvPr/>
        </p:nvSpPr>
        <p:spPr>
          <a:xfrm>
            <a:off x="10128250" y="2204720"/>
            <a:ext cx="1369060" cy="306705"/>
          </a:xfrm>
          <a:prstGeom prst="rect">
            <a:avLst/>
          </a:prstGeom>
          <a:solidFill>
            <a:schemeClr val="accent4"/>
          </a:solidFill>
        </p:spPr>
        <p:txBody>
          <a:bodyPr wrap="square" rtlCol="0">
            <a:spAutoFit/>
          </a:bodyPr>
          <a:p>
            <a:r>
              <a:rPr lang="en-IN" altLang="en-US"/>
              <a:t>ERROR</a:t>
            </a:r>
            <a:endParaRPr lang="en-IN" altLang="en-US"/>
          </a:p>
        </p:txBody>
      </p:sp>
      <p:sp>
        <p:nvSpPr>
          <p:cNvPr id="5" name="Text Box 4"/>
          <p:cNvSpPr txBox="1"/>
          <p:nvPr/>
        </p:nvSpPr>
        <p:spPr>
          <a:xfrm>
            <a:off x="10128250" y="2780665"/>
            <a:ext cx="1369060" cy="306705"/>
          </a:xfrm>
          <a:prstGeom prst="rect">
            <a:avLst/>
          </a:prstGeom>
          <a:solidFill>
            <a:srgbClr val="FF0000"/>
          </a:solidFill>
        </p:spPr>
        <p:txBody>
          <a:bodyPr wrap="square" rtlCol="0">
            <a:spAutoFit/>
          </a:bodyPr>
          <a:p>
            <a:r>
              <a:rPr lang="en-IN" altLang="en-US"/>
              <a:t>FAILURE</a:t>
            </a:r>
            <a:endParaRPr lang="en-IN" altLang="en-US"/>
          </a:p>
        </p:txBody>
      </p:sp>
      <p:sp>
        <p:nvSpPr>
          <p:cNvPr id="9" name="Text Box 8"/>
          <p:cNvSpPr txBox="1"/>
          <p:nvPr/>
        </p:nvSpPr>
        <p:spPr>
          <a:xfrm>
            <a:off x="10128250" y="3212465"/>
            <a:ext cx="1369060" cy="306705"/>
          </a:xfrm>
          <a:prstGeom prst="rect">
            <a:avLst/>
          </a:prstGeom>
          <a:solidFill>
            <a:schemeClr val="accent4"/>
          </a:solidFill>
        </p:spPr>
        <p:txBody>
          <a:bodyPr wrap="square" rtlCol="0">
            <a:spAutoFit/>
          </a:bodyPr>
          <a:p>
            <a:r>
              <a:rPr lang="en-IN" altLang="en-US"/>
              <a:t>ERROR</a:t>
            </a:r>
            <a:endParaRPr lang="en-IN" altLang="en-US"/>
          </a:p>
        </p:txBody>
      </p:sp>
      <p:sp>
        <p:nvSpPr>
          <p:cNvPr id="10" name="Text Box 9"/>
          <p:cNvSpPr txBox="1"/>
          <p:nvPr/>
        </p:nvSpPr>
        <p:spPr>
          <a:xfrm>
            <a:off x="10128250" y="3644900"/>
            <a:ext cx="1369060" cy="306705"/>
          </a:xfrm>
          <a:prstGeom prst="rect">
            <a:avLst/>
          </a:prstGeom>
          <a:solidFill>
            <a:schemeClr val="accent6"/>
          </a:solidFill>
        </p:spPr>
        <p:txBody>
          <a:bodyPr wrap="square" rtlCol="0">
            <a:spAutoFit/>
          </a:bodyPr>
          <a:p>
            <a:r>
              <a:rPr lang="en-IN" altLang="en-US"/>
              <a:t>BUG</a:t>
            </a:r>
            <a:endParaRPr lang="en-IN" altLang="en-US"/>
          </a:p>
        </p:txBody>
      </p:sp>
      <p:sp>
        <p:nvSpPr>
          <p:cNvPr id="12" name="Text Box 11"/>
          <p:cNvSpPr txBox="1"/>
          <p:nvPr/>
        </p:nvSpPr>
        <p:spPr>
          <a:xfrm>
            <a:off x="10128250" y="4140200"/>
            <a:ext cx="1369060" cy="306705"/>
          </a:xfrm>
          <a:prstGeom prst="rect">
            <a:avLst/>
          </a:prstGeom>
          <a:solidFill>
            <a:srgbClr val="FF0000"/>
          </a:solidFill>
        </p:spPr>
        <p:txBody>
          <a:bodyPr wrap="square" rtlCol="0">
            <a:spAutoFit/>
          </a:bodyPr>
          <a:p>
            <a:r>
              <a:rPr lang="en-IN" altLang="en-US"/>
              <a:t>FAILURE</a:t>
            </a:r>
            <a:endParaRPr lang="en-IN" altLang="en-US"/>
          </a:p>
        </p:txBody>
      </p:sp>
      <p:sp>
        <p:nvSpPr>
          <p:cNvPr id="13" name="Text Box 12"/>
          <p:cNvSpPr txBox="1"/>
          <p:nvPr/>
        </p:nvSpPr>
        <p:spPr>
          <a:xfrm>
            <a:off x="10128250" y="4725035"/>
            <a:ext cx="1369060" cy="306705"/>
          </a:xfrm>
          <a:prstGeom prst="rect">
            <a:avLst/>
          </a:prstGeom>
          <a:solidFill>
            <a:schemeClr val="accent6"/>
          </a:solidFill>
        </p:spPr>
        <p:txBody>
          <a:bodyPr wrap="square" rtlCol="0">
            <a:spAutoFit/>
          </a:bodyPr>
          <a:p>
            <a:r>
              <a:rPr lang="en-IN" altLang="en-US"/>
              <a:t>BUG</a:t>
            </a:r>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5" grpId="0" bldLvl="0" animBg="1"/>
      <p:bldP spid="5" grpId="1" animBg="1"/>
      <p:bldP spid="9" grpId="0" bldLvl="0" animBg="1"/>
      <p:bldP spid="9" grpId="1" animBg="1"/>
      <p:bldP spid="10" grpId="0" bldLvl="0" animBg="1"/>
      <p:bldP spid="10" grpId="1" animBg="1"/>
      <p:bldP spid="12" grpId="0" bldLvl="0" animBg="1"/>
      <p:bldP spid="12" grpId="1" animBg="1"/>
      <p:bldP spid="13" grpId="0" bldLvl="0" animBg="1"/>
      <p:bldP spid="13"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40105" y="457200"/>
            <a:ext cx="10965815" cy="494030"/>
          </a:xfrm>
          <a:prstGeom prst="rect">
            <a:avLst/>
          </a:prstGeom>
          <a:solidFill>
            <a:schemeClr val="accent1">
              <a:lumMod val="60000"/>
              <a:lumOff val="4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Activity 1.8</a:t>
            </a:r>
            <a:endParaRPr lang="en-IN" sz="2000" u="sng">
              <a:latin typeface="Arial" panose="020B0604020202020204"/>
              <a:ea typeface="Arial" panose="020B0604020202020204"/>
              <a:cs typeface="Arial" panose="020B0604020202020204"/>
              <a:sym typeface="Arial" panose="020B0604020202020204"/>
            </a:endParaRPr>
          </a:p>
        </p:txBody>
      </p:sp>
      <p:sp>
        <p:nvSpPr>
          <p:cNvPr id="103" name="Google Shape;103;p16"/>
          <p:cNvSpPr txBox="1"/>
          <p:nvPr>
            <p:ph type="body" idx="1"/>
          </p:nvPr>
        </p:nvSpPr>
        <p:spPr>
          <a:xfrm>
            <a:off x="839470" y="1196340"/>
            <a:ext cx="10951210" cy="53149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IN" sz="1400">
                <a:latin typeface="Arial" panose="020B0604020202020204"/>
                <a:ea typeface="Arial" panose="020B0604020202020204"/>
                <a:cs typeface="Arial" panose="020B0604020202020204"/>
              </a:rPr>
              <a:t>Differentiate the following into Errors, Bugs and Failures</a:t>
            </a:r>
            <a:endParaRPr lang="en-IN" sz="1400">
              <a:latin typeface="Arial" panose="020B0604020202020204"/>
              <a:ea typeface="Arial" panose="020B0604020202020204"/>
              <a:cs typeface="Arial" panose="020B0604020202020204"/>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Testing Life Cycle (STLC)</a:t>
            </a:r>
            <a:endParaRPr lang="en-IN" sz="2000" u="sng">
              <a:latin typeface="Arial" panose="020B0604020202020204"/>
              <a:ea typeface="Arial" panose="020B0604020202020204"/>
              <a:cs typeface="Arial" panose="020B0604020202020204"/>
              <a:sym typeface="Arial" panose="020B0604020202020204"/>
            </a:endParaRPr>
          </a:p>
        </p:txBody>
      </p:sp>
      <p:sp>
        <p:nvSpPr>
          <p:cNvPr id="3" name="Text Box 2"/>
          <p:cNvSpPr txBox="1"/>
          <p:nvPr/>
        </p:nvSpPr>
        <p:spPr>
          <a:xfrm>
            <a:off x="767080" y="916305"/>
            <a:ext cx="10609580" cy="3925570"/>
          </a:xfrm>
          <a:prstGeom prst="rect">
            <a:avLst/>
          </a:prstGeom>
          <a:noFill/>
        </p:spPr>
        <p:txBody>
          <a:bodyPr wrap="square" rtlCol="0">
            <a:spAutoFit/>
          </a:bodyPr>
          <a:p>
            <a:pPr marL="285750" indent="-285750">
              <a:lnSpc>
                <a:spcPct val="150000"/>
              </a:lnSpc>
              <a:buFont typeface="Wingdings" panose="05000000000000000000" charset="0"/>
              <a:buChar char="Ø"/>
            </a:pPr>
            <a:r>
              <a:rPr lang="en-IN" altLang="en-US"/>
              <a:t>This is a series of steps / actions carried out </a:t>
            </a:r>
            <a:r>
              <a:rPr lang="en-US" altLang="en-US"/>
              <a:t>by the testing team to ensure the quality of the software or product</a:t>
            </a:r>
            <a:endParaRPr lang="en-US" altLang="en-US"/>
          </a:p>
          <a:p>
            <a:pPr marL="285750" indent="-285750">
              <a:lnSpc>
                <a:spcPct val="150000"/>
              </a:lnSpc>
              <a:buFont typeface="Wingdings" panose="05000000000000000000" charset="0"/>
              <a:buChar char="Ø"/>
            </a:pPr>
            <a:r>
              <a:rPr lang="en-IN" altLang="en-US"/>
              <a:t>It consists of the phases listed below. Each phase is studied usinng 3 points, WHY the step is carried out, what is it’s purpose. HOW it is carried out, what are the inputs and finally WHAT it gives as the output.</a:t>
            </a:r>
            <a:endParaRPr lang="en-IN" altLang="en-US"/>
          </a:p>
          <a:p>
            <a:pPr marL="285750" indent="-285750">
              <a:lnSpc>
                <a:spcPct val="150000"/>
              </a:lnSpc>
              <a:buFont typeface="Wingdings" panose="05000000000000000000" charset="0"/>
              <a:buChar char="Ø"/>
            </a:pPr>
            <a:r>
              <a:rPr lang="en-IN" altLang="en-US"/>
              <a:t>Significance / advantages of STLC</a:t>
            </a:r>
            <a:endParaRPr lang="en-IN" altLang="en-US"/>
          </a:p>
          <a:p>
            <a:pPr marL="457200" lvl="1" indent="0">
              <a:lnSpc>
                <a:spcPct val="150000"/>
              </a:lnSpc>
              <a:buFont typeface="Wingdings" panose="05000000000000000000" charset="0"/>
              <a:buNone/>
            </a:pPr>
            <a:r>
              <a:rPr lang="en-IN" altLang="en-US"/>
              <a:t>1. </a:t>
            </a:r>
            <a:r>
              <a:rPr lang="en-US" altLang="en-US"/>
              <a:t>Systematic Approach: Provides a structured and organized way to perform testing.</a:t>
            </a:r>
            <a:endParaRPr lang="en-US" altLang="en-US"/>
          </a:p>
          <a:p>
            <a:pPr marL="457200" lvl="1" indent="0">
              <a:lnSpc>
                <a:spcPct val="150000"/>
              </a:lnSpc>
              <a:buFont typeface="Wingdings" panose="05000000000000000000" charset="0"/>
              <a:buNone/>
            </a:pPr>
            <a:r>
              <a:rPr lang="en-IN" altLang="en-US"/>
              <a:t>2. </a:t>
            </a:r>
            <a:r>
              <a:rPr lang="en-US" altLang="en-US"/>
              <a:t>Improved Quality: Helps identify defects early, leading to higher quality software.</a:t>
            </a:r>
            <a:endParaRPr lang="en-US" altLang="en-US"/>
          </a:p>
          <a:p>
            <a:pPr marL="457200" lvl="1" indent="0">
              <a:lnSpc>
                <a:spcPct val="150000"/>
              </a:lnSpc>
              <a:buFont typeface="Wingdings" panose="05000000000000000000" charset="0"/>
              <a:buNone/>
            </a:pPr>
            <a:r>
              <a:rPr lang="en-IN" altLang="en-US"/>
              <a:t>3. </a:t>
            </a:r>
            <a:r>
              <a:rPr lang="en-US" altLang="en-US"/>
              <a:t>Better Planning: Ensures comprehensive test coverage and efficient resource utilization.</a:t>
            </a:r>
            <a:endParaRPr lang="en-US" altLang="en-US"/>
          </a:p>
          <a:p>
            <a:pPr marL="457200" lvl="1" indent="0">
              <a:lnSpc>
                <a:spcPct val="150000"/>
              </a:lnSpc>
              <a:buFont typeface="Wingdings" panose="05000000000000000000" charset="0"/>
              <a:buNone/>
            </a:pPr>
            <a:r>
              <a:rPr lang="en-IN" altLang="en-US"/>
              <a:t>4. </a:t>
            </a:r>
            <a:r>
              <a:rPr lang="en-US" altLang="en-US"/>
              <a:t>Reduced Risks: Mitigates the risks associated with software failures.</a:t>
            </a:r>
            <a:endParaRPr lang="en-US" altLang="en-US"/>
          </a:p>
          <a:p>
            <a:pPr marL="457200" lvl="1" indent="0">
              <a:lnSpc>
                <a:spcPct val="150000"/>
              </a:lnSpc>
              <a:buFont typeface="Wingdings" panose="05000000000000000000" charset="0"/>
              <a:buNone/>
            </a:pPr>
            <a:r>
              <a:rPr lang="en-IN" altLang="en-US"/>
              <a:t>5. </a:t>
            </a:r>
            <a:r>
              <a:rPr lang="en-US" altLang="en-US"/>
              <a:t>Cost-Effective: Catching defects early reduces the cost of fixing them later in the development cycle.</a:t>
            </a:r>
            <a:endParaRPr lang="en-US" altLang="en-US"/>
          </a:p>
          <a:p>
            <a:pPr marL="285750" lvl="0" indent="-285750">
              <a:lnSpc>
                <a:spcPct val="150000"/>
              </a:lnSpc>
              <a:buFont typeface="Wingdings" panose="05000000000000000000" charset="0"/>
              <a:buChar char="Ø"/>
            </a:pPr>
            <a:r>
              <a:rPr lang="en-US" altLang="en-US"/>
              <a:t>The STLC is often iterative, especially in agile methodologies. While the core phases remain, they might be compressed or repeated within sprints.</a:t>
            </a:r>
            <a:endParaRPr lang="en-US" altLang="en-US"/>
          </a:p>
          <a:p>
            <a:pPr marL="457200" lvl="1" indent="0">
              <a:lnSpc>
                <a:spcPct val="130000"/>
              </a:lnSpc>
              <a:buFont typeface="Wingdings" panose="05000000000000000000" charset="0"/>
              <a:buNone/>
            </a:pP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Testing Life Cycle (STLC)</a:t>
            </a:r>
            <a:endParaRPr lang="en-IN" sz="2000" u="sng">
              <a:latin typeface="Arial" panose="020B0604020202020204"/>
              <a:ea typeface="Arial" panose="020B0604020202020204"/>
              <a:cs typeface="Arial" panose="020B0604020202020204"/>
              <a:sym typeface="Arial" panose="020B0604020202020204"/>
            </a:endParaRPr>
          </a:p>
        </p:txBody>
      </p:sp>
      <p:sp>
        <p:nvSpPr>
          <p:cNvPr id="2" name="Diagram 0"/>
          <p:cNvSpPr txBox="1"/>
          <p:nvPr/>
        </p:nvSpPr>
        <p:spPr>
          <a:xfrm>
            <a:off x="839470" y="980440"/>
            <a:ext cx="9588500" cy="3057525"/>
          </a:xfrm>
          <a:prstGeom prst="rect">
            <a:avLst/>
          </a:prstGeom>
          <a:noFill/>
        </p:spPr>
        <p:txBody>
          <a:bodyPr wrap="square" rtlCol="0" anchor="t">
            <a:noAutofit/>
          </a:bodyPr>
          <a:p>
            <a:pPr lvl="0" indent="0">
              <a:buNone/>
            </a:pPr>
            <a:r>
              <a:rPr lang="en-IN" b="1" u="sng"/>
              <a:t>Phase 1 - </a:t>
            </a:r>
            <a:r>
              <a:rPr b="1" u="sng"/>
              <a:t>Requirements Analysis</a:t>
            </a:r>
            <a:endParaRPr b="1" u="sng"/>
          </a:p>
          <a:p>
            <a:pPr lvl="0" indent="0">
              <a:buNone/>
            </a:pPr>
            <a:endParaRPr b="1" u="sng"/>
          </a:p>
          <a:p>
            <a:pPr marL="0" lvl="1" indent="0">
              <a:buNone/>
            </a:pPr>
            <a:r>
              <a:rPr b="1"/>
              <a:t>WHY</a:t>
            </a:r>
            <a:r>
              <a:t>- </a:t>
            </a:r>
          </a:p>
          <a:p>
            <a:pPr marL="742950" lvl="2" indent="-285750">
              <a:buFont typeface="Wingdings" panose="05000000000000000000" charset="0"/>
              <a:buChar char="ü"/>
            </a:pPr>
            <a:r>
              <a:t>Done to understand user requirements and identify testable aspects of the application - WHAT AND HOW of the applicatio</a:t>
            </a:r>
            <a:r>
              <a:rPr lang="en-IN"/>
              <a:t>n</a:t>
            </a:r>
            <a:endParaRPr lang="en-IN"/>
          </a:p>
          <a:p>
            <a:pPr lvl="1" indent="0">
              <a:buNone/>
            </a:pPr>
          </a:p>
          <a:p>
            <a:pPr lvl="1" indent="0">
              <a:buNone/>
            </a:pPr>
            <a:r>
              <a:rPr b="1"/>
              <a:t>HOW</a:t>
            </a:r>
            <a:r>
              <a:t> - </a:t>
            </a:r>
          </a:p>
          <a:p>
            <a:pPr marL="742950" lvl="2" indent="-285750">
              <a:buFont typeface="Wingdings" panose="05000000000000000000" charset="0"/>
              <a:buChar char="ü"/>
            </a:pPr>
            <a:r>
              <a:t>Business Requirement Specification (BRS), Functional Requirement Specification</a:t>
            </a:r>
            <a:r>
              <a:rPr lang="en-IN"/>
              <a:t> </a:t>
            </a:r>
            <a:r>
              <a:t>(FRS), and other relevant documents are reviewed </a:t>
            </a:r>
          </a:p>
          <a:p>
            <a:pPr marL="742950" lvl="2" indent="-285750">
              <a:buFont typeface="Wingdings" panose="05000000000000000000" charset="0"/>
              <a:buChar char="ü"/>
            </a:pPr>
            <a:r>
              <a:t>Scope of testing is determined </a:t>
            </a:r>
          </a:p>
          <a:p>
            <a:pPr marL="742950" lvl="2" indent="-285750">
              <a:buFont typeface="Wingdings" panose="05000000000000000000" charset="0"/>
              <a:buChar char="ü"/>
            </a:pPr>
            <a:r>
              <a:t>Interactions with stake holders are carried out</a:t>
            </a:r>
          </a:p>
          <a:p>
            <a:pPr marL="742950" lvl="2" indent="-285750">
              <a:buFont typeface="Wingdings" panose="05000000000000000000" charset="0"/>
              <a:buChar char="ü"/>
            </a:pPr>
            <a:r>
              <a:t>Which type(s) of testing (functional / non functional ,etc) will be required is identified.</a:t>
            </a:r>
          </a:p>
          <a:p>
            <a:pPr marL="457200" lvl="2" indent="0">
              <a:buFont typeface="Wingdings" panose="05000000000000000000" charset="0"/>
              <a:buNone/>
            </a:pPr>
          </a:p>
          <a:p>
            <a:pPr lvl="1" indent="0">
              <a:buNone/>
            </a:pPr>
            <a:r>
              <a:rPr b="1"/>
              <a:t>WHAT</a:t>
            </a:r>
            <a:r>
              <a:t> - </a:t>
            </a:r>
          </a:p>
          <a:p>
            <a:pPr lvl="1" indent="457200">
              <a:buNone/>
            </a:pPr>
            <a:r>
              <a:t>Produces - </a:t>
            </a:r>
          </a:p>
          <a:p>
            <a:pPr marL="457200" lvl="2" indent="457200">
              <a:buNone/>
            </a:pPr>
            <a:r>
              <a:t>1. RTM - Requirements Tracebility Matrix which maps test cases to requirements. </a:t>
            </a:r>
          </a:p>
          <a:p>
            <a:pPr lvl="1" indent="0">
              <a:buNone/>
            </a:pPr>
            <a:r>
              <a:t>                   2. List of questions and their explanation.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Testing Life Cycle (STLC)</a:t>
            </a:r>
            <a:endParaRPr lang="en-IN" sz="2000" u="sng">
              <a:latin typeface="Arial" panose="020B0604020202020204"/>
              <a:ea typeface="Arial" panose="020B0604020202020204"/>
              <a:cs typeface="Arial" panose="020B0604020202020204"/>
              <a:sym typeface="Arial" panose="020B0604020202020204"/>
            </a:endParaRPr>
          </a:p>
        </p:txBody>
      </p:sp>
      <p:sp>
        <p:nvSpPr>
          <p:cNvPr id="2" name="Diagram 0"/>
          <p:cNvSpPr txBox="1"/>
          <p:nvPr/>
        </p:nvSpPr>
        <p:spPr>
          <a:xfrm>
            <a:off x="911225" y="980440"/>
            <a:ext cx="9588500" cy="3057525"/>
          </a:xfrm>
          <a:prstGeom prst="rect">
            <a:avLst/>
          </a:prstGeom>
          <a:noFill/>
        </p:spPr>
        <p:txBody>
          <a:bodyPr wrap="square" rtlCol="0" anchor="t">
            <a:noAutofit/>
          </a:bodyPr>
          <a:p>
            <a:pPr lvl="0" indent="0">
              <a:buNone/>
            </a:pPr>
            <a:r>
              <a:rPr lang="en-IN" b="1" u="sng"/>
              <a:t>Phase 2 - Test Planning</a:t>
            </a:r>
            <a:endParaRPr b="1" u="sng"/>
          </a:p>
          <a:p>
            <a:pPr lvl="0" indent="0">
              <a:buNone/>
            </a:pPr>
            <a:endParaRPr b="1" u="sng"/>
          </a:p>
          <a:p>
            <a:pPr marL="0" lvl="1" indent="0">
              <a:buNone/>
            </a:pPr>
            <a:r>
              <a:rPr b="1"/>
              <a:t>WHY</a:t>
            </a:r>
            <a:r>
              <a:t>- </a:t>
            </a:r>
          </a:p>
          <a:p>
            <a:pPr marL="742950" lvl="2" indent="-285750">
              <a:buFont typeface="Wingdings" panose="05000000000000000000" charset="0"/>
              <a:buChar char="ü"/>
            </a:pPr>
            <a:r>
              <a:rPr lang="en-US" altLang="en-US"/>
              <a:t>To define the scope, objectives, strategy, and resources required for the testing effort.</a:t>
            </a:r>
            <a:endParaRPr lang="en-US" altLang="en-US"/>
          </a:p>
          <a:p>
            <a:pPr lvl="1" indent="0">
              <a:buNone/>
            </a:pPr>
          </a:p>
          <a:p>
            <a:pPr lvl="1" indent="0">
              <a:buNone/>
            </a:pPr>
            <a:r>
              <a:rPr b="1"/>
              <a:t>HOW</a:t>
            </a:r>
            <a:r>
              <a:t> - </a:t>
            </a:r>
          </a:p>
          <a:p>
            <a:pPr marL="742950" lvl="2" indent="-285750">
              <a:lnSpc>
                <a:spcPct val="120000"/>
              </a:lnSpc>
              <a:buFont typeface="Wingdings" panose="05000000000000000000" charset="0"/>
              <a:buChar char="ü"/>
            </a:pPr>
            <a:r>
              <a:rPr lang="en-US" altLang="en-US"/>
              <a:t>Defining the test strategy and approach.</a:t>
            </a:r>
            <a:endParaRPr lang="en-US" altLang="en-US"/>
          </a:p>
          <a:p>
            <a:pPr marL="742950" lvl="2" indent="-285750">
              <a:lnSpc>
                <a:spcPct val="120000"/>
              </a:lnSpc>
              <a:buFont typeface="Wingdings" panose="05000000000000000000" charset="0"/>
              <a:buChar char="ü"/>
            </a:pPr>
            <a:r>
              <a:rPr lang="en-US" altLang="en-US"/>
              <a:t>Estimating the testing effort and cost.</a:t>
            </a:r>
            <a:endParaRPr lang="en-US" altLang="en-US"/>
          </a:p>
          <a:p>
            <a:pPr marL="742950" lvl="2" indent="-285750">
              <a:lnSpc>
                <a:spcPct val="120000"/>
              </a:lnSpc>
              <a:buFont typeface="Wingdings" panose="05000000000000000000" charset="0"/>
              <a:buChar char="ü"/>
            </a:pPr>
            <a:r>
              <a:rPr lang="en-US" altLang="en-US"/>
              <a:t>Identifying the test environment requirements.</a:t>
            </a:r>
            <a:endParaRPr lang="en-US" altLang="en-US"/>
          </a:p>
          <a:p>
            <a:pPr marL="742950" lvl="2" indent="-285750">
              <a:lnSpc>
                <a:spcPct val="120000"/>
              </a:lnSpc>
              <a:buFont typeface="Wingdings" panose="05000000000000000000" charset="0"/>
              <a:buChar char="ü"/>
            </a:pPr>
            <a:r>
              <a:rPr lang="en-US" altLang="en-US"/>
              <a:t>Selecting the testing tools (e.g., test management, automation).</a:t>
            </a:r>
            <a:endParaRPr lang="en-US" altLang="en-US"/>
          </a:p>
          <a:p>
            <a:pPr marL="742950" lvl="2" indent="-285750">
              <a:lnSpc>
                <a:spcPct val="120000"/>
              </a:lnSpc>
              <a:buFont typeface="Wingdings" panose="05000000000000000000" charset="0"/>
              <a:buChar char="ü"/>
            </a:pPr>
            <a:r>
              <a:rPr lang="en-US" altLang="en-US"/>
              <a:t>Defining roles and responsibilities.</a:t>
            </a:r>
            <a:endParaRPr lang="en-US" altLang="en-US"/>
          </a:p>
          <a:p>
            <a:pPr marL="742950" lvl="2" indent="-285750">
              <a:lnSpc>
                <a:spcPct val="120000"/>
              </a:lnSpc>
              <a:buFont typeface="Wingdings" panose="05000000000000000000" charset="0"/>
              <a:buChar char="ü"/>
            </a:pPr>
            <a:r>
              <a:rPr lang="en-US" altLang="en-US"/>
              <a:t>Creating a detailed test plan document.</a:t>
            </a:r>
            <a:endParaRPr lang="en-US" altLang="en-US"/>
          </a:p>
          <a:p>
            <a:pPr marL="742950" lvl="2" indent="-285750">
              <a:lnSpc>
                <a:spcPct val="120000"/>
              </a:lnSpc>
              <a:buFont typeface="Wingdings" panose="05000000000000000000" charset="0"/>
              <a:buChar char="ü"/>
            </a:pPr>
            <a:r>
              <a:rPr lang="en-US" altLang="en-US"/>
              <a:t>Identifying risks and mitigation plans.</a:t>
            </a:r>
            <a:endParaRPr lang="en-US" altLang="en-US"/>
          </a:p>
          <a:p>
            <a:pPr marL="457200" lvl="2" indent="0">
              <a:lnSpc>
                <a:spcPct val="120000"/>
              </a:lnSpc>
              <a:buFont typeface="Wingdings" panose="05000000000000000000" charset="0"/>
              <a:buNone/>
            </a:pPr>
            <a:endParaRPr lang="en-US" altLang="en-US"/>
          </a:p>
          <a:p>
            <a:pPr lvl="1" indent="0">
              <a:buNone/>
            </a:pPr>
            <a:r>
              <a:rPr b="1"/>
              <a:t>WHAT</a:t>
            </a:r>
            <a:r>
              <a:t> - </a:t>
            </a:r>
            <a:r>
              <a:rPr lang="en-IN"/>
              <a:t>Produces - </a:t>
            </a:r>
            <a:endParaRPr lang="en-IN"/>
          </a:p>
          <a:p>
            <a:pPr lvl="1" indent="457200">
              <a:lnSpc>
                <a:spcPct val="110000"/>
              </a:lnSpc>
              <a:buNone/>
            </a:pPr>
            <a:r>
              <a:rPr lang="en-IN" altLang="en-US"/>
              <a:t>1. </a:t>
            </a:r>
            <a:r>
              <a:rPr lang="en-US" altLang="en-US"/>
              <a:t>Test Plan document.</a:t>
            </a:r>
            <a:endParaRPr lang="en-US" altLang="en-US"/>
          </a:p>
          <a:p>
            <a:pPr lvl="1" indent="457200">
              <a:lnSpc>
                <a:spcPct val="110000"/>
              </a:lnSpc>
              <a:buNone/>
            </a:pPr>
            <a:r>
              <a:rPr lang="en-IN" altLang="en-US"/>
              <a:t>2. </a:t>
            </a:r>
            <a:r>
              <a:rPr lang="en-US" altLang="en-US"/>
              <a:t>Effort estimations.</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Testing Life Cycle (STLC)</a:t>
            </a:r>
            <a:endParaRPr lang="en-IN" sz="2000" u="sng">
              <a:latin typeface="Arial" panose="020B0604020202020204"/>
              <a:ea typeface="Arial" panose="020B0604020202020204"/>
              <a:cs typeface="Arial" panose="020B0604020202020204"/>
              <a:sym typeface="Arial" panose="020B0604020202020204"/>
            </a:endParaRPr>
          </a:p>
        </p:txBody>
      </p:sp>
      <p:sp>
        <p:nvSpPr>
          <p:cNvPr id="2" name="Diagram 0"/>
          <p:cNvSpPr txBox="1"/>
          <p:nvPr/>
        </p:nvSpPr>
        <p:spPr>
          <a:xfrm>
            <a:off x="911225" y="980440"/>
            <a:ext cx="9588500" cy="3057525"/>
          </a:xfrm>
          <a:prstGeom prst="rect">
            <a:avLst/>
          </a:prstGeom>
          <a:noFill/>
        </p:spPr>
        <p:txBody>
          <a:bodyPr wrap="square" rtlCol="0" anchor="t">
            <a:noAutofit/>
          </a:bodyPr>
          <a:p>
            <a:pPr lvl="0" indent="0">
              <a:buNone/>
            </a:pPr>
            <a:r>
              <a:rPr lang="en-IN" b="1" u="sng"/>
              <a:t>Phase 3 - </a:t>
            </a:r>
            <a:r>
              <a:rPr lang="en-US" altLang="en-US" b="1" u="sng"/>
              <a:t>Test Case Development</a:t>
            </a:r>
            <a:endParaRPr lang="en-US" altLang="en-US" b="1" u="sng"/>
          </a:p>
          <a:p>
            <a:pPr lvl="0" indent="0">
              <a:buNone/>
            </a:pPr>
            <a:endParaRPr b="1" u="sng"/>
          </a:p>
          <a:p>
            <a:pPr marL="0" lvl="1" indent="0">
              <a:buNone/>
            </a:pPr>
            <a:r>
              <a:rPr b="1"/>
              <a:t>WHY</a:t>
            </a:r>
            <a:r>
              <a:t>- </a:t>
            </a:r>
          </a:p>
          <a:p>
            <a:pPr marL="742950" lvl="2" indent="-285750">
              <a:buFont typeface="Wingdings" panose="05000000000000000000" charset="0"/>
              <a:buChar char="ü"/>
            </a:pPr>
            <a:r>
              <a:rPr lang="en-US" altLang="en-US"/>
              <a:t>To design and develop detailed test cases and scripts based on the requirements.</a:t>
            </a:r>
            <a:endParaRPr lang="en-US" altLang="en-US"/>
          </a:p>
          <a:p>
            <a:pPr marL="457200" lvl="2" indent="0">
              <a:buFont typeface="Wingdings" panose="05000000000000000000" charset="0"/>
              <a:buNone/>
            </a:pPr>
            <a:endParaRPr lang="en-US" altLang="en-US"/>
          </a:p>
          <a:p>
            <a:pPr lvl="1" indent="0">
              <a:buNone/>
            </a:pPr>
            <a:r>
              <a:rPr b="1"/>
              <a:t>HOW</a:t>
            </a:r>
            <a:r>
              <a:t> - </a:t>
            </a:r>
          </a:p>
          <a:p>
            <a:pPr marL="742950" lvl="2" indent="-285750">
              <a:lnSpc>
                <a:spcPct val="130000"/>
              </a:lnSpc>
              <a:buFont typeface="Wingdings" panose="05000000000000000000" charset="0"/>
              <a:buChar char="ü"/>
            </a:pPr>
            <a:r>
              <a:rPr lang="en-US" altLang="en-US"/>
              <a:t>Creating test scenarios (high-level descriptions of what to test).</a:t>
            </a:r>
            <a:endParaRPr lang="en-US" altLang="en-US"/>
          </a:p>
          <a:p>
            <a:pPr marL="742950" lvl="2" indent="-285750">
              <a:lnSpc>
                <a:spcPct val="130000"/>
              </a:lnSpc>
              <a:buFont typeface="Wingdings" panose="05000000000000000000" charset="0"/>
              <a:buChar char="ü"/>
            </a:pPr>
            <a:r>
              <a:rPr lang="en-US" altLang="en-US"/>
              <a:t>Writing detailed test cases, including preconditions, test data, steps to execute, expected results, and post-conditions.</a:t>
            </a:r>
            <a:endParaRPr lang="en-US" altLang="en-US"/>
          </a:p>
          <a:p>
            <a:pPr marL="742950" lvl="2" indent="-285750">
              <a:lnSpc>
                <a:spcPct val="130000"/>
              </a:lnSpc>
              <a:buFont typeface="Wingdings" panose="05000000000000000000" charset="0"/>
              <a:buChar char="ü"/>
            </a:pPr>
            <a:r>
              <a:rPr lang="en-US" altLang="en-US"/>
              <a:t>Designing test data.</a:t>
            </a:r>
            <a:endParaRPr lang="en-US" altLang="en-US"/>
          </a:p>
          <a:p>
            <a:pPr marL="742950" lvl="2" indent="-285750">
              <a:lnSpc>
                <a:spcPct val="130000"/>
              </a:lnSpc>
              <a:buFont typeface="Wingdings" panose="05000000000000000000" charset="0"/>
              <a:buChar char="ü"/>
            </a:pPr>
            <a:r>
              <a:rPr lang="en-US" altLang="en-US"/>
              <a:t>Reviewing baseline test cases.</a:t>
            </a:r>
            <a:endParaRPr lang="en-US" altLang="en-US"/>
          </a:p>
          <a:p>
            <a:pPr marL="742950" lvl="2" indent="-285750">
              <a:lnSpc>
                <a:spcPct val="130000"/>
              </a:lnSpc>
              <a:buFont typeface="Wingdings" panose="05000000000000000000" charset="0"/>
              <a:buChar char="ü"/>
            </a:pPr>
            <a:r>
              <a:rPr lang="en-US" altLang="en-US"/>
              <a:t>(If applicable) Developing automation scripts.</a:t>
            </a:r>
            <a:endParaRPr lang="en-US" altLang="en-US"/>
          </a:p>
          <a:p>
            <a:pPr marL="457200" lvl="2" indent="0">
              <a:lnSpc>
                <a:spcPct val="120000"/>
              </a:lnSpc>
              <a:buFont typeface="Wingdings" panose="05000000000000000000" charset="0"/>
              <a:buNone/>
            </a:pPr>
            <a:endParaRPr lang="en-US" altLang="en-US"/>
          </a:p>
          <a:p>
            <a:pPr lvl="1" indent="0">
              <a:buNone/>
            </a:pPr>
            <a:r>
              <a:rPr b="1"/>
              <a:t>WHAT</a:t>
            </a:r>
            <a:r>
              <a:t> - </a:t>
            </a:r>
            <a:r>
              <a:rPr lang="en-IN"/>
              <a:t>Produces - </a:t>
            </a:r>
            <a:endParaRPr lang="en-IN"/>
          </a:p>
          <a:p>
            <a:pPr lvl="1" indent="457200">
              <a:lnSpc>
                <a:spcPct val="110000"/>
              </a:lnSpc>
              <a:buNone/>
            </a:pPr>
            <a:r>
              <a:rPr lang="en-IN" altLang="en-US"/>
              <a:t>1. </a:t>
            </a:r>
            <a:r>
              <a:rPr lang="en-US" altLang="en-US"/>
              <a:t>Test cases.</a:t>
            </a:r>
            <a:endParaRPr lang="en-US" altLang="en-US"/>
          </a:p>
          <a:p>
            <a:pPr lvl="1" indent="457200">
              <a:lnSpc>
                <a:spcPct val="110000"/>
              </a:lnSpc>
              <a:buNone/>
            </a:pPr>
            <a:r>
              <a:rPr lang="en-IN" altLang="en-US"/>
              <a:t>2. </a:t>
            </a:r>
            <a:r>
              <a:rPr lang="en-US" altLang="en-US"/>
              <a:t>Test scripts (for automation).</a:t>
            </a:r>
            <a:endParaRPr lang="en-US" altLang="en-US"/>
          </a:p>
          <a:p>
            <a:pPr lvl="1" indent="457200">
              <a:lnSpc>
                <a:spcPct val="110000"/>
              </a:lnSpc>
              <a:buNone/>
            </a:pPr>
            <a:r>
              <a:rPr lang="en-IN" altLang="en-US"/>
              <a:t>3. </a:t>
            </a:r>
            <a:r>
              <a:rPr lang="en-US" altLang="en-US"/>
              <a:t>Test data.</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Testing Life Cycle (STLC)</a:t>
            </a:r>
            <a:endParaRPr lang="en-IN" sz="2000" u="sng">
              <a:latin typeface="Arial" panose="020B0604020202020204"/>
              <a:ea typeface="Arial" panose="020B0604020202020204"/>
              <a:cs typeface="Arial" panose="020B0604020202020204"/>
              <a:sym typeface="Arial" panose="020B0604020202020204"/>
            </a:endParaRPr>
          </a:p>
        </p:txBody>
      </p:sp>
      <p:sp>
        <p:nvSpPr>
          <p:cNvPr id="2" name="Diagram 0"/>
          <p:cNvSpPr txBox="1"/>
          <p:nvPr/>
        </p:nvSpPr>
        <p:spPr>
          <a:xfrm>
            <a:off x="911225" y="980440"/>
            <a:ext cx="9588500" cy="3057525"/>
          </a:xfrm>
          <a:prstGeom prst="rect">
            <a:avLst/>
          </a:prstGeom>
          <a:noFill/>
        </p:spPr>
        <p:txBody>
          <a:bodyPr wrap="square" rtlCol="0" anchor="t">
            <a:noAutofit/>
          </a:bodyPr>
          <a:p>
            <a:pPr lvl="0" indent="0">
              <a:buNone/>
            </a:pPr>
            <a:r>
              <a:rPr lang="en-IN" b="1" u="sng"/>
              <a:t>Phase 4 - </a:t>
            </a:r>
            <a:r>
              <a:rPr lang="en-US" altLang="en-US" b="1" u="sng"/>
              <a:t>Test Environment Setup</a:t>
            </a:r>
            <a:endParaRPr lang="en-US" altLang="en-US" b="1" u="sng"/>
          </a:p>
          <a:p>
            <a:pPr lvl="0" indent="0">
              <a:buNone/>
            </a:pPr>
            <a:endParaRPr lang="en-US" altLang="en-US" b="1" u="sng"/>
          </a:p>
          <a:p>
            <a:pPr marL="0" lvl="1" indent="0">
              <a:buNone/>
            </a:pPr>
            <a:r>
              <a:rPr b="1"/>
              <a:t>WHY</a:t>
            </a:r>
            <a:r>
              <a:t>- </a:t>
            </a:r>
          </a:p>
          <a:p>
            <a:pPr marL="742950" lvl="2" indent="-285750">
              <a:buFont typeface="Wingdings" panose="05000000000000000000" charset="0"/>
              <a:buChar char="ü"/>
            </a:pPr>
            <a:r>
              <a:rPr lang="en-US" altLang="en-US"/>
              <a:t>To prepare the necessary hardware, software, and network configurations for testing.</a:t>
            </a:r>
            <a:endParaRPr lang="en-US" altLang="en-US"/>
          </a:p>
          <a:p>
            <a:pPr marL="457200" lvl="2" indent="0">
              <a:buFont typeface="Wingdings" panose="05000000000000000000" charset="0"/>
              <a:buNone/>
            </a:pPr>
            <a:endParaRPr lang="en-US" altLang="en-US"/>
          </a:p>
          <a:p>
            <a:pPr lvl="1" indent="0">
              <a:buNone/>
            </a:pPr>
            <a:r>
              <a:rPr b="1"/>
              <a:t>HOW</a:t>
            </a:r>
            <a:r>
              <a:t> - </a:t>
            </a:r>
          </a:p>
          <a:p>
            <a:pPr marL="742950" lvl="2" indent="-285750">
              <a:lnSpc>
                <a:spcPct val="140000"/>
              </a:lnSpc>
              <a:buFont typeface="Wingdings" panose="05000000000000000000" charset="0"/>
              <a:buChar char="ü"/>
            </a:pPr>
            <a:r>
              <a:rPr lang="en-US" altLang="en-US"/>
              <a:t>Understanding the required environment setup for the test cases.</a:t>
            </a:r>
            <a:endParaRPr lang="en-US" altLang="en-US"/>
          </a:p>
          <a:p>
            <a:pPr marL="742950" lvl="2" indent="-285750">
              <a:lnSpc>
                <a:spcPct val="140000"/>
              </a:lnSpc>
              <a:buFont typeface="Wingdings" panose="05000000000000000000" charset="0"/>
              <a:buChar char="ü"/>
            </a:pPr>
            <a:r>
              <a:rPr lang="en-US" altLang="en-US"/>
              <a:t>Preparing the test bed (hardware, software, network).</a:t>
            </a:r>
            <a:endParaRPr lang="en-US" altLang="en-US"/>
          </a:p>
          <a:p>
            <a:pPr marL="742950" lvl="2" indent="-285750">
              <a:lnSpc>
                <a:spcPct val="140000"/>
              </a:lnSpc>
              <a:buFont typeface="Wingdings" panose="05000000000000000000" charset="0"/>
              <a:buChar char="ü"/>
            </a:pPr>
            <a:r>
              <a:rPr lang="en-US" altLang="en-US"/>
              <a:t>Installing and configuring the software under test.</a:t>
            </a:r>
            <a:endParaRPr lang="en-US" altLang="en-US"/>
          </a:p>
          <a:p>
            <a:pPr marL="742950" lvl="2" indent="-285750">
              <a:lnSpc>
                <a:spcPct val="140000"/>
              </a:lnSpc>
              <a:buFont typeface="Wingdings" panose="05000000000000000000" charset="0"/>
              <a:buChar char="ü"/>
            </a:pPr>
            <a:r>
              <a:rPr lang="en-US" altLang="en-US"/>
              <a:t>Setting up test data in the environment.</a:t>
            </a:r>
            <a:endParaRPr lang="en-US" altLang="en-US"/>
          </a:p>
          <a:p>
            <a:pPr marL="742950" lvl="2" indent="-285750">
              <a:lnSpc>
                <a:spcPct val="140000"/>
              </a:lnSpc>
              <a:buFont typeface="Wingdings" panose="05000000000000000000" charset="0"/>
              <a:buChar char="ü"/>
            </a:pPr>
            <a:r>
              <a:rPr lang="en-US" altLang="en-US"/>
              <a:t>Performing a smoke test (basic sanity check) to ensure the environment is working correctly.</a:t>
            </a:r>
            <a:endParaRPr lang="en-US" altLang="en-US"/>
          </a:p>
          <a:p>
            <a:pPr marL="457200" lvl="2" indent="0">
              <a:lnSpc>
                <a:spcPct val="130000"/>
              </a:lnSpc>
              <a:buFont typeface="Wingdings" panose="05000000000000000000" charset="0"/>
              <a:buNone/>
            </a:pPr>
            <a:endParaRPr lang="en-US" altLang="en-US"/>
          </a:p>
          <a:p>
            <a:pPr lvl="1" indent="0">
              <a:buNone/>
            </a:pPr>
            <a:r>
              <a:rPr b="1"/>
              <a:t>WHAT</a:t>
            </a:r>
            <a:r>
              <a:t> - </a:t>
            </a:r>
            <a:r>
              <a:rPr lang="en-IN"/>
              <a:t>Produces - </a:t>
            </a:r>
            <a:endParaRPr lang="en-IN"/>
          </a:p>
          <a:p>
            <a:pPr lvl="1" indent="457200">
              <a:lnSpc>
                <a:spcPct val="110000"/>
              </a:lnSpc>
              <a:buNone/>
            </a:pPr>
            <a:r>
              <a:rPr lang="en-IN" altLang="en-US"/>
              <a:t>1. </a:t>
            </a:r>
            <a:r>
              <a:rPr lang="en-US" altLang="en-US"/>
              <a:t>Ready test environment.</a:t>
            </a:r>
            <a:endParaRPr lang="en-US" altLang="en-US"/>
          </a:p>
          <a:p>
            <a:pPr lvl="1" indent="457200">
              <a:lnSpc>
                <a:spcPct val="110000"/>
              </a:lnSpc>
              <a:buNone/>
            </a:pPr>
            <a:r>
              <a:rPr lang="en-IN" altLang="en-US"/>
              <a:t>2. </a:t>
            </a:r>
            <a:r>
              <a:rPr lang="en-US" altLang="en-US"/>
              <a:t>Smoke test results.</a:t>
            </a: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Testing Life Cycle (STLC)</a:t>
            </a:r>
            <a:endParaRPr lang="en-IN" sz="2000" u="sng">
              <a:latin typeface="Arial" panose="020B0604020202020204"/>
              <a:ea typeface="Arial" panose="020B0604020202020204"/>
              <a:cs typeface="Arial" panose="020B0604020202020204"/>
              <a:sym typeface="Arial" panose="020B0604020202020204"/>
            </a:endParaRPr>
          </a:p>
        </p:txBody>
      </p:sp>
      <p:sp>
        <p:nvSpPr>
          <p:cNvPr id="2" name="Diagram 0"/>
          <p:cNvSpPr txBox="1"/>
          <p:nvPr/>
        </p:nvSpPr>
        <p:spPr>
          <a:xfrm>
            <a:off x="911225" y="980440"/>
            <a:ext cx="9588500" cy="3057525"/>
          </a:xfrm>
          <a:prstGeom prst="rect">
            <a:avLst/>
          </a:prstGeom>
          <a:noFill/>
        </p:spPr>
        <p:txBody>
          <a:bodyPr wrap="square" rtlCol="0" anchor="t">
            <a:noAutofit/>
          </a:bodyPr>
          <a:p>
            <a:pPr lvl="0" indent="0">
              <a:buNone/>
            </a:pPr>
            <a:r>
              <a:rPr lang="en-IN" b="1" u="sng"/>
              <a:t>Phase 5 - </a:t>
            </a:r>
            <a:r>
              <a:rPr lang="en-IN" altLang="en-US" b="1" u="sng"/>
              <a:t>Test Execution</a:t>
            </a:r>
            <a:endParaRPr lang="en-US" altLang="en-US" b="1" u="sng"/>
          </a:p>
          <a:p>
            <a:pPr lvl="0" indent="0">
              <a:buNone/>
            </a:pPr>
            <a:endParaRPr lang="en-US" altLang="en-US" b="1" u="sng"/>
          </a:p>
          <a:p>
            <a:pPr lvl="0" indent="0">
              <a:buNone/>
            </a:pPr>
            <a:r>
              <a:rPr b="1"/>
              <a:t>WHY</a:t>
            </a:r>
            <a:r>
              <a:t>- </a:t>
            </a:r>
          </a:p>
          <a:p>
            <a:pPr marL="742950" lvl="2" indent="-285750">
              <a:buFont typeface="Wingdings" panose="05000000000000000000" charset="0"/>
              <a:buChar char="ü"/>
            </a:pPr>
            <a:r>
              <a:rPr lang="en-US" altLang="en-US"/>
              <a:t>To execute the designed test cases and record the results.</a:t>
            </a:r>
            <a:endParaRPr lang="en-US" altLang="en-US"/>
          </a:p>
          <a:p>
            <a:pPr marL="742950" lvl="2" indent="-285750">
              <a:buFont typeface="Wingdings" panose="05000000000000000000" charset="0"/>
              <a:buChar char="ü"/>
            </a:pPr>
            <a:endParaRPr lang="en-US" altLang="en-US"/>
          </a:p>
          <a:p>
            <a:pPr lvl="1" indent="0">
              <a:buNone/>
            </a:pPr>
            <a:r>
              <a:rPr b="1"/>
              <a:t>HOW</a:t>
            </a:r>
            <a:r>
              <a:t> - </a:t>
            </a:r>
          </a:p>
          <a:p>
            <a:pPr marL="742950" lvl="2" indent="-285750">
              <a:lnSpc>
                <a:spcPct val="140000"/>
              </a:lnSpc>
              <a:buFont typeface="Wingdings" panose="05000000000000000000" charset="0"/>
              <a:buChar char="ü"/>
            </a:pPr>
            <a:r>
              <a:rPr lang="en-US" altLang="en-US"/>
              <a:t>Executing test cases manually or using automation tools.</a:t>
            </a:r>
            <a:endParaRPr lang="en-US" altLang="en-US"/>
          </a:p>
          <a:p>
            <a:pPr marL="742950" lvl="2" indent="-285750">
              <a:lnSpc>
                <a:spcPct val="140000"/>
              </a:lnSpc>
              <a:buFont typeface="Wingdings" panose="05000000000000000000" charset="0"/>
              <a:buChar char="ü"/>
            </a:pPr>
            <a:r>
              <a:rPr lang="en-US" altLang="en-US"/>
              <a:t>Logging defects for any deviations from expected results.</a:t>
            </a:r>
            <a:endParaRPr lang="en-US" altLang="en-US"/>
          </a:p>
          <a:p>
            <a:pPr marL="742950" lvl="2" indent="-285750">
              <a:lnSpc>
                <a:spcPct val="140000"/>
              </a:lnSpc>
              <a:buFont typeface="Wingdings" panose="05000000000000000000" charset="0"/>
              <a:buChar char="ü"/>
            </a:pPr>
            <a:r>
              <a:rPr lang="en-US" altLang="en-US"/>
              <a:t>Retesting fixed defects.</a:t>
            </a:r>
            <a:endParaRPr lang="en-US" altLang="en-US"/>
          </a:p>
          <a:p>
            <a:pPr marL="742950" lvl="2" indent="-285750">
              <a:lnSpc>
                <a:spcPct val="140000"/>
              </a:lnSpc>
              <a:buFont typeface="Wingdings" panose="05000000000000000000" charset="0"/>
              <a:buChar char="ü"/>
            </a:pPr>
            <a:r>
              <a:rPr lang="en-US" altLang="en-US"/>
              <a:t>Regression testing to ensure that fixes haven't introduced new issues</a:t>
            </a:r>
            <a:r>
              <a:rPr lang="en-IN" altLang="en-US"/>
              <a:t>.</a:t>
            </a:r>
            <a:endParaRPr lang="en-US" altLang="en-US"/>
          </a:p>
          <a:p>
            <a:pPr marL="742950" lvl="2" indent="-285750">
              <a:lnSpc>
                <a:spcPct val="140000"/>
              </a:lnSpc>
              <a:buFont typeface="Wingdings" panose="05000000000000000000" charset="0"/>
              <a:buChar char="ü"/>
            </a:pPr>
            <a:r>
              <a:rPr lang="en-US" altLang="en-US"/>
              <a:t>Reporting test execution status..</a:t>
            </a:r>
            <a:endParaRPr lang="en-US" altLang="en-US"/>
          </a:p>
          <a:p>
            <a:pPr marL="457200" lvl="2" indent="0">
              <a:lnSpc>
                <a:spcPct val="130000"/>
              </a:lnSpc>
              <a:buFont typeface="Wingdings" panose="05000000000000000000" charset="0"/>
              <a:buNone/>
            </a:pPr>
            <a:endParaRPr lang="en-US" altLang="en-US"/>
          </a:p>
          <a:p>
            <a:pPr lvl="1" indent="0">
              <a:buNone/>
            </a:pPr>
            <a:r>
              <a:rPr b="1"/>
              <a:t>WHAT</a:t>
            </a:r>
            <a:r>
              <a:t> - </a:t>
            </a:r>
            <a:r>
              <a:rPr lang="en-IN"/>
              <a:t>Produces - </a:t>
            </a:r>
            <a:endParaRPr lang="en-IN"/>
          </a:p>
          <a:p>
            <a:pPr lvl="1" indent="457200">
              <a:lnSpc>
                <a:spcPct val="110000"/>
              </a:lnSpc>
              <a:buNone/>
            </a:pPr>
            <a:r>
              <a:rPr lang="en-IN" altLang="en-US"/>
              <a:t>1. </a:t>
            </a:r>
            <a:r>
              <a:rPr lang="en-US" altLang="en-US"/>
              <a:t>Test execution reports.</a:t>
            </a:r>
            <a:endParaRPr lang="en-US" altLang="en-US"/>
          </a:p>
          <a:p>
            <a:pPr lvl="1" indent="457200">
              <a:lnSpc>
                <a:spcPct val="110000"/>
              </a:lnSpc>
              <a:buNone/>
            </a:pPr>
            <a:r>
              <a:rPr lang="en-IN" altLang="en-US"/>
              <a:t>2. </a:t>
            </a:r>
            <a:r>
              <a:rPr lang="en-US" altLang="en-US"/>
              <a:t>Defect reports/logs.</a:t>
            </a:r>
            <a:endParaRPr lang="en-US" altLang="en-US"/>
          </a:p>
          <a:p>
            <a:pPr lvl="1" indent="457200">
              <a:lnSpc>
                <a:spcPct val="110000"/>
              </a:lnSpc>
              <a:buNone/>
            </a:pPr>
            <a:r>
              <a:rPr lang="en-IN" altLang="en-US"/>
              <a:t>3.</a:t>
            </a:r>
            <a:r>
              <a:rPr lang="en-US" altLang="en-US"/>
              <a:t>Updated test cases (with execution status).</a:t>
            </a: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Testing Life Cycle (STLC)</a:t>
            </a:r>
            <a:endParaRPr lang="en-IN" sz="2000" u="sng">
              <a:latin typeface="Arial" panose="020B0604020202020204"/>
              <a:ea typeface="Arial" panose="020B0604020202020204"/>
              <a:cs typeface="Arial" panose="020B0604020202020204"/>
              <a:sym typeface="Arial" panose="020B0604020202020204"/>
            </a:endParaRPr>
          </a:p>
        </p:txBody>
      </p:sp>
      <p:sp>
        <p:nvSpPr>
          <p:cNvPr id="2" name="Diagram 0"/>
          <p:cNvSpPr txBox="1"/>
          <p:nvPr/>
        </p:nvSpPr>
        <p:spPr>
          <a:xfrm>
            <a:off x="911225" y="980440"/>
            <a:ext cx="9588500" cy="3057525"/>
          </a:xfrm>
          <a:prstGeom prst="rect">
            <a:avLst/>
          </a:prstGeom>
          <a:noFill/>
        </p:spPr>
        <p:txBody>
          <a:bodyPr wrap="square" rtlCol="0" anchor="t">
            <a:noAutofit/>
          </a:bodyPr>
          <a:p>
            <a:pPr lvl="0" indent="0">
              <a:buNone/>
            </a:pPr>
            <a:r>
              <a:rPr lang="en-IN" b="1" u="sng"/>
              <a:t>Phase 6 - </a:t>
            </a:r>
            <a:r>
              <a:rPr lang="en-US" altLang="en-US" b="1" u="sng"/>
              <a:t>Test Cycle Closure</a:t>
            </a:r>
            <a:endParaRPr lang="en-US" altLang="en-US" b="1" u="sng"/>
          </a:p>
          <a:p>
            <a:pPr lvl="0" indent="0">
              <a:buNone/>
            </a:pPr>
            <a:endParaRPr lang="en-US" altLang="en-US" b="1" u="sng"/>
          </a:p>
          <a:p>
            <a:pPr lvl="0" indent="0">
              <a:buNone/>
            </a:pPr>
            <a:r>
              <a:rPr b="1"/>
              <a:t>WHY</a:t>
            </a:r>
            <a:r>
              <a:t>- </a:t>
            </a:r>
          </a:p>
          <a:p>
            <a:pPr marL="742950" lvl="2" indent="-285750">
              <a:buFont typeface="Wingdings" panose="05000000000000000000" charset="0"/>
              <a:buChar char="ü"/>
            </a:pPr>
            <a:r>
              <a:rPr lang="en-US" altLang="en-US"/>
              <a:t>To formally conclude the testing process, summarize the results, and analyze the testing effort.</a:t>
            </a:r>
            <a:endParaRPr lang="en-US" altLang="en-US"/>
          </a:p>
          <a:p>
            <a:pPr marL="457200" lvl="2" indent="0">
              <a:buFont typeface="Wingdings" panose="05000000000000000000" charset="0"/>
              <a:buNone/>
            </a:pPr>
            <a:endParaRPr lang="en-US" altLang="en-US"/>
          </a:p>
          <a:p>
            <a:pPr lvl="1" indent="0">
              <a:buNone/>
            </a:pPr>
            <a:r>
              <a:rPr b="1"/>
              <a:t>HOW</a:t>
            </a:r>
            <a:r>
              <a:t> - </a:t>
            </a:r>
          </a:p>
          <a:p>
            <a:pPr marL="742950" lvl="2" indent="-285750">
              <a:lnSpc>
                <a:spcPct val="140000"/>
              </a:lnSpc>
              <a:buFont typeface="Wingdings" panose="05000000000000000000" charset="0"/>
              <a:buChar char="ü"/>
            </a:pPr>
            <a:r>
              <a:rPr lang="en-US" altLang="en-US"/>
              <a:t>Evaluating exit criteria (e.g., all high-priority defects fixed, test coverage achieved).</a:t>
            </a:r>
            <a:endParaRPr lang="en-US" altLang="en-US"/>
          </a:p>
          <a:p>
            <a:pPr marL="742950" lvl="2" indent="-285750">
              <a:lnSpc>
                <a:spcPct val="140000"/>
              </a:lnSpc>
              <a:buFont typeface="Wingdings" panose="05000000000000000000" charset="0"/>
              <a:buChar char="ü"/>
            </a:pPr>
            <a:r>
              <a:rPr lang="en-US" altLang="en-US"/>
              <a:t>Preparing test closure report, including:</a:t>
            </a:r>
            <a:endParaRPr lang="en-US" altLang="en-US"/>
          </a:p>
          <a:p>
            <a:pPr marL="1200150" lvl="3" indent="-285750">
              <a:lnSpc>
                <a:spcPct val="140000"/>
              </a:lnSpc>
              <a:buFont typeface="Wingdings" panose="05000000000000000000" charset="0"/>
              <a:buChar char="Ø"/>
            </a:pPr>
            <a:r>
              <a:rPr lang="en-US" altLang="en-US"/>
              <a:t>Test summary.</a:t>
            </a:r>
            <a:endParaRPr lang="en-US" altLang="en-US"/>
          </a:p>
          <a:p>
            <a:pPr marL="1200150" lvl="3" indent="-285750">
              <a:lnSpc>
                <a:spcPct val="140000"/>
              </a:lnSpc>
              <a:buFont typeface="Wingdings" panose="05000000000000000000" charset="0"/>
              <a:buChar char="Ø"/>
            </a:pPr>
            <a:r>
              <a:rPr lang="en-US" altLang="en-US"/>
              <a:t>Defect distribution and trends.</a:t>
            </a:r>
            <a:endParaRPr lang="en-US" altLang="en-US"/>
          </a:p>
          <a:p>
            <a:pPr marL="1200150" lvl="3" indent="-285750">
              <a:lnSpc>
                <a:spcPct val="140000"/>
              </a:lnSpc>
              <a:buFont typeface="Wingdings" panose="05000000000000000000" charset="0"/>
              <a:buChar char="Ø"/>
            </a:pPr>
            <a:r>
              <a:rPr lang="en-US" altLang="en-US"/>
              <a:t>Lessons learned.</a:t>
            </a:r>
            <a:endParaRPr lang="en-US" altLang="en-US"/>
          </a:p>
          <a:p>
            <a:pPr marL="1200150" lvl="3" indent="-285750">
              <a:lnSpc>
                <a:spcPct val="140000"/>
              </a:lnSpc>
              <a:buFont typeface="Wingdings" panose="05000000000000000000" charset="0"/>
              <a:buChar char="Ø"/>
            </a:pPr>
            <a:r>
              <a:rPr lang="en-US" altLang="en-US"/>
              <a:t>Recommendations for future projects.</a:t>
            </a:r>
            <a:endParaRPr lang="en-US" altLang="en-US"/>
          </a:p>
          <a:p>
            <a:pPr marL="742950" lvl="2" indent="-285750">
              <a:lnSpc>
                <a:spcPct val="140000"/>
              </a:lnSpc>
              <a:buFont typeface="Wingdings" panose="05000000000000000000" charset="0"/>
              <a:buChar char="ü"/>
            </a:pPr>
            <a:r>
              <a:rPr lang="en-US" altLang="en-US"/>
              <a:t>Archiving test artifacts.</a:t>
            </a:r>
            <a:endParaRPr lang="en-US" altLang="en-US"/>
          </a:p>
          <a:p>
            <a:pPr marL="742950" lvl="2" indent="-285750">
              <a:lnSpc>
                <a:spcPct val="140000"/>
              </a:lnSpc>
              <a:buFont typeface="Wingdings" panose="05000000000000000000" charset="0"/>
              <a:buChar char="ü"/>
            </a:pPr>
            <a:r>
              <a:rPr lang="en-US" altLang="en-US"/>
              <a:t>Handover to maintenance/support teams.</a:t>
            </a:r>
            <a:endParaRPr lang="en-US" altLang="en-US"/>
          </a:p>
          <a:p>
            <a:pPr marL="742950" lvl="2" indent="-285750">
              <a:lnSpc>
                <a:spcPct val="140000"/>
              </a:lnSpc>
              <a:buFont typeface="Wingdings" panose="05000000000000000000" charset="0"/>
              <a:buChar char="ü"/>
            </a:pPr>
            <a:endParaRPr lang="en-US" altLang="en-US"/>
          </a:p>
          <a:p>
            <a:pPr lvl="1" indent="0">
              <a:buNone/>
            </a:pPr>
            <a:r>
              <a:rPr b="1"/>
              <a:t>WHAT</a:t>
            </a:r>
            <a:r>
              <a:t> - </a:t>
            </a:r>
            <a:r>
              <a:rPr lang="en-IN"/>
              <a:t>Produces - </a:t>
            </a:r>
            <a:endParaRPr lang="en-IN"/>
          </a:p>
          <a:p>
            <a:pPr lvl="1" indent="457200">
              <a:lnSpc>
                <a:spcPct val="110000"/>
              </a:lnSpc>
              <a:buNone/>
            </a:pPr>
            <a:r>
              <a:rPr lang="en-IN" altLang="en-US"/>
              <a:t>1. </a:t>
            </a:r>
            <a:r>
              <a:rPr lang="en-US" altLang="en-US"/>
              <a:t>Test Closure Report.</a:t>
            </a:r>
            <a:endParaRPr lang="en-US" altLang="en-US"/>
          </a:p>
          <a:p>
            <a:pPr lvl="1" indent="457200">
              <a:lnSpc>
                <a:spcPct val="110000"/>
              </a:lnSpc>
              <a:buNone/>
            </a:pPr>
            <a:r>
              <a:rPr lang="en-IN" altLang="en-US"/>
              <a:t>2. </a:t>
            </a:r>
            <a:r>
              <a:rPr lang="en-US" altLang="en-US"/>
              <a:t>Lessons Learned document</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Development Life Cycle (SDLC)</a:t>
            </a:r>
            <a:endParaRPr lang="en-IN" sz="2000" u="sng">
              <a:latin typeface="Arial" panose="020B0604020202020204"/>
              <a:ea typeface="Arial" panose="020B0604020202020204"/>
              <a:cs typeface="Arial" panose="020B0604020202020204"/>
              <a:sym typeface="Arial" panose="020B0604020202020204"/>
            </a:endParaRPr>
          </a:p>
        </p:txBody>
      </p:sp>
      <p:sp>
        <p:nvSpPr>
          <p:cNvPr id="2" name="Diagram 0"/>
          <p:cNvSpPr txBox="1"/>
          <p:nvPr/>
        </p:nvSpPr>
        <p:spPr>
          <a:xfrm>
            <a:off x="551180" y="980440"/>
            <a:ext cx="9588500" cy="1797050"/>
          </a:xfrm>
          <a:prstGeom prst="rect">
            <a:avLst/>
          </a:prstGeom>
          <a:noFill/>
        </p:spPr>
        <p:txBody>
          <a:bodyPr wrap="square" rtlCol="0" anchor="t">
            <a:noAutofit/>
          </a:bodyPr>
          <a:p>
            <a:pPr marL="742950" lvl="2" indent="-285750">
              <a:lnSpc>
                <a:spcPct val="140000"/>
              </a:lnSpc>
              <a:buFont typeface="Wingdings" panose="05000000000000000000" charset="0"/>
              <a:buChar char="ü"/>
            </a:pPr>
            <a:r>
              <a:rPr lang="en-IN" b="1" u="sng"/>
              <a:t>Pupose: </a:t>
            </a:r>
            <a:endParaRPr lang="en-IN" b="1" u="sng"/>
          </a:p>
          <a:p>
            <a:pPr marL="1200150" lvl="3" indent="-285750">
              <a:lnSpc>
                <a:spcPct val="140000"/>
              </a:lnSpc>
              <a:buFont typeface="Wingdings" panose="05000000000000000000" charset="0"/>
              <a:buChar char="Ø"/>
            </a:pPr>
            <a:r>
              <a:rPr lang="en-IN" altLang="en-US"/>
              <a:t>T</a:t>
            </a:r>
            <a:r>
              <a:rPr lang="en-US" altLang="en-US"/>
              <a:t>o design, develop, and test high-quality software</a:t>
            </a:r>
            <a:r>
              <a:rPr lang="en-IN" altLang="en-US"/>
              <a:t>.</a:t>
            </a:r>
            <a:endParaRPr lang="en-IN" altLang="en-US"/>
          </a:p>
          <a:p>
            <a:pPr marL="1200150" lvl="3" indent="-285750">
              <a:lnSpc>
                <a:spcPct val="140000"/>
              </a:lnSpc>
              <a:buFont typeface="Wingdings" panose="05000000000000000000" charset="0"/>
              <a:buChar char="Ø"/>
            </a:pPr>
            <a:r>
              <a:rPr lang="en-IN" altLang="en-US"/>
              <a:t>T</a:t>
            </a:r>
            <a:r>
              <a:rPr lang="en-US" altLang="en-US"/>
              <a:t>o produce superior software that meets and exceeds customer expectations and demands</a:t>
            </a:r>
            <a:r>
              <a:rPr lang="en-IN" altLang="en-US"/>
              <a:t>.</a:t>
            </a:r>
            <a:endParaRPr lang="en-IN" altLang="en-US"/>
          </a:p>
          <a:p>
            <a:pPr marL="1200150" lvl="3" indent="-285750">
              <a:lnSpc>
                <a:spcPct val="140000"/>
              </a:lnSpc>
              <a:buFont typeface="Wingdings" panose="05000000000000000000" charset="0"/>
              <a:buChar char="Ø"/>
            </a:pPr>
            <a:r>
              <a:rPr lang="en-IN" altLang="en-US"/>
              <a:t>To </a:t>
            </a:r>
            <a:r>
              <a:rPr lang="en-US" altLang="en-US"/>
              <a:t>provide a structured framework that breaks down the entire software development process into distinct phases, each with its own objectives, tasks, and deliverables.</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Development Life Cycle (SDLC)</a:t>
            </a:r>
            <a:endParaRPr lang="en-IN" sz="2000" u="sng">
              <a:latin typeface="Arial" panose="020B0604020202020204"/>
              <a:ea typeface="Arial" panose="020B0604020202020204"/>
              <a:cs typeface="Arial" panose="020B0604020202020204"/>
              <a:sym typeface="Arial" panose="020B0604020202020204"/>
            </a:endParaRPr>
          </a:p>
        </p:txBody>
      </p:sp>
      <p:graphicFrame>
        <p:nvGraphicFramePr>
          <p:cNvPr id="3" name="Table 2"/>
          <p:cNvGraphicFramePr/>
          <p:nvPr>
            <p:custDataLst>
              <p:tags r:id="rId1"/>
            </p:custDataLst>
          </p:nvPr>
        </p:nvGraphicFramePr>
        <p:xfrm>
          <a:off x="839470" y="1124585"/>
          <a:ext cx="10514330" cy="4023360"/>
        </p:xfrm>
        <a:graphic>
          <a:graphicData uri="http://schemas.openxmlformats.org/drawingml/2006/table">
            <a:tbl>
              <a:tblPr firstRow="1" bandRow="1">
                <a:tableStyleId>{5C22544A-7EE6-4342-B048-85BDC9FD1C3A}</a:tableStyleId>
              </a:tblPr>
              <a:tblGrid>
                <a:gridCol w="891540"/>
                <a:gridCol w="2153285"/>
                <a:gridCol w="2172970"/>
                <a:gridCol w="2620010"/>
                <a:gridCol w="2676525"/>
              </a:tblGrid>
              <a:tr h="381000">
                <a:tc>
                  <a:txBody>
                    <a:bodyPr/>
                    <a:p>
                      <a:pPr algn="ctr">
                        <a:buNone/>
                      </a:pPr>
                      <a:r>
                        <a:rPr lang="en-IN" altLang="en-US"/>
                        <a:t>Phase Number</a:t>
                      </a:r>
                      <a:endParaRPr lang="en-IN" altLang="en-US"/>
                    </a:p>
                  </a:txBody>
                  <a:tcPr anchor="ctr" anchorCtr="0"/>
                </a:tc>
                <a:tc>
                  <a:txBody>
                    <a:bodyPr/>
                    <a:p>
                      <a:pPr algn="ctr">
                        <a:buNone/>
                      </a:pPr>
                      <a:r>
                        <a:rPr lang="en-IN" altLang="en-US"/>
                        <a:t>Phase Name</a:t>
                      </a:r>
                      <a:endParaRPr lang="en-IN" altLang="en-US"/>
                    </a:p>
                  </a:txBody>
                  <a:tcPr anchor="ctr" anchorCtr="0"/>
                </a:tc>
                <a:tc>
                  <a:txBody>
                    <a:bodyPr/>
                    <a:p>
                      <a:pPr algn="ctr">
                        <a:buNone/>
                      </a:pPr>
                      <a:r>
                        <a:rPr lang="en-IN" altLang="en-US"/>
                        <a:t>Purpose</a:t>
                      </a:r>
                      <a:endParaRPr lang="en-IN" altLang="en-US"/>
                    </a:p>
                  </a:txBody>
                  <a:tcPr anchor="ctr" anchorCtr="0"/>
                </a:tc>
                <a:tc>
                  <a:txBody>
                    <a:bodyPr/>
                    <a:p>
                      <a:pPr algn="ctr">
                        <a:buNone/>
                      </a:pPr>
                      <a:r>
                        <a:rPr lang="en-IN" altLang="en-US"/>
                        <a:t>Process</a:t>
                      </a:r>
                      <a:endParaRPr lang="en-IN" altLang="en-US"/>
                    </a:p>
                  </a:txBody>
                  <a:tcPr anchor="ctr" anchorCtr="0"/>
                </a:tc>
                <a:tc>
                  <a:txBody>
                    <a:bodyPr/>
                    <a:p>
                      <a:pPr algn="ctr">
                        <a:buNone/>
                      </a:pPr>
                      <a:r>
                        <a:rPr lang="en-IN" altLang="en-US"/>
                        <a:t>Output</a:t>
                      </a:r>
                      <a:endParaRPr lang="en-IN" altLang="en-US"/>
                    </a:p>
                  </a:txBody>
                  <a:tcPr anchor="ctr" anchorCtr="0"/>
                </a:tc>
              </a:tr>
              <a:tr h="381000">
                <a:tc>
                  <a:txBody>
                    <a:bodyPr/>
                    <a:p>
                      <a:pPr>
                        <a:buNone/>
                      </a:pPr>
                      <a:r>
                        <a:rPr lang="en-IN" altLang="en-US"/>
                        <a:t>1</a:t>
                      </a:r>
                      <a:endParaRPr lang="en-IN" altLang="en-US"/>
                    </a:p>
                  </a:txBody>
                  <a:tcPr/>
                </a:tc>
                <a:tc>
                  <a:txBody>
                    <a:bodyPr/>
                    <a:p>
                      <a:pPr>
                        <a:buNone/>
                      </a:pPr>
                      <a:r>
                        <a:rPr lang="en-US" altLang="en-US" b="1"/>
                        <a:t>Planning and Requirement Analysis</a:t>
                      </a:r>
                      <a:endParaRPr lang="en-US" altLang="en-US" b="1"/>
                    </a:p>
                  </a:txBody>
                  <a:tcPr/>
                </a:tc>
                <a:tc>
                  <a:txBody>
                    <a:bodyPr/>
                    <a:p>
                      <a:pPr>
                        <a:buNone/>
                      </a:pPr>
                      <a:r>
                        <a:rPr lang="en-US" altLang="en-US"/>
                        <a:t>To define the scope, purpose, and detailed requirements of the software.</a:t>
                      </a:r>
                      <a:endParaRPr lang="en-US" altLang="en-US"/>
                    </a:p>
                  </a:txBody>
                  <a:tcPr/>
                </a:tc>
                <a:tc>
                  <a:txBody>
                    <a:bodyPr/>
                    <a:p>
                      <a:pPr>
                        <a:buNone/>
                      </a:pPr>
                      <a:r>
                        <a:rPr lang="en-IN" altLang="en-US"/>
                        <a:t>a. Feasibility study to understand </a:t>
                      </a:r>
                      <a:r>
                        <a:rPr lang="en-US" altLang="en-US"/>
                        <a:t>technical, operational, and economic feasibility of the project</a:t>
                      </a:r>
                      <a:r>
                        <a:rPr lang="en-IN" altLang="en-US"/>
                        <a:t>. </a:t>
                      </a:r>
                      <a:r>
                        <a:rPr lang="en-US" altLang="en-US"/>
                        <a:t> </a:t>
                      </a:r>
                      <a:r>
                        <a:rPr lang="en-IN" altLang="en-US"/>
                        <a:t>b.A</a:t>
                      </a:r>
                      <a:r>
                        <a:rPr lang="en-US" altLang="en-US"/>
                        <a:t>nalyzing costs, benefits, resources, and potential risks</a:t>
                      </a:r>
                      <a:endParaRPr lang="en-US" altLang="en-US"/>
                    </a:p>
                    <a:p>
                      <a:pPr>
                        <a:buNone/>
                      </a:pPr>
                      <a:r>
                        <a:rPr lang="en-IN" altLang="en-US"/>
                        <a:t>c. Gather requirements by c</a:t>
                      </a:r>
                      <a:r>
                        <a:rPr lang="en-US" altLang="en-US"/>
                        <a:t>ollecting input from all stakeholders</a:t>
                      </a:r>
                      <a:r>
                        <a:rPr lang="en-IN" altLang="en-US"/>
                        <a:t> </a:t>
                      </a:r>
                      <a:r>
                        <a:rPr lang="en-US" altLang="en-US"/>
                        <a:t>through interviews, surveys, workshops, and observation.</a:t>
                      </a:r>
                      <a:endParaRPr lang="en-US" altLang="en-US"/>
                    </a:p>
                  </a:txBody>
                  <a:tcPr/>
                </a:tc>
                <a:tc>
                  <a:txBody>
                    <a:bodyPr/>
                    <a:p>
                      <a:pPr>
                        <a:buNone/>
                      </a:pPr>
                      <a:r>
                        <a:rPr lang="en-IN" altLang="en-US"/>
                        <a:t>a. </a:t>
                      </a:r>
                      <a:r>
                        <a:rPr lang="en-US" altLang="en-US" b="1"/>
                        <a:t>Software Requirement Specification (SRS) </a:t>
                      </a:r>
                      <a:r>
                        <a:rPr lang="en-US" altLang="en-US"/>
                        <a:t>document </a:t>
                      </a:r>
                      <a:r>
                        <a:rPr lang="en-IN" altLang="en-US"/>
                        <a:t>which </a:t>
                      </a:r>
                      <a:r>
                        <a:rPr lang="en-US" altLang="en-US"/>
                        <a:t>clearly outlines the software's purpose, features, functionalities, necessary resources, potential risks, and a project timeline. This document serves as a guide for the entire development team.</a:t>
                      </a:r>
                      <a:endParaRPr lang="en-US" altLang="en-US"/>
                    </a:p>
                    <a:p>
                      <a:pPr>
                        <a:buNone/>
                      </a:pPr>
                      <a:endParaRPr lang="en-US" altLang="en-US"/>
                    </a:p>
                    <a:p>
                      <a:pPr>
                        <a:buNone/>
                      </a:pPr>
                      <a:r>
                        <a:rPr lang="en-IN" altLang="en-US" b="1"/>
                        <a:t>b. </a:t>
                      </a:r>
                      <a:r>
                        <a:rPr lang="en-US" altLang="en-US" b="1"/>
                        <a:t>Project Planning </a:t>
                      </a:r>
                      <a:r>
                        <a:rPr lang="en-US" altLang="en-US"/>
                        <a:t>Defining project goals, setting milestones, estimating costs, allocating resources, and assigning roles and responsibilities.</a:t>
                      </a:r>
                      <a:endParaRPr lang="en-US" altLang="en-US"/>
                    </a:p>
                  </a:txBody>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Development Life Cycle (SDLC)</a:t>
            </a:r>
            <a:endParaRPr lang="en-IN" sz="2000" u="sng">
              <a:latin typeface="Arial" panose="020B0604020202020204"/>
              <a:ea typeface="Arial" panose="020B0604020202020204"/>
              <a:cs typeface="Arial" panose="020B0604020202020204"/>
              <a:sym typeface="Arial" panose="020B0604020202020204"/>
            </a:endParaRPr>
          </a:p>
        </p:txBody>
      </p:sp>
      <p:graphicFrame>
        <p:nvGraphicFramePr>
          <p:cNvPr id="3" name="Table 2"/>
          <p:cNvGraphicFramePr/>
          <p:nvPr>
            <p:custDataLst>
              <p:tags r:id="rId1"/>
            </p:custDataLst>
          </p:nvPr>
        </p:nvGraphicFramePr>
        <p:xfrm>
          <a:off x="839470" y="1124585"/>
          <a:ext cx="10514330" cy="3736340"/>
        </p:xfrm>
        <a:graphic>
          <a:graphicData uri="http://schemas.openxmlformats.org/drawingml/2006/table">
            <a:tbl>
              <a:tblPr firstRow="1" bandRow="1">
                <a:tableStyleId>{5C22544A-7EE6-4342-B048-85BDC9FD1C3A}</a:tableStyleId>
              </a:tblPr>
              <a:tblGrid>
                <a:gridCol w="891540"/>
                <a:gridCol w="1313815"/>
                <a:gridCol w="2211705"/>
                <a:gridCol w="3420745"/>
                <a:gridCol w="2676525"/>
              </a:tblGrid>
              <a:tr h="518160">
                <a:tc>
                  <a:txBody>
                    <a:bodyPr/>
                    <a:p>
                      <a:pPr algn="ctr">
                        <a:buNone/>
                      </a:pPr>
                      <a:r>
                        <a:rPr lang="en-IN" altLang="en-US"/>
                        <a:t>Phase Number</a:t>
                      </a:r>
                      <a:endParaRPr lang="en-IN" altLang="en-US"/>
                    </a:p>
                  </a:txBody>
                  <a:tcPr anchor="ctr" anchorCtr="0"/>
                </a:tc>
                <a:tc>
                  <a:txBody>
                    <a:bodyPr/>
                    <a:p>
                      <a:pPr algn="ctr">
                        <a:buNone/>
                      </a:pPr>
                      <a:r>
                        <a:rPr lang="en-IN" altLang="en-US"/>
                        <a:t>Phase Name</a:t>
                      </a:r>
                      <a:endParaRPr lang="en-IN" altLang="en-US"/>
                    </a:p>
                  </a:txBody>
                  <a:tcPr anchor="ctr" anchorCtr="0"/>
                </a:tc>
                <a:tc>
                  <a:txBody>
                    <a:bodyPr/>
                    <a:p>
                      <a:pPr algn="ctr">
                        <a:buNone/>
                      </a:pPr>
                      <a:r>
                        <a:rPr lang="en-IN" altLang="en-US"/>
                        <a:t>Purpose</a:t>
                      </a:r>
                      <a:endParaRPr lang="en-IN" altLang="en-US"/>
                    </a:p>
                  </a:txBody>
                  <a:tcPr anchor="ctr" anchorCtr="0"/>
                </a:tc>
                <a:tc>
                  <a:txBody>
                    <a:bodyPr/>
                    <a:p>
                      <a:pPr algn="ctr">
                        <a:buNone/>
                      </a:pPr>
                      <a:r>
                        <a:rPr lang="en-IN" altLang="en-US"/>
                        <a:t>Process</a:t>
                      </a:r>
                      <a:endParaRPr lang="en-IN" altLang="en-US"/>
                    </a:p>
                  </a:txBody>
                  <a:tcPr anchor="ctr" anchorCtr="0"/>
                </a:tc>
                <a:tc>
                  <a:txBody>
                    <a:bodyPr/>
                    <a:p>
                      <a:pPr algn="ctr">
                        <a:buNone/>
                      </a:pPr>
                      <a:r>
                        <a:rPr lang="en-IN" altLang="en-US"/>
                        <a:t>Output</a:t>
                      </a:r>
                      <a:endParaRPr lang="en-IN" altLang="en-US"/>
                    </a:p>
                  </a:txBody>
                  <a:tcPr anchor="ctr" anchorCtr="0"/>
                </a:tc>
              </a:tr>
              <a:tr h="3218180">
                <a:tc>
                  <a:txBody>
                    <a:bodyPr/>
                    <a:p>
                      <a:pPr>
                        <a:buNone/>
                      </a:pPr>
                      <a:r>
                        <a:rPr lang="en-IN" altLang="en-US"/>
                        <a:t>2</a:t>
                      </a:r>
                      <a:endParaRPr lang="en-IN" altLang="en-US"/>
                    </a:p>
                  </a:txBody>
                  <a:tcPr/>
                </a:tc>
                <a:tc>
                  <a:txBody>
                    <a:bodyPr/>
                    <a:p>
                      <a:pPr>
                        <a:buNone/>
                      </a:pPr>
                      <a:r>
                        <a:rPr lang="en-IN" altLang="en-US" b="1"/>
                        <a:t>Design</a:t>
                      </a:r>
                      <a:endParaRPr lang="en-IN" altLang="en-US" b="1"/>
                    </a:p>
                  </a:txBody>
                  <a:tcPr/>
                </a:tc>
                <a:tc>
                  <a:txBody>
                    <a:bodyPr/>
                    <a:p>
                      <a:pPr>
                        <a:buNone/>
                      </a:pPr>
                      <a:r>
                        <a:rPr lang="en-US" altLang="en-US"/>
                        <a:t>To define the architecture and overall structure of the software solution based on the SRS.</a:t>
                      </a:r>
                      <a:endParaRPr lang="en-US" altLang="en-US"/>
                    </a:p>
                  </a:txBody>
                  <a:tcPr/>
                </a:tc>
                <a:tc>
                  <a:txBody>
                    <a:bodyPr/>
                    <a:p>
                      <a:pPr>
                        <a:buNone/>
                      </a:pPr>
                      <a:r>
                        <a:rPr lang="en-IN" altLang="en-US"/>
                        <a:t>a. </a:t>
                      </a:r>
                      <a:r>
                        <a:rPr lang="en-US" altLang="en-US"/>
                        <a:t>Designing the overall system architecture, defining major modules, their interactions, and the database structure. </a:t>
                      </a:r>
                      <a:endParaRPr lang="en-US" altLang="en-US"/>
                    </a:p>
                    <a:p>
                      <a:pPr>
                        <a:buNone/>
                      </a:pPr>
                      <a:r>
                        <a:rPr lang="en-IN" altLang="en-US"/>
                        <a:t>b. </a:t>
                      </a:r>
                      <a:r>
                        <a:rPr lang="en-US" altLang="en-US"/>
                        <a:t>Detailing the internal logic of each module, including algorithms, data structures, and user interface design.</a:t>
                      </a:r>
                      <a:endParaRPr lang="en-US" altLang="en-US"/>
                    </a:p>
                    <a:p>
                      <a:pPr>
                        <a:buNone/>
                      </a:pPr>
                      <a:r>
                        <a:rPr lang="en-IN" altLang="en-US"/>
                        <a:t>c. </a:t>
                      </a:r>
                      <a:r>
                        <a:rPr lang="en-US" altLang="en-US"/>
                        <a:t>Choosing appropriate programming languages, frameworks, databases, and other tools.</a:t>
                      </a:r>
                      <a:endParaRPr lang="en-US" altLang="en-US"/>
                    </a:p>
                    <a:p>
                      <a:pPr>
                        <a:buNone/>
                      </a:pPr>
                      <a:r>
                        <a:rPr lang="en-IN" altLang="en-US"/>
                        <a:t>d. </a:t>
                      </a:r>
                      <a:r>
                        <a:rPr lang="en-US" altLang="en-US"/>
                        <a:t>Creating mock-ups or prototypes to visualize the user interface and functionality, allowing for early feedback from stakeholders.</a:t>
                      </a:r>
                      <a:endParaRPr lang="en-US" altLang="en-US"/>
                    </a:p>
                  </a:txBody>
                  <a:tcPr/>
                </a:tc>
                <a:tc>
                  <a:txBody>
                    <a:bodyPr/>
                    <a:p>
                      <a:pPr>
                        <a:buNone/>
                      </a:pPr>
                      <a:r>
                        <a:rPr lang="en-IN" altLang="en-US"/>
                        <a:t>a.</a:t>
                      </a:r>
                      <a:r>
                        <a:rPr lang="en-US" altLang="en-US"/>
                        <a:t>Software Design Document (SDD)</a:t>
                      </a:r>
                      <a:endParaRPr lang="en-US" altLang="en-US"/>
                    </a:p>
                    <a:p>
                      <a:pPr>
                        <a:buNone/>
                      </a:pPr>
                      <a:r>
                        <a:rPr lang="en-IN" altLang="en-US"/>
                        <a:t>b. </a:t>
                      </a:r>
                      <a:r>
                        <a:rPr lang="en-US" altLang="en-US"/>
                        <a:t>Database Design</a:t>
                      </a:r>
                      <a:endParaRPr lang="en-US" altLang="en-US"/>
                    </a:p>
                    <a:p>
                      <a:pPr>
                        <a:buNone/>
                      </a:pPr>
                      <a:r>
                        <a:rPr lang="en-IN" altLang="en-US"/>
                        <a:t>c. </a:t>
                      </a:r>
                      <a:r>
                        <a:rPr lang="en-US" altLang="en-US"/>
                        <a:t>UI/UX designs</a:t>
                      </a:r>
                      <a:endParaRPr lang="en-US" altLang="en-US"/>
                    </a:p>
                    <a:p>
                      <a:pPr>
                        <a:buNone/>
                      </a:pPr>
                      <a:r>
                        <a:rPr lang="en-IN" altLang="en-US"/>
                        <a:t>d. </a:t>
                      </a:r>
                      <a:r>
                        <a:rPr lang="en-US" altLang="en-US"/>
                        <a:t>Prototypes</a:t>
                      </a:r>
                      <a:endParaRPr lang="en-US" altLang="en-US"/>
                    </a:p>
                  </a:txBody>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Development Life Cycle (SDLC)</a:t>
            </a:r>
            <a:endParaRPr lang="en-IN" sz="2000" u="sng">
              <a:latin typeface="Arial" panose="020B0604020202020204"/>
              <a:ea typeface="Arial" panose="020B0604020202020204"/>
              <a:cs typeface="Arial" panose="020B0604020202020204"/>
              <a:sym typeface="Arial" panose="020B0604020202020204"/>
            </a:endParaRPr>
          </a:p>
        </p:txBody>
      </p:sp>
      <p:graphicFrame>
        <p:nvGraphicFramePr>
          <p:cNvPr id="3" name="Table 2"/>
          <p:cNvGraphicFramePr/>
          <p:nvPr>
            <p:custDataLst>
              <p:tags r:id="rId1"/>
            </p:custDataLst>
          </p:nvPr>
        </p:nvGraphicFramePr>
        <p:xfrm>
          <a:off x="839470" y="1124585"/>
          <a:ext cx="10514330" cy="2743200"/>
        </p:xfrm>
        <a:graphic>
          <a:graphicData uri="http://schemas.openxmlformats.org/drawingml/2006/table">
            <a:tbl>
              <a:tblPr firstRow="1" bandRow="1">
                <a:tableStyleId>{5C22544A-7EE6-4342-B048-85BDC9FD1C3A}</a:tableStyleId>
              </a:tblPr>
              <a:tblGrid>
                <a:gridCol w="891540"/>
                <a:gridCol w="1516380"/>
                <a:gridCol w="1748790"/>
                <a:gridCol w="3681095"/>
                <a:gridCol w="2676525"/>
              </a:tblGrid>
              <a:tr h="518160">
                <a:tc>
                  <a:txBody>
                    <a:bodyPr/>
                    <a:p>
                      <a:pPr algn="ctr">
                        <a:buNone/>
                      </a:pPr>
                      <a:r>
                        <a:rPr lang="en-IN" altLang="en-US"/>
                        <a:t>Phase Number</a:t>
                      </a:r>
                      <a:endParaRPr lang="en-IN" altLang="en-US"/>
                    </a:p>
                  </a:txBody>
                  <a:tcPr anchor="ctr" anchorCtr="0"/>
                </a:tc>
                <a:tc>
                  <a:txBody>
                    <a:bodyPr/>
                    <a:p>
                      <a:pPr algn="ctr">
                        <a:buNone/>
                      </a:pPr>
                      <a:r>
                        <a:rPr lang="en-IN" altLang="en-US"/>
                        <a:t>Phase Name</a:t>
                      </a:r>
                      <a:endParaRPr lang="en-IN" altLang="en-US"/>
                    </a:p>
                  </a:txBody>
                  <a:tcPr anchor="ctr" anchorCtr="0"/>
                </a:tc>
                <a:tc>
                  <a:txBody>
                    <a:bodyPr/>
                    <a:p>
                      <a:pPr algn="ctr">
                        <a:buNone/>
                      </a:pPr>
                      <a:r>
                        <a:rPr lang="en-IN" altLang="en-US"/>
                        <a:t>Purpose</a:t>
                      </a:r>
                      <a:endParaRPr lang="en-IN" altLang="en-US"/>
                    </a:p>
                  </a:txBody>
                  <a:tcPr anchor="ctr" anchorCtr="0"/>
                </a:tc>
                <a:tc>
                  <a:txBody>
                    <a:bodyPr/>
                    <a:p>
                      <a:pPr algn="ctr">
                        <a:buNone/>
                      </a:pPr>
                      <a:r>
                        <a:rPr lang="en-IN" altLang="en-US"/>
                        <a:t>Process</a:t>
                      </a:r>
                      <a:endParaRPr lang="en-IN" altLang="en-US"/>
                    </a:p>
                  </a:txBody>
                  <a:tcPr anchor="ctr" anchorCtr="0"/>
                </a:tc>
                <a:tc>
                  <a:txBody>
                    <a:bodyPr/>
                    <a:p>
                      <a:pPr algn="ctr">
                        <a:buNone/>
                      </a:pPr>
                      <a:r>
                        <a:rPr lang="en-IN" altLang="en-US"/>
                        <a:t>Output</a:t>
                      </a:r>
                      <a:endParaRPr lang="en-IN" altLang="en-US"/>
                    </a:p>
                  </a:txBody>
                  <a:tcPr anchor="ctr" anchorCtr="0"/>
                </a:tc>
              </a:tr>
              <a:tr h="1112520">
                <a:tc>
                  <a:txBody>
                    <a:bodyPr/>
                    <a:p>
                      <a:pPr>
                        <a:buNone/>
                      </a:pPr>
                      <a:r>
                        <a:rPr lang="en-IN" altLang="en-US"/>
                        <a:t>3</a:t>
                      </a:r>
                      <a:endParaRPr lang="en-IN" altLang="en-US"/>
                    </a:p>
                  </a:txBody>
                  <a:tcPr/>
                </a:tc>
                <a:tc>
                  <a:txBody>
                    <a:bodyPr/>
                    <a:p>
                      <a:pPr>
                        <a:buNone/>
                      </a:pPr>
                      <a:r>
                        <a:rPr lang="en-US" altLang="en-US" b="1"/>
                        <a:t>Implementation/Development (Coding)</a:t>
                      </a:r>
                      <a:endParaRPr lang="en-US" altLang="en-US" b="1"/>
                    </a:p>
                  </a:txBody>
                  <a:tcPr/>
                </a:tc>
                <a:tc>
                  <a:txBody>
                    <a:bodyPr/>
                    <a:p>
                      <a:pPr>
                        <a:buNone/>
                      </a:pPr>
                      <a:r>
                        <a:rPr lang="en-US" altLang="en-US"/>
                        <a:t>To translate the design into actual working code.</a:t>
                      </a:r>
                      <a:endParaRPr lang="en-US" altLang="en-US"/>
                    </a:p>
                  </a:txBody>
                  <a:tcPr/>
                </a:tc>
                <a:tc>
                  <a:txBody>
                    <a:bodyPr/>
                    <a:p>
                      <a:pPr>
                        <a:buNone/>
                      </a:pPr>
                      <a:r>
                        <a:rPr lang="en-IN" altLang="en-US"/>
                        <a:t>a.</a:t>
                      </a:r>
                      <a:r>
                        <a:rPr lang="en-IN"/>
                        <a:t>Coding</a:t>
                      </a:r>
                      <a:endParaRPr lang="en-IN"/>
                    </a:p>
                    <a:p>
                      <a:pPr>
                        <a:buNone/>
                      </a:pPr>
                      <a:r>
                        <a:rPr lang="en-IN"/>
                        <a:t>b. Module integration</a:t>
                      </a:r>
                      <a:endParaRPr lang="en-IN"/>
                    </a:p>
                    <a:p>
                      <a:pPr>
                        <a:buNone/>
                      </a:pPr>
                      <a:r>
                        <a:rPr lang="en-IN"/>
                        <a:t>c. Code review</a:t>
                      </a:r>
                      <a:endParaRPr lang="en-IN"/>
                    </a:p>
                    <a:p>
                      <a:pPr>
                        <a:buNone/>
                      </a:pPr>
                      <a:r>
                        <a:rPr lang="en-IN"/>
                        <a:t>d. Unit testing</a:t>
                      </a:r>
                      <a:endParaRPr lang="en-IN"/>
                    </a:p>
                  </a:txBody>
                  <a:tcPr/>
                </a:tc>
                <a:tc>
                  <a:txBody>
                    <a:bodyPr/>
                    <a:p>
                      <a:pPr>
                        <a:buNone/>
                      </a:pPr>
                      <a:r>
                        <a:rPr lang="en-IN" altLang="en-US"/>
                        <a:t>a.</a:t>
                      </a:r>
                      <a:r>
                        <a:rPr lang="en-IN"/>
                        <a:t>Source code</a:t>
                      </a:r>
                      <a:endParaRPr lang="en-IN"/>
                    </a:p>
                    <a:p>
                      <a:pPr>
                        <a:buNone/>
                      </a:pPr>
                      <a:r>
                        <a:rPr lang="en-IN"/>
                        <a:t>b.Developer - tested modules</a:t>
                      </a:r>
                      <a:endParaRPr lang="en-IN"/>
                    </a:p>
                  </a:txBody>
                  <a:tcPr/>
                </a:tc>
              </a:tr>
              <a:tr h="1112520">
                <a:tc>
                  <a:txBody>
                    <a:bodyPr/>
                    <a:p>
                      <a:pPr>
                        <a:buNone/>
                      </a:pPr>
                      <a:r>
                        <a:rPr lang="en-IN" altLang="en-US"/>
                        <a:t>4</a:t>
                      </a:r>
                      <a:endParaRPr lang="en-IN" altLang="en-US"/>
                    </a:p>
                  </a:txBody>
                  <a:tcPr/>
                </a:tc>
                <a:tc>
                  <a:txBody>
                    <a:bodyPr/>
                    <a:p>
                      <a:pPr>
                        <a:buNone/>
                      </a:pPr>
                      <a:r>
                        <a:rPr lang="en-IN" altLang="en-US" b="1"/>
                        <a:t>Testing</a:t>
                      </a:r>
                      <a:endParaRPr lang="en-IN" altLang="en-US" b="1"/>
                    </a:p>
                  </a:txBody>
                  <a:tcPr/>
                </a:tc>
                <a:tc>
                  <a:txBody>
                    <a:bodyPr/>
                    <a:p>
                      <a:pPr>
                        <a:buNone/>
                      </a:pPr>
                      <a:r>
                        <a:rPr lang="en-IN" altLang="en-US"/>
                        <a:t>T</a:t>
                      </a:r>
                      <a:r>
                        <a:rPr lang="en-US" altLang="en-US"/>
                        <a:t>o thoroughly evaluate the developed software to identify defects, ensure it meets the specified requirements, and verify its quality.</a:t>
                      </a:r>
                      <a:endParaRPr lang="en-IN" altLang="en-US"/>
                    </a:p>
                  </a:txBody>
                  <a:tcPr/>
                </a:tc>
                <a:tc>
                  <a:txBody>
                    <a:bodyPr/>
                    <a:p>
                      <a:pPr>
                        <a:buNone/>
                      </a:pPr>
                      <a:r>
                        <a:rPr lang="en-IN" altLang="en-US"/>
                        <a:t>a.</a:t>
                      </a:r>
                      <a:r>
                        <a:rPr lang="en-US" altLang="en-US"/>
                        <a:t>Test Planning</a:t>
                      </a:r>
                      <a:endParaRPr lang="en-US" altLang="en-US"/>
                    </a:p>
                    <a:p>
                      <a:pPr>
                        <a:buNone/>
                      </a:pPr>
                      <a:r>
                        <a:rPr lang="en-IN" altLang="en-US"/>
                        <a:t>b.</a:t>
                      </a:r>
                      <a:r>
                        <a:rPr lang="en-US" altLang="en-US"/>
                        <a:t>Test Case Development</a:t>
                      </a:r>
                      <a:endParaRPr lang="en-US" altLang="en-US"/>
                    </a:p>
                    <a:p>
                      <a:pPr>
                        <a:buNone/>
                      </a:pPr>
                      <a:r>
                        <a:rPr lang="en-IN" altLang="en-US"/>
                        <a:t>c.</a:t>
                      </a:r>
                      <a:r>
                        <a:rPr lang="en-US" altLang="en-US"/>
                        <a:t>Test Environment Setup</a:t>
                      </a:r>
                      <a:endParaRPr lang="en-US" altLang="en-US"/>
                    </a:p>
                    <a:p>
                      <a:pPr>
                        <a:buNone/>
                      </a:pPr>
                      <a:r>
                        <a:rPr lang="en-IN" altLang="en-US"/>
                        <a:t>d.</a:t>
                      </a:r>
                      <a:r>
                        <a:rPr lang="en-US" altLang="en-US"/>
                        <a:t>Test Execution: Executing various types of tests (e.g., functional, integration, system, performance, security, user acceptance testing - UAT).</a:t>
                      </a:r>
                      <a:endParaRPr lang="en-US" altLang="en-US"/>
                    </a:p>
                    <a:p>
                      <a:pPr>
                        <a:buNone/>
                      </a:pPr>
                      <a:r>
                        <a:rPr lang="en-IN" altLang="en-US"/>
                        <a:t>e.</a:t>
                      </a:r>
                      <a:r>
                        <a:rPr lang="en-US" altLang="en-US"/>
                        <a:t>Defect Management: Logging, tracking, and retesting defects until they are resolved.</a:t>
                      </a:r>
                      <a:r>
                        <a:rPr lang="en-IN" altLang="en-US"/>
                        <a:t>a</a:t>
                      </a:r>
                      <a:endParaRPr lang="en-US" altLang="en-US"/>
                    </a:p>
                    <a:p>
                      <a:pPr>
                        <a:buNone/>
                      </a:pPr>
                      <a:r>
                        <a:rPr lang="en-IN" altLang="en-US"/>
                        <a:t>f.</a:t>
                      </a:r>
                      <a:r>
                        <a:rPr lang="en-US" altLang="en-US"/>
                        <a:t>Regression Testing: Ensuring that new changes or fixes haven't introduced new issues.</a:t>
                      </a:r>
                      <a:endParaRPr lang="en-US" altLang="en-US"/>
                    </a:p>
                  </a:txBody>
                  <a:tcPr/>
                </a:tc>
                <a:tc>
                  <a:txBody>
                    <a:bodyPr/>
                    <a:p>
                      <a:pPr>
                        <a:buNone/>
                      </a:pPr>
                      <a:r>
                        <a:rPr lang="en-IN" altLang="en-US"/>
                        <a:t>a.</a:t>
                      </a:r>
                      <a:r>
                        <a:rPr lang="en-US" altLang="en-US"/>
                        <a:t>Test Reports</a:t>
                      </a:r>
                      <a:endParaRPr lang="en-US" altLang="en-US"/>
                    </a:p>
                    <a:p>
                      <a:pPr>
                        <a:buNone/>
                      </a:pPr>
                      <a:r>
                        <a:rPr lang="en-IN" altLang="en-US"/>
                        <a:t>b.</a:t>
                      </a:r>
                      <a:r>
                        <a:rPr lang="en-US" altLang="en-US"/>
                        <a:t>Defect Logs</a:t>
                      </a:r>
                      <a:endParaRPr lang="en-US" altLang="en-US"/>
                    </a:p>
                    <a:p>
                      <a:pPr>
                        <a:buNone/>
                      </a:pPr>
                      <a:r>
                        <a:rPr lang="en-IN" altLang="en-US"/>
                        <a:t>c.</a:t>
                      </a:r>
                      <a:r>
                        <a:rPr lang="en-US" altLang="en-US"/>
                        <a:t>Test Cases</a:t>
                      </a:r>
                      <a:endParaRPr lang="en-US" altLang="en-US"/>
                    </a:p>
                    <a:p>
                      <a:pPr>
                        <a:buNone/>
                      </a:pPr>
                      <a:r>
                        <a:rPr lang="en-IN" altLang="en-US"/>
                        <a:t>d.</a:t>
                      </a:r>
                      <a:r>
                        <a:rPr lang="en-US" altLang="en-US"/>
                        <a:t>Traceability Matrix.</a:t>
                      </a:r>
                      <a:endParaRPr lang="en-IN" altLang="en-US"/>
                    </a:p>
                  </a:txBody>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96" name="Google Shape;96;p15"/>
          <p:cNvSpPr txBox="1"/>
          <p:nvPr/>
        </p:nvSpPr>
        <p:spPr>
          <a:xfrm>
            <a:off x="838200" y="157736"/>
            <a:ext cx="10515600" cy="549274"/>
          </a:xfrm>
          <a:prstGeom prst="rect">
            <a:avLst/>
          </a:prstGeom>
          <a:solidFill>
            <a:srgbClr val="FEE599"/>
          </a:solidFill>
          <a:ln w="9525" cap="flat" cmpd="sng">
            <a:solidFill>
              <a:schemeClr val="dk1"/>
            </a:solidFill>
            <a:prstDash val="solid"/>
            <a:round/>
            <a:headEnd type="none" w="sm" len="sm"/>
            <a:tailEnd type="none" w="sm" len="sm"/>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lnSpc>
                <a:spcPct val="90000"/>
              </a:lnSpc>
              <a:spcBef>
                <a:spcPts val="0"/>
              </a:spcBef>
              <a:spcAft>
                <a:spcPts val="0"/>
              </a:spcAft>
              <a:buClr>
                <a:schemeClr val="dk1"/>
              </a:buClr>
              <a:buSzPts val="2000"/>
              <a:buFont typeface="Arial" panose="020B0604020202020204"/>
              <a:buNone/>
            </a:pPr>
            <a:r>
              <a:rPr lang="en-IN" sz="2000" u="sng">
                <a:latin typeface="Arial" panose="020B0604020202020204"/>
                <a:ea typeface="Arial" panose="020B0604020202020204"/>
                <a:cs typeface="Arial" panose="020B0604020202020204"/>
                <a:sym typeface="Arial" panose="020B0604020202020204"/>
              </a:rPr>
              <a:t>Software Development Life Cycle (SDLC)</a:t>
            </a:r>
            <a:endParaRPr lang="en-IN" sz="2000" u="sng">
              <a:latin typeface="Arial" panose="020B0604020202020204"/>
              <a:ea typeface="Arial" panose="020B0604020202020204"/>
              <a:cs typeface="Arial" panose="020B0604020202020204"/>
              <a:sym typeface="Arial" panose="020B0604020202020204"/>
            </a:endParaRPr>
          </a:p>
        </p:txBody>
      </p:sp>
      <p:graphicFrame>
        <p:nvGraphicFramePr>
          <p:cNvPr id="3" name="Table 2"/>
          <p:cNvGraphicFramePr/>
          <p:nvPr>
            <p:custDataLst>
              <p:tags r:id="rId1"/>
            </p:custDataLst>
          </p:nvPr>
        </p:nvGraphicFramePr>
        <p:xfrm>
          <a:off x="839470" y="1124585"/>
          <a:ext cx="10514330" cy="2743200"/>
        </p:xfrm>
        <a:graphic>
          <a:graphicData uri="http://schemas.openxmlformats.org/drawingml/2006/table">
            <a:tbl>
              <a:tblPr firstRow="1" bandRow="1">
                <a:tableStyleId>{5C22544A-7EE6-4342-B048-85BDC9FD1C3A}</a:tableStyleId>
              </a:tblPr>
              <a:tblGrid>
                <a:gridCol w="891540"/>
                <a:gridCol w="1516380"/>
                <a:gridCol w="1748790"/>
                <a:gridCol w="3681095"/>
                <a:gridCol w="2676525"/>
              </a:tblGrid>
              <a:tr h="518160">
                <a:tc>
                  <a:txBody>
                    <a:bodyPr/>
                    <a:p>
                      <a:pPr algn="ctr">
                        <a:buNone/>
                      </a:pPr>
                      <a:r>
                        <a:rPr lang="en-IN" altLang="en-US"/>
                        <a:t>Phase Number</a:t>
                      </a:r>
                      <a:endParaRPr lang="en-IN" altLang="en-US"/>
                    </a:p>
                  </a:txBody>
                  <a:tcPr anchor="ctr" anchorCtr="0"/>
                </a:tc>
                <a:tc>
                  <a:txBody>
                    <a:bodyPr/>
                    <a:p>
                      <a:pPr algn="ctr">
                        <a:buNone/>
                      </a:pPr>
                      <a:r>
                        <a:rPr lang="en-IN" altLang="en-US"/>
                        <a:t>Phase Name</a:t>
                      </a:r>
                      <a:endParaRPr lang="en-IN" altLang="en-US"/>
                    </a:p>
                  </a:txBody>
                  <a:tcPr anchor="ctr" anchorCtr="0"/>
                </a:tc>
                <a:tc>
                  <a:txBody>
                    <a:bodyPr/>
                    <a:p>
                      <a:pPr algn="ctr">
                        <a:buNone/>
                      </a:pPr>
                      <a:r>
                        <a:rPr lang="en-IN" altLang="en-US"/>
                        <a:t>Purpose</a:t>
                      </a:r>
                      <a:endParaRPr lang="en-IN" altLang="en-US"/>
                    </a:p>
                  </a:txBody>
                  <a:tcPr anchor="ctr" anchorCtr="0"/>
                </a:tc>
                <a:tc>
                  <a:txBody>
                    <a:bodyPr/>
                    <a:p>
                      <a:pPr algn="ctr">
                        <a:buNone/>
                      </a:pPr>
                      <a:r>
                        <a:rPr lang="en-IN" altLang="en-US"/>
                        <a:t>Process</a:t>
                      </a:r>
                      <a:endParaRPr lang="en-IN" altLang="en-US"/>
                    </a:p>
                  </a:txBody>
                  <a:tcPr anchor="ctr" anchorCtr="0"/>
                </a:tc>
                <a:tc>
                  <a:txBody>
                    <a:bodyPr/>
                    <a:p>
                      <a:pPr algn="ctr">
                        <a:buNone/>
                      </a:pPr>
                      <a:r>
                        <a:rPr lang="en-IN" altLang="en-US"/>
                        <a:t>Output</a:t>
                      </a:r>
                      <a:endParaRPr lang="en-IN" altLang="en-US"/>
                    </a:p>
                  </a:txBody>
                  <a:tcPr anchor="ctr" anchorCtr="0"/>
                </a:tc>
              </a:tr>
              <a:tr h="1112520">
                <a:tc>
                  <a:txBody>
                    <a:bodyPr/>
                    <a:p>
                      <a:pPr>
                        <a:buNone/>
                      </a:pPr>
                      <a:r>
                        <a:rPr lang="en-IN" altLang="en-US"/>
                        <a:t>5</a:t>
                      </a:r>
                      <a:endParaRPr lang="en-IN" altLang="en-US"/>
                    </a:p>
                  </a:txBody>
                  <a:tcPr/>
                </a:tc>
                <a:tc>
                  <a:txBody>
                    <a:bodyPr/>
                    <a:p>
                      <a:pPr>
                        <a:buNone/>
                      </a:pPr>
                      <a:r>
                        <a:rPr lang="en-IN" altLang="en-US" b="1"/>
                        <a:t>Deployment</a:t>
                      </a:r>
                      <a:endParaRPr lang="en-IN" altLang="en-US" b="1"/>
                    </a:p>
                  </a:txBody>
                  <a:tcPr/>
                </a:tc>
                <a:tc>
                  <a:txBody>
                    <a:bodyPr/>
                    <a:p>
                      <a:pPr>
                        <a:buNone/>
                      </a:pPr>
                      <a:r>
                        <a:rPr lang="en-US" altLang="en-US"/>
                        <a:t>To release the software to the production environment for end-users.</a:t>
                      </a:r>
                      <a:endParaRPr lang="en-US" altLang="en-US"/>
                    </a:p>
                    <a:p>
                      <a:pPr>
                        <a:buNone/>
                      </a:pPr>
                      <a:endParaRPr lang="en-US" altLang="en-US"/>
                    </a:p>
                    <a:p>
                      <a:pPr>
                        <a:buNone/>
                      </a:pPr>
                      <a:endParaRPr lang="en-US" altLang="en-US"/>
                    </a:p>
                  </a:txBody>
                  <a:tcPr/>
                </a:tc>
                <a:tc>
                  <a:txBody>
                    <a:bodyPr/>
                    <a:p>
                      <a:pPr>
                        <a:buNone/>
                      </a:pPr>
                      <a:r>
                        <a:rPr lang="en-IN" altLang="en-US" sz="1400">
                          <a:sym typeface="+mn-ea"/>
                        </a:rPr>
                        <a:t>a.</a:t>
                      </a:r>
                      <a:r>
                        <a:rPr lang="en-US" altLang="en-US" sz="1400">
                          <a:sym typeface="+mn-ea"/>
                        </a:rPr>
                        <a:t>Release Planning: </a:t>
                      </a:r>
                      <a:endParaRPr lang="en-US" altLang="en-US" sz="1400"/>
                    </a:p>
                    <a:p>
                      <a:pPr>
                        <a:buNone/>
                      </a:pPr>
                      <a:r>
                        <a:rPr lang="en-IN" altLang="en-US" sz="1400">
                          <a:sym typeface="+mn-ea"/>
                        </a:rPr>
                        <a:t>b.</a:t>
                      </a:r>
                      <a:r>
                        <a:rPr lang="en-US" altLang="en-US" sz="1400">
                          <a:sym typeface="+mn-ea"/>
                        </a:rPr>
                        <a:t>Environment Preparation </a:t>
                      </a:r>
                      <a:endParaRPr lang="en-US" altLang="en-US" sz="1400"/>
                    </a:p>
                    <a:p>
                      <a:pPr>
                        <a:buNone/>
                      </a:pPr>
                      <a:r>
                        <a:rPr lang="en-IN" altLang="en-US" sz="1400">
                          <a:sym typeface="+mn-ea"/>
                        </a:rPr>
                        <a:t>c.</a:t>
                      </a:r>
                      <a:r>
                        <a:rPr lang="en-US" altLang="en-US" sz="1400">
                          <a:sym typeface="+mn-ea"/>
                        </a:rPr>
                        <a:t>Installation</a:t>
                      </a:r>
                      <a:endParaRPr lang="en-US" altLang="en-US" sz="1400"/>
                    </a:p>
                    <a:p>
                      <a:pPr>
                        <a:buNone/>
                      </a:pPr>
                      <a:r>
                        <a:rPr lang="en-IN" altLang="en-US" sz="1400">
                          <a:sym typeface="+mn-ea"/>
                        </a:rPr>
                        <a:t>d.</a:t>
                      </a:r>
                      <a:r>
                        <a:rPr lang="en-US" altLang="en-US" sz="1400">
                          <a:sym typeface="+mn-ea"/>
                        </a:rPr>
                        <a:t>Data Migration (if applicable): </a:t>
                      </a:r>
                      <a:r>
                        <a:rPr lang="en-IN" altLang="en-US" sz="1400">
                          <a:sym typeface="+mn-ea"/>
                        </a:rPr>
                        <a:t>e.</a:t>
                      </a:r>
                      <a:r>
                        <a:rPr lang="en-US" altLang="en-US" sz="1400">
                          <a:sym typeface="+mn-ea"/>
                        </a:rPr>
                        <a:t>Migrating existing data to the new system.</a:t>
                      </a:r>
                      <a:endParaRPr lang="en-US" altLang="en-US" sz="1400"/>
                    </a:p>
                    <a:p>
                      <a:pPr>
                        <a:buNone/>
                      </a:pPr>
                      <a:r>
                        <a:rPr lang="en-IN" altLang="en-US" sz="1400">
                          <a:sym typeface="+mn-ea"/>
                        </a:rPr>
                        <a:t>f.</a:t>
                      </a:r>
                      <a:r>
                        <a:rPr lang="en-US" altLang="en-US" sz="1400">
                          <a:sym typeface="+mn-ea"/>
                        </a:rPr>
                        <a:t>User Training</a:t>
                      </a:r>
                      <a:endParaRPr lang="en-IN"/>
                    </a:p>
                  </a:txBody>
                  <a:tcPr/>
                </a:tc>
                <a:tc>
                  <a:txBody>
                    <a:bodyPr/>
                    <a:p>
                      <a:pPr>
                        <a:buNone/>
                      </a:pPr>
                      <a:r>
                        <a:rPr lang="en-IN" altLang="en-US"/>
                        <a:t>a.</a:t>
                      </a:r>
                      <a:r>
                        <a:rPr lang="en-US" altLang="en-US"/>
                        <a:t>Deployed Software</a:t>
                      </a:r>
                      <a:endParaRPr lang="en-US" altLang="en-US"/>
                    </a:p>
                    <a:p>
                      <a:pPr>
                        <a:buNone/>
                      </a:pPr>
                      <a:r>
                        <a:rPr lang="en-IN" altLang="en-US"/>
                        <a:t>b.</a:t>
                      </a:r>
                      <a:r>
                        <a:rPr lang="en-US" altLang="en-US"/>
                        <a:t>Release Notes</a:t>
                      </a:r>
                      <a:endParaRPr lang="en-US" altLang="en-US"/>
                    </a:p>
                    <a:p>
                      <a:pPr>
                        <a:buNone/>
                      </a:pPr>
                      <a:r>
                        <a:rPr lang="en-IN" altLang="en-US"/>
                        <a:t>c.</a:t>
                      </a:r>
                      <a:r>
                        <a:rPr lang="en-US" altLang="en-US"/>
                        <a:t>User Manuals.</a:t>
                      </a:r>
                      <a:endParaRPr lang="en-US" altLang="en-US"/>
                    </a:p>
                    <a:p>
                      <a:pPr>
                        <a:buNone/>
                      </a:pPr>
                      <a:endParaRPr lang="en-US" altLang="en-US"/>
                    </a:p>
                    <a:p>
                      <a:pPr>
                        <a:buNone/>
                      </a:pPr>
                      <a:endParaRPr lang="en-US" altLang="en-US"/>
                    </a:p>
                  </a:txBody>
                  <a:tcPr/>
                </a:tc>
              </a:tr>
              <a:tr h="1112520">
                <a:tc>
                  <a:txBody>
                    <a:bodyPr/>
                    <a:p>
                      <a:pPr>
                        <a:buNone/>
                      </a:pPr>
                      <a:r>
                        <a:rPr lang="en-IN" altLang="en-US"/>
                        <a:t>6.</a:t>
                      </a:r>
                      <a:endParaRPr lang="en-IN" altLang="en-US"/>
                    </a:p>
                  </a:txBody>
                  <a:tcPr/>
                </a:tc>
                <a:tc>
                  <a:txBody>
                    <a:bodyPr/>
                    <a:p>
                      <a:pPr>
                        <a:buNone/>
                      </a:pPr>
                      <a:r>
                        <a:rPr lang="en-US" altLang="en-US" b="1"/>
                        <a:t>M</a:t>
                      </a:r>
                      <a:r>
                        <a:rPr lang="en-IN" altLang="en-US" b="1"/>
                        <a:t>a</a:t>
                      </a:r>
                      <a:r>
                        <a:rPr lang="en-US" altLang="en-US" b="1"/>
                        <a:t>intenance</a:t>
                      </a:r>
                      <a:endParaRPr lang="en-US" altLang="en-US" b="1"/>
                    </a:p>
                  </a:txBody>
                  <a:tcPr/>
                </a:tc>
                <a:tc>
                  <a:txBody>
                    <a:bodyPr/>
                    <a:p>
                      <a:pPr>
                        <a:buNone/>
                      </a:pPr>
                      <a:r>
                        <a:rPr lang="en-US" altLang="en-US"/>
                        <a:t>To provide ongoing support, fix bugs, enhance features, and ensure the software continues to function effectively.</a:t>
                      </a:r>
                      <a:endParaRPr lang="en-US" altLang="en-US"/>
                    </a:p>
                  </a:txBody>
                  <a:tcPr/>
                </a:tc>
                <a:tc>
                  <a:txBody>
                    <a:bodyPr/>
                    <a:p>
                      <a:pPr>
                        <a:buNone/>
                      </a:pPr>
                      <a:r>
                        <a:rPr lang="en-IN" altLang="en-US"/>
                        <a:t>a.</a:t>
                      </a:r>
                      <a:r>
                        <a:rPr lang="en-US" altLang="en-US"/>
                        <a:t>Bug Fixing</a:t>
                      </a:r>
                      <a:endParaRPr lang="en-US" altLang="en-US"/>
                    </a:p>
                    <a:p>
                      <a:pPr>
                        <a:buNone/>
                      </a:pPr>
                      <a:r>
                        <a:rPr lang="en-IN" altLang="en-US"/>
                        <a:t>b.</a:t>
                      </a:r>
                      <a:r>
                        <a:rPr lang="en-US" altLang="en-US"/>
                        <a:t>Enhancements/Upgrades</a:t>
                      </a:r>
                      <a:endParaRPr lang="en-US" altLang="en-US"/>
                    </a:p>
                    <a:p>
                      <a:pPr>
                        <a:buNone/>
                      </a:pPr>
                      <a:r>
                        <a:rPr lang="en-IN" altLang="en-US"/>
                        <a:t>c.</a:t>
                      </a:r>
                      <a:r>
                        <a:rPr lang="en-US" altLang="en-US"/>
                        <a:t>Performance Monitoring</a:t>
                      </a:r>
                      <a:endParaRPr lang="en-US" altLang="en-US"/>
                    </a:p>
                    <a:p>
                      <a:pPr>
                        <a:buNone/>
                      </a:pPr>
                      <a:r>
                        <a:rPr lang="en-IN" altLang="en-US"/>
                        <a:t>d.</a:t>
                      </a:r>
                      <a:r>
                        <a:rPr lang="en-US" altLang="en-US"/>
                        <a:t>Security Patches</a:t>
                      </a:r>
                      <a:endParaRPr lang="en-US" altLang="en-US"/>
                    </a:p>
                    <a:p>
                      <a:pPr>
                        <a:buNone/>
                      </a:pPr>
                      <a:r>
                        <a:rPr lang="en-IN" altLang="en-US"/>
                        <a:t>e.</a:t>
                      </a:r>
                      <a:r>
                        <a:rPr lang="en-US" altLang="en-US"/>
                        <a:t>Backup and Recovery</a:t>
                      </a:r>
                      <a:endParaRPr lang="en-US" altLang="en-US"/>
                    </a:p>
                  </a:txBody>
                  <a:tcPr/>
                </a:tc>
                <a:tc>
                  <a:txBody>
                    <a:bodyPr/>
                    <a:p>
                      <a:pPr>
                        <a:buNone/>
                      </a:pPr>
                      <a:r>
                        <a:rPr lang="en-IN" altLang="en-US"/>
                        <a:t>a.</a:t>
                      </a:r>
                      <a:r>
                        <a:rPr lang="en-US" altLang="en-US"/>
                        <a:t>Updated Software Versions</a:t>
                      </a:r>
                      <a:endParaRPr lang="en-US" altLang="en-US"/>
                    </a:p>
                    <a:p>
                      <a:pPr>
                        <a:buNone/>
                      </a:pPr>
                      <a:r>
                        <a:rPr lang="en-IN" altLang="en-US"/>
                        <a:t>b.</a:t>
                      </a:r>
                      <a:r>
                        <a:rPr lang="en-US" altLang="en-US"/>
                        <a:t>Maintenance Reports.</a:t>
                      </a:r>
                      <a:endParaRPr lang="en-US" altLang="en-US"/>
                    </a:p>
                  </a:txBody>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343712" y="3068792"/>
            <a:ext cx="9144000" cy="852127"/>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4000"/>
              <a:buFont typeface="Arial" panose="020B0604020202020204"/>
              <a:buNone/>
            </a:pPr>
            <a:r>
              <a:rPr lang="en-IN" sz="4000">
                <a:latin typeface="Arial" panose="020B0604020202020204"/>
                <a:ea typeface="Arial" panose="020B0604020202020204"/>
                <a:cs typeface="Arial" panose="020B0604020202020204"/>
                <a:sym typeface="Arial" panose="020B0604020202020204"/>
              </a:rPr>
              <a:t>Thank You</a:t>
            </a:r>
            <a:br>
              <a:rPr lang="en-IN" sz="4000">
                <a:latin typeface="Arial" panose="020B0604020202020204"/>
                <a:ea typeface="Arial" panose="020B0604020202020204"/>
                <a:cs typeface="Arial" panose="020B0604020202020204"/>
                <a:sym typeface="Arial" panose="020B0604020202020204"/>
              </a:rPr>
            </a:br>
            <a:endParaRPr lang="en-IN" sz="40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ags/tag1.xml><?xml version="1.0" encoding="utf-8"?>
<p:tagLst xmlns:p="http://schemas.openxmlformats.org/presentationml/2006/main">
  <p:tag name="TABLE_ENDDRAG_ORIGIN_RECT" val="776*279"/>
  <p:tag name="TABLE_ENDDRAG_RECT" val="66*196*776*279"/>
</p:tagLst>
</file>

<file path=ppt/tags/tag2.xml><?xml version="1.0" encoding="utf-8"?>
<p:tagLst xmlns:p="http://schemas.openxmlformats.org/presentationml/2006/main">
  <p:tag name="TABLE_ENDDRAG_ORIGIN_RECT" val="776*279"/>
  <p:tag name="TABLE_ENDDRAG_RECT" val="66*196*776*279"/>
</p:tagLst>
</file>

<file path=ppt/tags/tag3.xml><?xml version="1.0" encoding="utf-8"?>
<p:tagLst xmlns:p="http://schemas.openxmlformats.org/presentationml/2006/main">
  <p:tag name="TABLE_ENDDRAG_ORIGIN_RECT" val="439*87"/>
  <p:tag name="TABLE_ENDDRAG_RECT" val="77*139*439*87"/>
</p:tagLst>
</file>

<file path=ppt/tags/tag4.xml><?xml version="1.0" encoding="utf-8"?>
<p:tagLst xmlns:p="http://schemas.openxmlformats.org/presentationml/2006/main">
  <p:tag name="TABLE_ENDDRAG_ORIGIN_RECT" val="827*333"/>
  <p:tag name="TABLE_ENDDRAG_RECT" val="66*88*827*333"/>
</p:tagLst>
</file>

<file path=ppt/tags/tag5.xml><?xml version="1.0" encoding="utf-8"?>
<p:tagLst xmlns:p="http://schemas.openxmlformats.org/presentationml/2006/main">
  <p:tag name="TABLE_ENDDRAG_ORIGIN_RECT" val="827*291"/>
  <p:tag name="TABLE_ENDDRAG_RECT" val="66*88*827*291"/>
</p:tagLst>
</file>

<file path=ppt/tags/tag6.xml><?xml version="1.0" encoding="utf-8"?>
<p:tagLst xmlns:p="http://schemas.openxmlformats.org/presentationml/2006/main">
  <p:tag name="TABLE_ENDDRAG_ORIGIN_RECT" val="827*123"/>
  <p:tag name="TABLE_ENDDRAG_RECT" val="66*88*827*123"/>
</p:tagLst>
</file>

<file path=ppt/tags/tag7.xml><?xml version="1.0" encoding="utf-8"?>
<p:tagLst xmlns:p="http://schemas.openxmlformats.org/presentationml/2006/main">
  <p:tag name="TABLE_ENDDRAG_ORIGIN_RECT" val="827*123"/>
  <p:tag name="TABLE_ENDDRAG_RECT" val="66*88*827*123"/>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14964</Words>
  <Application>WPS Presentation</Application>
  <PresentationFormat/>
  <Paragraphs>514</Paragraphs>
  <Slides>27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Arial</vt:lpstr>
      <vt:lpstr>SimSun</vt:lpstr>
      <vt:lpstr>Wingdings</vt:lpstr>
      <vt:lpstr>Arial</vt:lpstr>
      <vt:lpstr>Calibri</vt:lpstr>
      <vt:lpstr>Wingdings</vt:lpstr>
      <vt:lpstr>Microsoft YaHei</vt:lpstr>
      <vt:lpstr>Arial Unicode MS</vt:lpstr>
      <vt:lpstr>Office Theme</vt:lpstr>
      <vt:lpstr>Chapter 1 –  Software Testing Fundamentals</vt:lpstr>
      <vt:lpstr>Objectives of Software Testing</vt:lpstr>
      <vt:lpstr>Activity 1.1</vt:lpstr>
      <vt:lpstr>PowerPoint 演示文稿</vt:lpstr>
      <vt:lpstr>Activity 1.2</vt:lpstr>
      <vt:lpstr>PowerPoint 演示文稿</vt:lpstr>
      <vt:lpstr>Activity 1.3</vt:lpstr>
      <vt:lpstr>PowerPoint 演示文稿</vt:lpstr>
      <vt:lpstr>Activity 1.4</vt:lpstr>
      <vt:lpstr>PowerPoint 演示文稿</vt:lpstr>
      <vt:lpstr>Activity 1.5</vt:lpstr>
      <vt:lpstr>Activity 1.6</vt:lpstr>
      <vt:lpstr>Activity 1.7</vt:lpstr>
      <vt:lpstr>Activity 1.8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Java Programming Constructs</dc:title>
  <dc:creator/>
  <cp:lastModifiedBy>Apurwa Barve</cp:lastModifiedBy>
  <cp:revision>89</cp:revision>
  <dcterms:created xsi:type="dcterms:W3CDTF">2025-01-17T10:39:00Z</dcterms:created>
  <dcterms:modified xsi:type="dcterms:W3CDTF">2025-07-25T04:28:17Z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4F16273133924594891269C83011E26E_12</vt:lpwstr>
  </property>
  <property fmtid="{D5CDD505-2E9C-101B-9397-08002B2CF9AE}" pid="3" name="KSOProductBuildVer">
    <vt:lpwstr>1033-12.2.0.21931</vt:lpwstr>
  </property>
</Properties>
</file>